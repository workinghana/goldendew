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7" r:id="rId2"/>
    <p:sldId id="2147471735" r:id="rId3"/>
    <p:sldId id="2147471736" r:id="rId4"/>
    <p:sldId id="2147471738" r:id="rId5"/>
    <p:sldId id="2147471739" r:id="rId6"/>
    <p:sldId id="2147471737" r:id="rId7"/>
    <p:sldId id="2147471740" r:id="rId8"/>
    <p:sldId id="2147471784" r:id="rId9"/>
    <p:sldId id="2147471834" r:id="rId10"/>
    <p:sldId id="2147471741" r:id="rId11"/>
    <p:sldId id="2147471750" r:id="rId12"/>
    <p:sldId id="2147471751" r:id="rId13"/>
    <p:sldId id="2147471752" r:id="rId14"/>
    <p:sldId id="2147471748" r:id="rId15"/>
    <p:sldId id="2147471747" r:id="rId16"/>
    <p:sldId id="2147471744" r:id="rId17"/>
    <p:sldId id="2147471745" r:id="rId18"/>
    <p:sldId id="2147471754" r:id="rId19"/>
    <p:sldId id="2147471755" r:id="rId20"/>
    <p:sldId id="2147471753" r:id="rId21"/>
    <p:sldId id="2147471757" r:id="rId22"/>
    <p:sldId id="2147471839" r:id="rId23"/>
    <p:sldId id="2147471843" r:id="rId24"/>
    <p:sldId id="2147471760" r:id="rId25"/>
    <p:sldId id="2147471761" r:id="rId26"/>
    <p:sldId id="2147471763" r:id="rId27"/>
    <p:sldId id="2147471798" r:id="rId28"/>
    <p:sldId id="2147471764" r:id="rId29"/>
    <p:sldId id="2147471765" r:id="rId30"/>
    <p:sldId id="2147471766" r:id="rId31"/>
    <p:sldId id="2147471816" r:id="rId32"/>
    <p:sldId id="2147471832" r:id="rId33"/>
    <p:sldId id="2147471805" r:id="rId34"/>
    <p:sldId id="2147471833" r:id="rId35"/>
    <p:sldId id="2147471801" r:id="rId36"/>
    <p:sldId id="2147471827" r:id="rId37"/>
    <p:sldId id="2147471828" r:id="rId38"/>
    <p:sldId id="2147471829" r:id="rId39"/>
    <p:sldId id="2147471830" r:id="rId40"/>
    <p:sldId id="2147471831" r:id="rId41"/>
    <p:sldId id="2147471771" r:id="rId42"/>
    <p:sldId id="2147471835" r:id="rId43"/>
    <p:sldId id="2147471787" r:id="rId44"/>
    <p:sldId id="2147471772" r:id="rId45"/>
    <p:sldId id="2147471836" r:id="rId46"/>
    <p:sldId id="2147471794" r:id="rId47"/>
    <p:sldId id="2147471793" r:id="rId48"/>
    <p:sldId id="2147471773" r:id="rId49"/>
    <p:sldId id="2147471842" r:id="rId50"/>
    <p:sldId id="2147471788" r:id="rId51"/>
    <p:sldId id="2147471838" r:id="rId52"/>
    <p:sldId id="2147471789" r:id="rId53"/>
    <p:sldId id="2147471820" r:id="rId54"/>
    <p:sldId id="2147471742" r:id="rId55"/>
    <p:sldId id="2147471821" r:id="rId56"/>
    <p:sldId id="2147471803" r:id="rId57"/>
    <p:sldId id="2147471779" r:id="rId58"/>
    <p:sldId id="2147471775" r:id="rId59"/>
    <p:sldId id="2147471808" r:id="rId60"/>
    <p:sldId id="2147471780" r:id="rId61"/>
    <p:sldId id="2147471781" r:id="rId62"/>
    <p:sldId id="2147471782" r:id="rId63"/>
    <p:sldId id="2147471837" r:id="rId64"/>
    <p:sldId id="2147471800" r:id="rId65"/>
    <p:sldId id="2147471818" r:id="rId66"/>
    <p:sldId id="2147471819" r:id="rId67"/>
    <p:sldId id="2147471795" r:id="rId68"/>
    <p:sldId id="2147471806" r:id="rId69"/>
    <p:sldId id="2147471792" r:id="rId70"/>
    <p:sldId id="2147471817" r:id="rId71"/>
    <p:sldId id="2147471823" r:id="rId72"/>
    <p:sldId id="2147471825" r:id="rId73"/>
    <p:sldId id="2147471826" r:id="rId74"/>
    <p:sldId id="2147471815" r:id="rId75"/>
    <p:sldId id="2147471814" r:id="rId76"/>
    <p:sldId id="2147471840" r:id="rId77"/>
    <p:sldId id="2147471841" r:id="rId78"/>
    <p:sldId id="2147471790" r:id="rId79"/>
    <p:sldId id="287" r:id="rId8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5A216CE-A950-455F-8945-572CA136CBEF}">
          <p14:sldIdLst>
            <p14:sldId id="257"/>
            <p14:sldId id="2147471735"/>
          </p14:sldIdLst>
        </p14:section>
        <p14:section name="1. 접속 방법" id="{7829D7C9-8703-4073-A6B4-C35E141DD30D}">
          <p14:sldIdLst>
            <p14:sldId id="2147471736"/>
            <p14:sldId id="2147471738"/>
          </p14:sldIdLst>
        </p14:section>
        <p14:section name="2. 주요 기능" id="{825F95B4-D7FF-40BF-9363-C960503D6A8D}">
          <p14:sldIdLst>
            <p14:sldId id="2147471739"/>
            <p14:sldId id="2147471737"/>
          </p14:sldIdLst>
        </p14:section>
        <p14:section name="3. 로열티 - 멤버십" id="{CCFC1D69-0A52-4670-A8DA-D59653F478F8}">
          <p14:sldIdLst>
            <p14:sldId id="2147471740"/>
            <p14:sldId id="2147471784"/>
            <p14:sldId id="2147471834"/>
          </p14:sldIdLst>
        </p14:section>
        <p14:section name="3. 로열티 - 프로모션" id="{FFBA74DC-1D0D-4F9C-A5A1-82D30E3C13F0}">
          <p14:sldIdLst>
            <p14:sldId id="2147471741"/>
            <p14:sldId id="2147471750"/>
            <p14:sldId id="2147471751"/>
            <p14:sldId id="2147471752"/>
            <p14:sldId id="2147471748"/>
            <p14:sldId id="2147471747"/>
            <p14:sldId id="2147471744"/>
          </p14:sldIdLst>
        </p14:section>
        <p14:section name="3. 로열티 - 포인트" id="{A06C1DB4-A168-419A-93CE-01D2705EADF1}">
          <p14:sldIdLst>
            <p14:sldId id="2147471745"/>
            <p14:sldId id="2147471754"/>
          </p14:sldIdLst>
        </p14:section>
        <p14:section name="3. 로열티 - 쿠폰" id="{BC38DECF-A9DD-4DA6-9DD2-A7B77FCC6969}">
          <p14:sldIdLst>
            <p14:sldId id="2147471755"/>
            <p14:sldId id="2147471753"/>
            <p14:sldId id="2147471757"/>
            <p14:sldId id="2147471839"/>
            <p14:sldId id="2147471843"/>
            <p14:sldId id="2147471760"/>
            <p14:sldId id="2147471761"/>
          </p14:sldIdLst>
        </p14:section>
        <p14:section name="4. 회원 360" id="{B8FBD4E0-9953-470E-8FC8-81877DF3B230}">
          <p14:sldIdLst>
            <p14:sldId id="2147471763"/>
            <p14:sldId id="2147471798"/>
            <p14:sldId id="2147471764"/>
            <p14:sldId id="2147471765"/>
          </p14:sldIdLst>
        </p14:section>
        <p14:section name="4. 주문/판매" id="{D0C8E098-F5F9-4986-8163-49C8C8C4E551}">
          <p14:sldIdLst>
            <p14:sldId id="2147471766"/>
            <p14:sldId id="2147471816"/>
            <p14:sldId id="2147471832"/>
            <p14:sldId id="2147471805"/>
            <p14:sldId id="2147471833"/>
            <p14:sldId id="2147471801"/>
            <p14:sldId id="2147471827"/>
            <p14:sldId id="2147471828"/>
            <p14:sldId id="2147471829"/>
            <p14:sldId id="2147471830"/>
            <p14:sldId id="2147471831"/>
          </p14:sldIdLst>
        </p14:section>
        <p14:section name="4. 멤버십" id="{7865BB3A-4F42-4EEE-89B6-390473D0268D}">
          <p14:sldIdLst>
            <p14:sldId id="2147471771"/>
            <p14:sldId id="2147471835"/>
            <p14:sldId id="2147471787"/>
          </p14:sldIdLst>
        </p14:section>
        <p14:section name="4. 프로모션" id="{760D50D4-2EB5-4DF4-BF52-9A1ADC437CC2}">
          <p14:sldIdLst>
            <p14:sldId id="2147471772"/>
            <p14:sldId id="2147471836"/>
            <p14:sldId id="2147471794"/>
            <p14:sldId id="2147471793"/>
          </p14:sldIdLst>
        </p14:section>
        <p14:section name="4. 쿠폰" id="{106070CB-D7E9-4223-BFB7-52202473AB7B}">
          <p14:sldIdLst>
            <p14:sldId id="2147471773"/>
            <p14:sldId id="2147471842"/>
            <p14:sldId id="2147471788"/>
            <p14:sldId id="2147471838"/>
            <p14:sldId id="2147471789"/>
          </p14:sldIdLst>
        </p14:section>
        <p14:section name="설정 - 포인트" id="{75721D85-C7B5-4A30-8C15-691340111A47}">
          <p14:sldIdLst>
            <p14:sldId id="2147471820"/>
          </p14:sldIdLst>
        </p14:section>
        <p14:section name="4. 메거진 구독" id="{726E2C33-7DD2-4600-9142-C107CBA64B36}">
          <p14:sldIdLst>
            <p14:sldId id="2147471742"/>
          </p14:sldIdLst>
        </p14:section>
        <p14:section name="4. 보고서" id="{C1DEAF05-F890-4C7B-901F-60930F20C9C0}">
          <p14:sldIdLst>
            <p14:sldId id="2147471821"/>
            <p14:sldId id="2147471803"/>
            <p14:sldId id="2147471779"/>
            <p14:sldId id="2147471775"/>
            <p14:sldId id="2147471808"/>
            <p14:sldId id="2147471780"/>
            <p14:sldId id="2147471781"/>
          </p14:sldIdLst>
        </p14:section>
        <p14:section name="4. 로그 관리" id="{EFAD3FF0-F73A-43BB-BB31-108DA4F89D72}">
          <p14:sldIdLst>
            <p14:sldId id="2147471782"/>
          </p14:sldIdLst>
        </p14:section>
        <p14:section name="5. 별첨 - 회원360" id="{BA119E6C-5A8C-4970-907E-72EBE6F429DF}">
          <p14:sldIdLst>
            <p14:sldId id="2147471837"/>
            <p14:sldId id="2147471800"/>
          </p14:sldIdLst>
        </p14:section>
        <p14:section name="5. 별첨 - 회원360, 주문/판매 (입금, 쿠폰, 포인트 이력)" id="{C19CC356-4B05-4306-8DE8-CCA7C60678A9}">
          <p14:sldIdLst>
            <p14:sldId id="2147471818"/>
            <p14:sldId id="2147471819"/>
          </p14:sldIdLst>
        </p14:section>
        <p14:section name="5. 별첨 - 프로모션" id="{558378ED-CCB2-4F34-BAA1-B15D7D258496}">
          <p14:sldIdLst>
            <p14:sldId id="2147471795"/>
            <p14:sldId id="2147471806"/>
            <p14:sldId id="2147471792"/>
          </p14:sldIdLst>
        </p14:section>
        <p14:section name="5. 별첨 - 쿠폰" id="{843CDFE4-16EE-41B8-B662-0A41CA47F42E}">
          <p14:sldIdLst>
            <p14:sldId id="2147471817"/>
          </p14:sldIdLst>
        </p14:section>
        <p14:section name="5. 별첨 - 보고서 유형" id="{D883CE08-1E60-4FB9-B851-FE01C45101A5}">
          <p14:sldIdLst>
            <p14:sldId id="2147471823"/>
            <p14:sldId id="2147471825"/>
            <p14:sldId id="2147471826"/>
          </p14:sldIdLst>
        </p14:section>
        <p14:section name="5. 별첨 - 판매 현황 보고서" id="{7B3FBFAC-2E4C-4F92-A67B-91D3C74DA13E}">
          <p14:sldIdLst>
            <p14:sldId id="2147471815"/>
            <p14:sldId id="2147471814"/>
          </p14:sldIdLst>
        </p14:section>
        <p14:section name="5. 별첨 - 쿠폰 현황 보고서" id="{D1AA6B68-0006-4BA9-9E72-E0A833193B7A}">
          <p14:sldIdLst>
            <p14:sldId id="2147471840"/>
          </p14:sldIdLst>
        </p14:section>
        <p14:section name="5. 별첨 - 포인트 현황 보고서" id="{5163E0AB-081A-4765-8C29-B483AE745667}">
          <p14:sldIdLst>
            <p14:sldId id="2147471841"/>
          </p14:sldIdLst>
        </p14:section>
        <p14:section name="5. 별첨 - 엑셀 업로드 참고 사항" id="{490E0BCA-1897-48D4-B957-F09420D1B6A5}">
          <p14:sldIdLst>
            <p14:sldId id="2147471790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2" pos="211" userDrawn="1">
          <p15:clr>
            <a:srgbClr val="A4A3A4"/>
          </p15:clr>
        </p15:guide>
        <p15:guide id="3" orient="horz" pos="913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0099"/>
    <a:srgbClr val="C9A9D0"/>
    <a:srgbClr val="DBB1D2"/>
    <a:srgbClr val="DFA5E0"/>
    <a:srgbClr val="4D2875"/>
    <a:srgbClr val="F2F2F2"/>
    <a:srgbClr val="A6A6A6"/>
    <a:srgbClr val="BFBFBF"/>
    <a:srgbClr val="D86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2857" autoAdjust="0"/>
  </p:normalViewPr>
  <p:slideViewPr>
    <p:cSldViewPr snapToGrid="0" showGuides="1">
      <p:cViewPr>
        <p:scale>
          <a:sx n="100" d="100"/>
          <a:sy n="100" d="100"/>
        </p:scale>
        <p:origin x="38" y="-677"/>
      </p:cViewPr>
      <p:guideLst>
        <p:guide pos="211"/>
        <p:guide orient="horz" pos="913"/>
        <p:guide pos="7469"/>
        <p:guide orient="horz" pos="3974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>
      <p:cViewPr varScale="1">
        <p:scale>
          <a:sx n="43" d="100"/>
          <a:sy n="43" d="100"/>
        </p:scale>
        <p:origin x="2808" y="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6B753-053D-5449-9810-F50E561B6C5D}" type="datetimeFigureOut">
              <a:rPr kumimoji="1" lang="ko-KR" altLang="en-US" smtClean="0"/>
              <a:t>2026-05-06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8BCD-17F2-DB41-BDB0-79A8E18BD7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32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4582995baf_80_6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4582995baf_80_6758:notes"/>
          <p:cNvSpPr txBox="1">
            <a:spLocks noGrp="1"/>
          </p:cNvSpPr>
          <p:nvPr>
            <p:ph type="body" idx="1"/>
          </p:nvPr>
        </p:nvSpPr>
        <p:spPr>
          <a:xfrm>
            <a:off x="407987" y="4415789"/>
            <a:ext cx="6194400" cy="41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88BCD-17F2-DB41-BDB0-79A8E18BD7DB}" type="slidenum">
              <a:rPr kumimoji="1" lang="ko-KR" altLang="en-US" smtClean="0"/>
              <a:t>45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2239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6b420ab460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6b420ab460_0_116:notes"/>
          <p:cNvSpPr txBox="1">
            <a:spLocks noGrp="1"/>
          </p:cNvSpPr>
          <p:nvPr>
            <p:ph type="body" idx="1"/>
          </p:nvPr>
        </p:nvSpPr>
        <p:spPr>
          <a:xfrm>
            <a:off x="407987" y="4415789"/>
            <a:ext cx="6194400" cy="41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e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1 - Title Slide_A ">
  <p:cSld name="A1 - Title Slide_A ">
    <p:bg>
      <p:bgPr>
        <a:solidFill>
          <a:srgbClr val="CFE9FE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8AF5746-DFC2-F623-F2E5-8FFB46D3A156}"/>
              </a:ext>
            </a:extLst>
          </p:cNvPr>
          <p:cNvGrpSpPr/>
          <p:nvPr userDrawn="1"/>
        </p:nvGrpSpPr>
        <p:grpSpPr>
          <a:xfrm>
            <a:off x="6190561" y="386140"/>
            <a:ext cx="6044978" cy="6502833"/>
            <a:chOff x="6190561" y="386140"/>
            <a:chExt cx="6044978" cy="6502833"/>
          </a:xfrm>
        </p:grpSpPr>
        <p:sp>
          <p:nvSpPr>
            <p:cNvPr id="105" name="Google Shape;105;p13"/>
            <p:cNvSpPr/>
            <p:nvPr/>
          </p:nvSpPr>
          <p:spPr>
            <a:xfrm>
              <a:off x="7728017" y="2574574"/>
              <a:ext cx="4470202" cy="4286268"/>
            </a:xfrm>
            <a:custGeom>
              <a:avLst/>
              <a:gdLst/>
              <a:ahLst/>
              <a:cxnLst/>
              <a:rect l="l" t="t" r="r" b="b"/>
              <a:pathLst>
                <a:path w="3341337" h="3204686" extrusionOk="0">
                  <a:moveTo>
                    <a:pt x="3341337" y="320707"/>
                  </a:moveTo>
                  <a:cubicBezTo>
                    <a:pt x="3008184" y="117253"/>
                    <a:pt x="2616792" y="0"/>
                    <a:pt x="2197995" y="0"/>
                  </a:cubicBezTo>
                  <a:cubicBezTo>
                    <a:pt x="984045" y="0"/>
                    <a:pt x="0" y="984980"/>
                    <a:pt x="0" y="2200085"/>
                  </a:cubicBezTo>
                  <a:cubicBezTo>
                    <a:pt x="0" y="2562035"/>
                    <a:pt x="87356" y="2903506"/>
                    <a:pt x="242086" y="3204686"/>
                  </a:cubicBezTo>
                  <a:lnTo>
                    <a:pt x="3341337" y="3204686"/>
                  </a:lnTo>
                  <a:lnTo>
                    <a:pt x="3341337" y="320707"/>
                  </a:lnTo>
                  <a:close/>
                </a:path>
              </a:pathLst>
            </a:custGeom>
            <a:solidFill>
              <a:srgbClr val="EAF5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Noto Sans KR" panose="020B0200000000000000" pitchFamily="34" charset="-128"/>
                <a:ea typeface="Noto Sans KR" panose="020B0200000000000000" pitchFamily="34" charset="-128"/>
              </a:endParaRPr>
            </a:p>
          </p:txBody>
        </p:sp>
        <p:pic>
          <p:nvPicPr>
            <p:cNvPr id="106" name="Google Shape;106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575193" y="386140"/>
              <a:ext cx="5657460" cy="6479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3"/>
            <p:cNvPicPr preferRelativeResize="0"/>
            <p:nvPr/>
          </p:nvPicPr>
          <p:blipFill rotWithShape="1">
            <a:blip r:embed="rId3" cstate="screen">
              <a:alphaModFix amt="7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41818" y="6287776"/>
              <a:ext cx="2403202" cy="570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3"/>
            <p:cNvPicPr preferRelativeResize="0"/>
            <p:nvPr/>
          </p:nvPicPr>
          <p:blipFill rotWithShape="1">
            <a:blip r:embed="rId4" cstate="screen">
              <a:alphaModFix amt="7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65271" y="5859525"/>
              <a:ext cx="2370268" cy="99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">
              <a:off x="9120269" y="6048004"/>
              <a:ext cx="2113398" cy="840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3" descr="ASTRO_Trailblazer_ArmsUpLeft_SFS20_LR.png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49238">
              <a:off x="7576689" y="4285706"/>
              <a:ext cx="2228579" cy="2422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3"/>
            <p:cNvPicPr preferRelativeResize="0"/>
            <p:nvPr/>
          </p:nvPicPr>
          <p:blipFill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90561" y="6142652"/>
              <a:ext cx="2330988" cy="7226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8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05037" flipH="1">
              <a:off x="8448036" y="1748161"/>
              <a:ext cx="363424" cy="3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3"/>
            <p:cNvPicPr preferRelativeResize="0"/>
            <p:nvPr/>
          </p:nvPicPr>
          <p:blipFill rotWithShape="1">
            <a:blip r:embed="rId9"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4177"/>
            <a:stretch/>
          </p:blipFill>
          <p:spPr>
            <a:xfrm>
              <a:off x="9346412" y="2055384"/>
              <a:ext cx="2859938" cy="467847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6A6CB8A4-4420-30D4-0917-8AC228D9DE3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78"/>
            <a:ext cx="12232653" cy="685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" name="Google Shape;107;p13"/>
          <p:cNvGrpSpPr/>
          <p:nvPr/>
        </p:nvGrpSpPr>
        <p:grpSpPr>
          <a:xfrm>
            <a:off x="0" y="1"/>
            <a:ext cx="7780837" cy="6855929"/>
            <a:chOff x="0" y="-1"/>
            <a:chExt cx="8235905" cy="6855929"/>
          </a:xfrm>
        </p:grpSpPr>
        <p:sp>
          <p:nvSpPr>
            <p:cNvPr id="108" name="Google Shape;108;p13"/>
            <p:cNvSpPr/>
            <p:nvPr/>
          </p:nvSpPr>
          <p:spPr>
            <a:xfrm flipH="1">
              <a:off x="0" y="-1"/>
              <a:ext cx="6551855" cy="6855929"/>
            </a:xfrm>
            <a:custGeom>
              <a:avLst/>
              <a:gdLst/>
              <a:ahLst/>
              <a:cxnLst/>
              <a:rect l="l" t="t" r="r" b="b"/>
              <a:pathLst>
                <a:path w="6551855" h="6855929" extrusionOk="0">
                  <a:moveTo>
                    <a:pt x="6551856" y="0"/>
                  </a:moveTo>
                  <a:lnTo>
                    <a:pt x="1432889" y="0"/>
                  </a:lnTo>
                  <a:cubicBezTo>
                    <a:pt x="548347" y="873369"/>
                    <a:pt x="0" y="2086615"/>
                    <a:pt x="0" y="3427965"/>
                  </a:cubicBezTo>
                  <a:cubicBezTo>
                    <a:pt x="0" y="4769314"/>
                    <a:pt x="548347" y="5982560"/>
                    <a:pt x="1432889" y="6855929"/>
                  </a:cubicBezTo>
                  <a:lnTo>
                    <a:pt x="6551856" y="6855929"/>
                  </a:lnTo>
                  <a:lnTo>
                    <a:pt x="6551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Noto Sans KR" panose="020B0200000000000000" pitchFamily="34" charset="-128"/>
                <a:ea typeface="Noto Sans KR" panose="020B0200000000000000" pitchFamily="34" charset="-128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 flipH="1">
              <a:off x="1684050" y="-1"/>
              <a:ext cx="6551855" cy="6855929"/>
            </a:xfrm>
            <a:custGeom>
              <a:avLst/>
              <a:gdLst/>
              <a:ahLst/>
              <a:cxnLst/>
              <a:rect l="l" t="t" r="r" b="b"/>
              <a:pathLst>
                <a:path w="6551855" h="6855929" extrusionOk="0">
                  <a:moveTo>
                    <a:pt x="6551856" y="0"/>
                  </a:moveTo>
                  <a:lnTo>
                    <a:pt x="1432889" y="0"/>
                  </a:lnTo>
                  <a:cubicBezTo>
                    <a:pt x="548347" y="873369"/>
                    <a:pt x="0" y="2086615"/>
                    <a:pt x="0" y="3427965"/>
                  </a:cubicBezTo>
                  <a:cubicBezTo>
                    <a:pt x="0" y="4769314"/>
                    <a:pt x="548347" y="5982560"/>
                    <a:pt x="1432889" y="6855929"/>
                  </a:cubicBezTo>
                  <a:lnTo>
                    <a:pt x="6551856" y="6855929"/>
                  </a:lnTo>
                  <a:lnTo>
                    <a:pt x="6551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Noto Sans KR" panose="020B0200000000000000" pitchFamily="34" charset="-128"/>
                <a:ea typeface="Noto Sans KR" panose="020B0200000000000000" pitchFamily="34" charset="-128"/>
              </a:endParaRPr>
            </a:p>
          </p:txBody>
        </p:sp>
      </p:grpSp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576231" y="1210300"/>
            <a:ext cx="6621824" cy="27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/>
            </a:lvl9pPr>
          </a:lstStyle>
          <a:p>
            <a:endParaRPr dirty="0"/>
          </a:p>
        </p:txBody>
      </p:sp>
      <p:pic>
        <p:nvPicPr>
          <p:cNvPr id="111" name="Google Shape;111;p13" descr="pasted-image.pdf"/>
          <p:cNvPicPr preferRelativeResize="0"/>
          <p:nvPr/>
        </p:nvPicPr>
        <p:blipFill rotWithShape="1"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705" y="489246"/>
            <a:ext cx="947148" cy="66296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576231" y="3922776"/>
            <a:ext cx="6621824" cy="147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lvl="2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 lvl="3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 lvl="4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 lvl="5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 lvl="6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 lvl="7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 lvl="8" rtl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113" name="Google Shape;113;p13" title="Salesforce logo"/>
          <p:cNvPicPr preferRelativeResize="0"/>
          <p:nvPr/>
        </p:nvPicPr>
        <p:blipFill rotWithShape="1"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705" y="489246"/>
            <a:ext cx="947148" cy="66296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>
            <a:spLocks noGrp="1"/>
          </p:cNvSpPr>
          <p:nvPr>
            <p:ph type="subTitle" idx="2"/>
          </p:nvPr>
        </p:nvSpPr>
        <p:spPr>
          <a:xfrm>
            <a:off x="576232" y="5550400"/>
            <a:ext cx="6320246" cy="667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28C8BACB-9ACD-6A16-69EA-D810E756E8D1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1693285" y="640100"/>
            <a:ext cx="1009703" cy="287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523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5 - Graphic Footer - 3 Column" userDrawn="1">
  <p:cSld name="B5 - Graphic Footer - 3 Column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/>
          <p:cNvSpPr txBox="1">
            <a:spLocks noGrp="1"/>
          </p:cNvSpPr>
          <p:nvPr>
            <p:ph type="body" idx="1"/>
          </p:nvPr>
        </p:nvSpPr>
        <p:spPr>
          <a:xfrm>
            <a:off x="8031233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2"/>
          </p:nvPr>
        </p:nvSpPr>
        <p:spPr>
          <a:xfrm>
            <a:off x="4258312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6" name="Google Shape;686;p69"/>
          <p:cNvSpPr txBox="1">
            <a:spLocks noGrp="1"/>
          </p:cNvSpPr>
          <p:nvPr>
            <p:ph type="body" idx="3"/>
          </p:nvPr>
        </p:nvSpPr>
        <p:spPr>
          <a:xfrm>
            <a:off x="485391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9" name="Google Shape;689;p69"/>
          <p:cNvSpPr txBox="1">
            <a:spLocks noGrp="1"/>
          </p:cNvSpPr>
          <p:nvPr>
            <p:ph type="subTitle" idx="5"/>
          </p:nvPr>
        </p:nvSpPr>
        <p:spPr>
          <a:xfrm>
            <a:off x="576231" y="1089004"/>
            <a:ext cx="10399508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16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lvl="2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 lvl="3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 lvl="4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 lvl="5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 lvl="6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 lvl="7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 lvl="8" rtl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>
            <a:endParaRPr dirty="0"/>
          </a:p>
        </p:txBody>
      </p:sp>
      <p:sp>
        <p:nvSpPr>
          <p:cNvPr id="691" name="Google Shape;691;p69"/>
          <p:cNvSpPr txBox="1">
            <a:spLocks noGrp="1"/>
          </p:cNvSpPr>
          <p:nvPr>
            <p:ph type="title"/>
          </p:nvPr>
        </p:nvSpPr>
        <p:spPr>
          <a:xfrm>
            <a:off x="576228" y="-6730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1E6679-435C-494D-4D0C-F6D94A4932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1832" y="6543973"/>
            <a:ext cx="976968" cy="171874"/>
          </a:xfrm>
          <a:prstGeom prst="rect">
            <a:avLst/>
          </a:prstGeom>
        </p:spPr>
      </p:pic>
      <p:pic>
        <p:nvPicPr>
          <p:cNvPr id="2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05971D83-9939-7693-40C4-07B6E3B4FF3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310624" y="6585224"/>
            <a:ext cx="601069" cy="1714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CF023FF-40AA-3AE3-CBF3-65B5B39681A3}"/>
              </a:ext>
            </a:extLst>
          </p:cNvPr>
          <p:cNvCxnSpPr/>
          <p:nvPr userDrawn="1"/>
        </p:nvCxnSpPr>
        <p:spPr>
          <a:xfrm>
            <a:off x="0" y="771525"/>
            <a:ext cx="12192000" cy="0"/>
          </a:xfrm>
          <a:prstGeom prst="line">
            <a:avLst/>
          </a:prstGeom>
          <a:ln w="79375" cmpd="thinThick">
            <a:solidFill>
              <a:srgbClr val="C9A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13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6 - Thank You">
  <p:cSld name="N6 - Thank You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"/>
          <p:cNvSpPr txBox="1"/>
          <p:nvPr/>
        </p:nvSpPr>
        <p:spPr>
          <a:xfrm>
            <a:off x="578607" y="2312975"/>
            <a:ext cx="5884532" cy="26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Avant Garde Demi SFDC"/>
              <a:buNone/>
            </a:pPr>
            <a:r>
              <a:rPr lang="en" sz="7500">
                <a:solidFill>
                  <a:schemeClr val="accent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Avant Garde Demi SFDC"/>
                <a:sym typeface="Avant Garde Demi SFDC"/>
              </a:rPr>
              <a:t>Thank you</a:t>
            </a:r>
            <a:endParaRPr sz="7500">
              <a:solidFill>
                <a:schemeClr val="accent1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Avant Garde Demi SFDC"/>
              <a:sym typeface="Avant Garde Demi SFDC"/>
            </a:endParaRPr>
          </a:p>
        </p:txBody>
      </p:sp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FC560250-ED63-DCB9-F115-BDDC0C9358F4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1672592" y="1370252"/>
            <a:ext cx="1275278" cy="3637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D610E7-1D45-81D2-80DD-D327467B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5A0FB5-44D1-4FC8-9211-B7C92EE2F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A887E-13EC-4E06-A085-EF9FE7275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CA99D3F4-A9E9-6647-9687-B3F9E161E921}" type="datetimeFigureOut">
              <a:rPr kumimoji="1" lang="ko-KR" altLang="en-US" smtClean="0"/>
              <a:pPr/>
              <a:t>2026-05-06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68C298-1DD4-470F-F776-F5A88B321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4E1A3-80C9-4B20-FEA7-5F36E3FFF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DC2E8705-8B15-1B46-BC9F-F7E0854FBA0C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15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hyperlink" Target="https://login.salesforce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ogin.salesforce.com/" TargetMode="Externa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1.png"/><Relationship Id="rId4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1.png"/><Relationship Id="rId4" Type="http://schemas.openxmlformats.org/officeDocument/2006/relationships/image" Target="../media/image5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9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Relationship Id="rId3" Type="http://schemas.openxmlformats.org/officeDocument/2006/relationships/image" Target="../media/image1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image" Target="../media/image12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12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2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6.png"/><Relationship Id="rId3" Type="http://schemas.openxmlformats.org/officeDocument/2006/relationships/image" Target="../media/image14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8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9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17"/>
          <p:cNvSpPr txBox="1">
            <a:spLocks noGrp="1"/>
          </p:cNvSpPr>
          <p:nvPr>
            <p:ph type="title"/>
          </p:nvPr>
        </p:nvSpPr>
        <p:spPr>
          <a:xfrm>
            <a:off x="577669" y="1210300"/>
            <a:ext cx="7553507" cy="2727600"/>
          </a:xfrm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3700" b="1" dirty="0" err="1">
                <a:solidFill>
                  <a:srgbClr val="000000"/>
                </a:solidFill>
              </a:rPr>
              <a:t>골든듀</a:t>
            </a:r>
            <a:r>
              <a:rPr lang="ko-KR" altLang="en-US" sz="3700" b="1" dirty="0">
                <a:solidFill>
                  <a:srgbClr val="000000"/>
                </a:solidFill>
              </a:rPr>
              <a:t> 로열티 사용자 메뉴얼</a:t>
            </a:r>
            <a:br>
              <a:rPr lang="en-US" altLang="ko-KR" sz="3700" b="1" dirty="0">
                <a:solidFill>
                  <a:srgbClr val="000000"/>
                </a:solidFill>
              </a:rPr>
            </a:br>
            <a:endParaRPr lang="ko-KR" altLang="en-US" sz="3700" b="1" dirty="0">
              <a:solidFill>
                <a:srgbClr val="000000"/>
              </a:solidFill>
            </a:endParaRPr>
          </a:p>
          <a:p>
            <a:endParaRPr lang="ko-KR" altLang="en-US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FACE36-AFFE-07AD-EF08-69DB87E02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68" y="1630198"/>
            <a:ext cx="2178411" cy="3832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B1988A-BF22-B442-DDB5-BECA778F5726}"/>
              </a:ext>
            </a:extLst>
          </p:cNvPr>
          <p:cNvSpPr txBox="1"/>
          <p:nvPr/>
        </p:nvSpPr>
        <p:spPr>
          <a:xfrm>
            <a:off x="577668" y="3312367"/>
            <a:ext cx="601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 </a:t>
            </a:r>
            <a:r>
              <a:rPr lang="en-US" altLang="ko-KR" dirty="0"/>
              <a:t>23</a:t>
            </a:r>
            <a:r>
              <a:rPr lang="ko-KR" altLang="en-US" dirty="0"/>
              <a:t>일 </a:t>
            </a:r>
            <a:r>
              <a:rPr lang="en-US" altLang="ko-KR" dirty="0"/>
              <a:t>(</a:t>
            </a:r>
            <a:r>
              <a:rPr lang="ko-KR" altLang="en-US" dirty="0"/>
              <a:t>목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496FC17-E920-B9DB-1F9B-2A39EBCCA164}"/>
              </a:ext>
            </a:extLst>
          </p:cNvPr>
          <p:cNvGrpSpPr/>
          <p:nvPr/>
        </p:nvGrpSpPr>
        <p:grpSpPr>
          <a:xfrm>
            <a:off x="733903" y="1127099"/>
            <a:ext cx="11120408" cy="5235216"/>
            <a:chOff x="878873" y="839755"/>
            <a:chExt cx="10863482" cy="58032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E24263-B1B0-A711-1467-C5915AE53100}"/>
                </a:ext>
              </a:extLst>
            </p:cNvPr>
            <p:cNvSpPr txBox="1"/>
            <p:nvPr/>
          </p:nvSpPr>
          <p:spPr>
            <a:xfrm>
              <a:off x="878873" y="877214"/>
              <a:ext cx="5016412" cy="5765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접속 방법</a:t>
              </a:r>
              <a:endParaRPr lang="en-US" altLang="ko-KR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주요 기능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ko-KR" altLang="en-US" sz="14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로열티 매니지먼트</a:t>
              </a:r>
              <a:endParaRPr lang="en-US" altLang="ko-KR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멤버십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1314450" lvl="2" indent="-400050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멤버십 조회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1314450" lvl="2" indent="-400050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멤버십 쿠폰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프로모션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1314450" lvl="2" indent="-400050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프로모션 적용 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(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쿠폰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포인트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제품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매장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)</a:t>
              </a:r>
            </a:p>
            <a:p>
              <a:pPr marL="1314450" lvl="2" indent="-400050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프로모션 제품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매장 일괄 등록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포인트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1314450" lvl="2" indent="-400050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포인트 발급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(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개인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그룹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)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쿠폰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1314450" lvl="2" indent="-400050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쿠폰 발급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(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개인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그룹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)</a:t>
              </a:r>
            </a:p>
            <a:p>
              <a:pPr marL="1314450" lvl="2" indent="-400050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쿠폰 한도 정책 설정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1314450" lvl="2" indent="-400050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쿠폰 한도 정책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(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제품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매장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)</a:t>
              </a:r>
            </a:p>
            <a:p>
              <a:pPr marL="800100" lvl="1" indent="-342900">
                <a:buAutoNum type="circleNumDbPlain"/>
              </a:pPr>
              <a:endParaRPr lang="ko-KR" altLang="en-US" sz="1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62FB6A-C61D-321A-0D33-D215A9C5A3EE}"/>
                </a:ext>
              </a:extLst>
            </p:cNvPr>
            <p:cNvSpPr txBox="1"/>
            <p:nvPr/>
          </p:nvSpPr>
          <p:spPr>
            <a:xfrm>
              <a:off x="6208664" y="839755"/>
              <a:ext cx="5533691" cy="3331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4. </a:t>
              </a:r>
              <a:r>
                <a:rPr lang="ko-KR" altLang="en-US" sz="14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회원 </a:t>
              </a:r>
              <a:r>
                <a:rPr lang="en-US" altLang="ko-KR" sz="14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360</a:t>
              </a:r>
            </a:p>
            <a:p>
              <a:pPr marL="800100" lvl="1" indent="-342900">
                <a:lnSpc>
                  <a:spcPct val="150000"/>
                </a:lnSpc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회원 정보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800100" lvl="1" indent="-342900">
                <a:lnSpc>
                  <a:spcPct val="150000"/>
                </a:lnSpc>
                <a:buFont typeface="+mj-ea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주문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판매 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800100" lvl="1" indent="-342900">
                <a:lnSpc>
                  <a:spcPct val="150000"/>
                </a:lnSpc>
                <a:buFont typeface="+mj-ea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멤버십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800100" lvl="1" indent="-342900">
                <a:lnSpc>
                  <a:spcPct val="150000"/>
                </a:lnSpc>
                <a:buFont typeface="+mj-ea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프로모션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800100" lvl="1" indent="-342900">
                <a:lnSpc>
                  <a:spcPct val="150000"/>
                </a:lnSpc>
                <a:buFont typeface="+mj-ea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쿠폰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800100" lvl="1" indent="-342900">
                <a:lnSpc>
                  <a:spcPct val="150000"/>
                </a:lnSpc>
                <a:buFont typeface="+mj-ea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포인트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800100" lvl="1" indent="-342900">
                <a:lnSpc>
                  <a:spcPct val="150000"/>
                </a:lnSpc>
                <a:buFont typeface="+mj-ea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매거진 구독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800100" lvl="1" indent="-342900">
                <a:lnSpc>
                  <a:spcPct val="150000"/>
                </a:lnSpc>
                <a:buFont typeface="+mj-ea"/>
                <a:buAutoNum type="circleNumDbPlain"/>
              </a:pP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보고서</a:t>
              </a:r>
              <a:endPara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</p:grpSp>
      <p:sp>
        <p:nvSpPr>
          <p:cNvPr id="12" name="제목 5">
            <a:extLst>
              <a:ext uri="{FF2B5EF4-FFF2-40B4-BE49-F238E27FC236}">
                <a16:creationId xmlns:a16="http://schemas.microsoft.com/office/drawing/2014/main" id="{83E3D413-3C94-ADB1-2DF6-7E8614F0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ko-KR" altLang="en-US" dirty="0">
                <a:solidFill>
                  <a:srgbClr val="C9A9D0"/>
                </a:solidFill>
              </a:rPr>
              <a:t>목 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731171-0000-CA61-F04C-D4C122561C0D}"/>
              </a:ext>
            </a:extLst>
          </p:cNvPr>
          <p:cNvSpPr txBox="1"/>
          <p:nvPr/>
        </p:nvSpPr>
        <p:spPr>
          <a:xfrm>
            <a:off x="6189746" y="4312290"/>
            <a:ext cx="5645020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나눔스퀘어"/>
                <a:ea typeface="나눔스퀘어OTF" panose="020B0600000101010101"/>
              </a:rPr>
              <a:t>5. </a:t>
            </a:r>
            <a:r>
              <a:rPr lang="ko-KR" altLang="en-US" sz="1400" b="1" dirty="0">
                <a:latin typeface="나눔스퀘어"/>
                <a:ea typeface="나눔스퀘어OTF" panose="020B0600000101010101"/>
              </a:rPr>
              <a:t>별첨</a:t>
            </a:r>
            <a:endParaRPr lang="en-US" altLang="ko-KR" sz="1400" b="1" dirty="0">
              <a:latin typeface="나눔스퀘어"/>
              <a:ea typeface="나눔스퀘어OTF" panose="020B0600000101010101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나눔스퀘어OTF" panose="020B0600000101010101"/>
              </a:rPr>
              <a:t>           </a:t>
            </a:r>
            <a:r>
              <a:rPr lang="ko-KR" altLang="ko-KR" sz="1400" dirty="0">
                <a:latin typeface="Noto Sans KR" panose="020B0200000000000000" pitchFamily="50" charset="-127"/>
                <a:ea typeface="나눔스퀘어OTF" panose="020B0600000101010101"/>
              </a:rPr>
              <a:t>①</a:t>
            </a:r>
            <a:r>
              <a:rPr lang="en-US" altLang="ko-KR" sz="1400" dirty="0">
                <a:latin typeface="Noto Sans KR" panose="020B0200000000000000" pitchFamily="50" charset="-127"/>
                <a:ea typeface="나눔스퀘어OTF" panose="020B0600000101010101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나눔스퀘어OTF" panose="020B0600000101010101"/>
              </a:rPr>
              <a:t>첨부 자료</a:t>
            </a:r>
            <a:endParaRPr lang="en-US" altLang="ko-KR" sz="1400" dirty="0">
              <a:ea typeface="나눔스퀘어OTF" panose="020B060000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585128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714D-A293-7C6D-42FB-11A7ACFC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3DB1393-2CF8-095A-6952-4C283E7E3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3961" y="2233791"/>
            <a:ext cx="7539203" cy="38167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제목 5">
            <a:extLst>
              <a:ext uri="{FF2B5EF4-FFF2-40B4-BE49-F238E27FC236}">
                <a16:creationId xmlns:a16="http://schemas.microsoft.com/office/drawing/2014/main" id="{197F66EA-DAB3-4979-8AB9-46E97C37E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1. </a:t>
            </a:r>
            <a:r>
              <a:rPr lang="ko-KR" altLang="en-US" dirty="0">
                <a:solidFill>
                  <a:srgbClr val="C9A9D0"/>
                </a:solidFill>
              </a:rPr>
              <a:t>접속 방법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59581-2D49-ABFF-5410-030F9C56B6D4}"/>
              </a:ext>
            </a:extLst>
          </p:cNvPr>
          <p:cNvSpPr txBox="1"/>
          <p:nvPr/>
        </p:nvSpPr>
        <p:spPr>
          <a:xfrm>
            <a:off x="370009" y="1163790"/>
            <a:ext cx="87271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통합회원을 관리하기 위한 관리자 화면에 접속합니다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회원정보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멤버십 정보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정보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쿠폰 정보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정보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매거진 구독 정보 등 회원의 전반적인 정보를 조회하고 관리합니다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75F0B-679B-F3B6-E131-A07294F548DE}"/>
              </a:ext>
            </a:extLst>
          </p:cNvPr>
          <p:cNvSpPr txBox="1"/>
          <p:nvPr/>
        </p:nvSpPr>
        <p:spPr>
          <a:xfrm>
            <a:off x="9097119" y="832453"/>
            <a:ext cx="3094881" cy="6363478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접속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URL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https://login.salesforce.com/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122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56C7-002D-C16B-4AE1-B9CE49B1B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5">
            <a:extLst>
              <a:ext uri="{FF2B5EF4-FFF2-40B4-BE49-F238E27FC236}">
                <a16:creationId xmlns:a16="http://schemas.microsoft.com/office/drawing/2014/main" id="{8B51CDB6-9992-6C91-B908-4022AEF0C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1. </a:t>
            </a:r>
            <a:r>
              <a:rPr lang="ko-KR" altLang="en-US" dirty="0">
                <a:solidFill>
                  <a:srgbClr val="C9A9D0"/>
                </a:solidFill>
              </a:rPr>
              <a:t>접속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AC1AF-EBA8-76B1-F559-7EC872010F21}"/>
              </a:ext>
            </a:extLst>
          </p:cNvPr>
          <p:cNvSpPr txBox="1"/>
          <p:nvPr/>
        </p:nvSpPr>
        <p:spPr>
          <a:xfrm>
            <a:off x="9097119" y="832453"/>
            <a:ext cx="3094881" cy="6363478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접속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URL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2"/>
              </a:rPr>
              <a:t>https://login.salesforce.com/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BA7DD-AEE4-5BE7-6160-E507174DABCC}"/>
              </a:ext>
            </a:extLst>
          </p:cNvPr>
          <p:cNvSpPr txBox="1"/>
          <p:nvPr/>
        </p:nvSpPr>
        <p:spPr>
          <a:xfrm>
            <a:off x="370009" y="1082952"/>
            <a:ext cx="72771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계정 정보로 로그인을 시도하면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ID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확인 창이 뜹니다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Salesforce Authenticator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모바일 앱을 설치한 후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QR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인식해 계정 등록을 완료 후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확인 코드를 입력해 로그인합니다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보안상 확인 코드는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30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초마다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리셋됩니다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6E206E-5BD5-15F8-2AAE-A2C0D9B79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" r="522"/>
          <a:stretch/>
        </p:blipFill>
        <p:spPr>
          <a:xfrm>
            <a:off x="407933" y="3009932"/>
            <a:ext cx="1940768" cy="27923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1E5140E-2DC1-CE43-048D-7C04B39480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/>
          <a:stretch/>
        </p:blipFill>
        <p:spPr bwMode="auto">
          <a:xfrm>
            <a:off x="2817046" y="2846646"/>
            <a:ext cx="1940769" cy="31189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 descr="패턴, 스티치, 픽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EBD61CF-9E85-B04F-5A67-9C50DA8838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509" y="4406116"/>
            <a:ext cx="676656" cy="676656"/>
          </a:xfrm>
          <a:prstGeom prst="rect">
            <a:avLst/>
          </a:prstGeom>
          <a:ln>
            <a:solidFill>
              <a:srgbClr val="C00000"/>
            </a:solidFill>
            <a:prstDash val="sysDash"/>
          </a:ln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7A9056A0-96DE-8DB8-2B7C-E593701E2E4F}"/>
              </a:ext>
            </a:extLst>
          </p:cNvPr>
          <p:cNvCxnSpPr>
            <a:cxnSpLocks/>
            <a:endCxn id="6" idx="0"/>
          </p:cNvCxnSpPr>
          <p:nvPr/>
        </p:nvCxnSpPr>
        <p:spPr>
          <a:xfrm rot="10800000" flipV="1">
            <a:off x="1378317" y="2145616"/>
            <a:ext cx="6664674" cy="864316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30ABD749-D8B8-8734-53C3-F19CFB7AA02E}"/>
              </a:ext>
            </a:extLst>
          </p:cNvPr>
          <p:cNvSpPr/>
          <p:nvPr/>
        </p:nvSpPr>
        <p:spPr>
          <a:xfrm>
            <a:off x="165840" y="282242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999BD71-9222-3AC6-03DD-45FF9E89EAE8}"/>
              </a:ext>
            </a:extLst>
          </p:cNvPr>
          <p:cNvSpPr/>
          <p:nvPr/>
        </p:nvSpPr>
        <p:spPr>
          <a:xfrm>
            <a:off x="2563247" y="266157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FF7DD71-B581-3DCA-B65C-DB849B839BB0}"/>
              </a:ext>
            </a:extLst>
          </p:cNvPr>
          <p:cNvSpPr/>
          <p:nvPr/>
        </p:nvSpPr>
        <p:spPr>
          <a:xfrm>
            <a:off x="4927962" y="264636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51D3F30-A2BE-09A8-C09F-3F0E2866EF87}"/>
              </a:ext>
            </a:extLst>
          </p:cNvPr>
          <p:cNvSpPr/>
          <p:nvPr/>
        </p:nvSpPr>
        <p:spPr>
          <a:xfrm>
            <a:off x="6881734" y="267618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3526C45-ED0A-E4A1-66ED-B060DB5C2650}"/>
              </a:ext>
            </a:extLst>
          </p:cNvPr>
          <p:cNvSpPr/>
          <p:nvPr/>
        </p:nvSpPr>
        <p:spPr>
          <a:xfrm>
            <a:off x="1270317" y="192961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5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823D796-1799-D416-88D2-6EA4345D3D4B}"/>
              </a:ext>
            </a:extLst>
          </p:cNvPr>
          <p:cNvGrpSpPr/>
          <p:nvPr/>
        </p:nvGrpSpPr>
        <p:grpSpPr>
          <a:xfrm>
            <a:off x="4125681" y="2408056"/>
            <a:ext cx="3124828" cy="3987024"/>
            <a:chOff x="4301350" y="1865952"/>
            <a:chExt cx="3124828" cy="3987024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EE87F71-29F4-23CC-4F69-0236DDB20013}"/>
                </a:ext>
              </a:extLst>
            </p:cNvPr>
            <p:cNvGrpSpPr/>
            <p:nvPr/>
          </p:nvGrpSpPr>
          <p:grpSpPr>
            <a:xfrm>
              <a:off x="4301350" y="1865952"/>
              <a:ext cx="3124828" cy="3987024"/>
              <a:chOff x="6047195" y="1951132"/>
              <a:chExt cx="3124828" cy="3987024"/>
            </a:xfrm>
          </p:grpSpPr>
          <p:pic>
            <p:nvPicPr>
              <p:cNvPr id="22" name="그림 21" descr="스크린샷, 휴대 전화, 블랙, 스마트폰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C0E27BE8-0E98-E8AC-CA85-C1A7B42644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4006" y="1951132"/>
                <a:ext cx="2658017" cy="3987024"/>
              </a:xfrm>
              <a:prstGeom prst="rect">
                <a:avLst/>
              </a:prstGeom>
            </p:spPr>
          </p:pic>
          <p:cxnSp>
            <p:nvCxnSpPr>
              <p:cNvPr id="23" name="직선 화살표 연결선 22">
                <a:extLst>
                  <a:ext uri="{FF2B5EF4-FFF2-40B4-BE49-F238E27FC236}">
                    <a16:creationId xmlns:a16="http://schemas.microsoft.com/office/drawing/2014/main" id="{94FE6B6C-0800-E82E-5390-02B60D1C65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47195" y="4282972"/>
                <a:ext cx="1011234" cy="127103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DA3BF3E-AA74-8F7A-DA5A-F5343E629A40}"/>
                </a:ext>
              </a:extLst>
            </p:cNvPr>
            <p:cNvSpPr/>
            <p:nvPr/>
          </p:nvSpPr>
          <p:spPr>
            <a:xfrm>
              <a:off x="5343501" y="3284467"/>
              <a:ext cx="1503822" cy="182664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50D5842E-FA50-2CD4-EFC9-C5137CC4B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73194" y="3676261"/>
              <a:ext cx="1247949" cy="112410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AB9E90-B907-C8DA-334E-D682F6DADA62}"/>
                </a:ext>
              </a:extLst>
            </p:cNvPr>
            <p:cNvSpPr txBox="1"/>
            <p:nvPr/>
          </p:nvSpPr>
          <p:spPr>
            <a:xfrm>
              <a:off x="5473194" y="2581275"/>
              <a:ext cx="12437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Scan QR Code</a:t>
              </a:r>
              <a:endParaRPr lang="ko-KR" altLang="en-US" sz="1200" b="1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AE7F116-11A3-8BE8-798C-C59B2B55DDF3}"/>
              </a:ext>
            </a:extLst>
          </p:cNvPr>
          <p:cNvGrpSpPr/>
          <p:nvPr/>
        </p:nvGrpSpPr>
        <p:grpSpPr>
          <a:xfrm>
            <a:off x="6551207" y="2417995"/>
            <a:ext cx="2658017" cy="3987024"/>
            <a:chOff x="2091967" y="1865952"/>
            <a:chExt cx="2658017" cy="3987024"/>
          </a:xfrm>
        </p:grpSpPr>
        <p:pic>
          <p:nvPicPr>
            <p:cNvPr id="25" name="그림 24" descr="스크린샷, 휴대 전화, 블랙, 스마트폰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FA5D33EA-90D6-EBEB-91D6-11D804B57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1967" y="1865952"/>
              <a:ext cx="2658017" cy="3987024"/>
            </a:xfrm>
            <a:prstGeom prst="rect">
              <a:avLst/>
            </a:prstGeom>
          </p:spPr>
        </p:pic>
        <p:pic>
          <p:nvPicPr>
            <p:cNvPr id="26" name="Picture 12" descr="Connect Salesforce Authenticator">
              <a:extLst>
                <a:ext uri="{FF2B5EF4-FFF2-40B4-BE49-F238E27FC236}">
                  <a16:creationId xmlns:a16="http://schemas.microsoft.com/office/drawing/2014/main" id="{75303BE8-9F7C-084C-EE0D-268455918B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234"/>
            <a:stretch/>
          </p:blipFill>
          <p:spPr bwMode="auto">
            <a:xfrm>
              <a:off x="2677653" y="2670187"/>
              <a:ext cx="1503822" cy="2378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D0E551A-81D5-9F63-D3F9-63AEC2B6D806}"/>
              </a:ext>
            </a:extLst>
          </p:cNvPr>
          <p:cNvCxnSpPr/>
          <p:nvPr/>
        </p:nvCxnSpPr>
        <p:spPr>
          <a:xfrm>
            <a:off x="8042991" y="2145616"/>
            <a:ext cx="0" cy="53056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798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EDFE-1E60-C1A9-B2CE-7E234FB7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5">
            <a:extLst>
              <a:ext uri="{FF2B5EF4-FFF2-40B4-BE49-F238E27FC236}">
                <a16:creationId xmlns:a16="http://schemas.microsoft.com/office/drawing/2014/main" id="{D5DE0BE7-BDA0-F8D1-818B-D5371B729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2. </a:t>
            </a:r>
            <a:r>
              <a:rPr lang="ko-KR" altLang="en-US" dirty="0">
                <a:solidFill>
                  <a:srgbClr val="C9A9D0"/>
                </a:solidFill>
              </a:rPr>
              <a:t>주요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5D887-E12F-6756-56CC-B2C9532E6548}"/>
              </a:ext>
            </a:extLst>
          </p:cNvPr>
          <p:cNvSpPr txBox="1"/>
          <p:nvPr/>
        </p:nvSpPr>
        <p:spPr>
          <a:xfrm>
            <a:off x="9097119" y="832453"/>
            <a:ext cx="3094881" cy="6363478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⑤ 검색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검색창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(Global Search)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Salesforce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내에서 레코드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계정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연락처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기회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케이스 등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 관련 정보를 빠르게 검색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⑥ 아이콘 메뉴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전역작업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세일즈포스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도움말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메뉴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알림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프로필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79735-1CCF-A011-2489-1B77C2FB0F39}"/>
              </a:ext>
            </a:extLst>
          </p:cNvPr>
          <p:cNvSpPr txBox="1"/>
          <p:nvPr/>
        </p:nvSpPr>
        <p:spPr>
          <a:xfrm>
            <a:off x="240337" y="963884"/>
            <a:ext cx="6590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관리자 화면의 네비게이션 바를 클릭하여 각 주제별 회원정보를 조회합니다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주제별 리스트 화면에서 필요한 항목을 추가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삭제 하거나 필터링하여 조회할 수 있습니다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C92BDC9-6BA0-50F9-756C-66C17C8B0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503149"/>
              </p:ext>
            </p:extLst>
          </p:nvPr>
        </p:nvGraphicFramePr>
        <p:xfrm>
          <a:off x="578498" y="3435571"/>
          <a:ext cx="8145625" cy="24585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658">
                  <a:extLst>
                    <a:ext uri="{9D8B030D-6E8A-4147-A177-3AD203B41FA5}">
                      <a16:colId xmlns:a16="http://schemas.microsoft.com/office/drawing/2014/main" val="795237535"/>
                    </a:ext>
                  </a:extLst>
                </a:gridCol>
                <a:gridCol w="1931069">
                  <a:extLst>
                    <a:ext uri="{9D8B030D-6E8A-4147-A177-3AD203B41FA5}">
                      <a16:colId xmlns:a16="http://schemas.microsoft.com/office/drawing/2014/main" val="4242714919"/>
                    </a:ext>
                  </a:extLst>
                </a:gridCol>
                <a:gridCol w="5556898">
                  <a:extLst>
                    <a:ext uri="{9D8B030D-6E8A-4147-A177-3AD203B41FA5}">
                      <a16:colId xmlns:a16="http://schemas.microsoft.com/office/drawing/2014/main" val="143516013"/>
                    </a:ext>
                  </a:extLst>
                </a:gridCol>
              </a:tblGrid>
              <a:tr h="472299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전역 작업 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(Global Action)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새로운 </a:t>
                      </a:r>
                      <a:r>
                        <a:rPr lang="ko-KR" altLang="en-US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레코드</a:t>
                      </a:r>
                      <a:r>
                        <a:rPr lang="en-US" altLang="ko-KR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예</a:t>
                      </a:r>
                      <a:r>
                        <a:rPr lang="en-US" altLang="ko-KR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: </a:t>
                      </a:r>
                      <a:r>
                        <a:rPr lang="ko-KR" altLang="en-US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기회</a:t>
                      </a:r>
                      <a:r>
                        <a:rPr lang="en-US" altLang="ko-KR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연락처</a:t>
                      </a:r>
                      <a:r>
                        <a:rPr lang="en-US" altLang="ko-KR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계정 등</a:t>
                      </a:r>
                      <a:r>
                        <a:rPr lang="en-US" altLang="ko-KR" sz="10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를 빠르게 생성하는 버튼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20048"/>
                  </a:ext>
                </a:extLst>
              </a:tr>
              <a:tr h="504649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세일즈포스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도움말</a:t>
                      </a:r>
                      <a:endParaRPr lang="en-US" altLang="ko-KR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Salesforce 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관련 공식 도움말과 문서를 제공</a:t>
                      </a:r>
                      <a:endParaRPr lang="en-US" altLang="ko-KR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‘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지원 받기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’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통해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Set up 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설정으로 해결되지 않는 건 문의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533604"/>
                  </a:ext>
                </a:extLst>
              </a:tr>
              <a:tr h="504649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설정 메뉴 </a:t>
                      </a:r>
                      <a:r>
                        <a:rPr lang="en-US" altLang="ko-KR" sz="10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(Set Up)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관리자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(admin) 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및 개발자가 주로 활용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(=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컴퓨터의 제어판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보안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오브젝트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자동화 등 시스템을 구성하는 기능</a:t>
                      </a:r>
                      <a:endParaRPr lang="en-US" altLang="ko-KR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347444"/>
                  </a:ext>
                </a:extLst>
              </a:tr>
              <a:tr h="472299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알림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중요한 업데이트 및 시스템 알림을 표시 </a:t>
                      </a:r>
                      <a:r>
                        <a:rPr lang="en-US" altLang="ko-KR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승인 요청</a:t>
                      </a:r>
                      <a:r>
                        <a:rPr lang="en-US" altLang="ko-KR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 메시지</a:t>
                      </a:r>
                      <a:r>
                        <a:rPr lang="en-US" altLang="ko-KR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워크플로우 알림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63005"/>
                  </a:ext>
                </a:extLst>
              </a:tr>
              <a:tr h="504649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 프로필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현재 로그인한 사용자의 프로필 메뉴</a:t>
                      </a:r>
                      <a:endParaRPr lang="en-US" altLang="ko-KR" sz="1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 정보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설정</a:t>
                      </a:r>
                      <a:r>
                        <a:rPr lang="en-US" altLang="ko-KR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Salesforce </a:t>
                      </a:r>
                      <a:r>
                        <a:rPr lang="ko-KR" altLang="en-US" sz="1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계정 로그아웃 등의 기능 포함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321656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3EC803D9-3019-1370-EAB4-68400673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9" y="2040872"/>
            <a:ext cx="8257592" cy="420465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5645F0-60DC-BC31-D0AA-7209B0A6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37" y="3534470"/>
            <a:ext cx="257211" cy="2476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716CEE3-2FCB-DE65-FC81-41CD18D69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87" y="4032211"/>
            <a:ext cx="213910" cy="24768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BA4318D-65FC-6AAB-C319-75DE357A2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48" y="4537056"/>
            <a:ext cx="252449" cy="2330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0AB54B6-3A4B-1E1E-9823-7991F94299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307" y="5061388"/>
            <a:ext cx="209579" cy="23815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BB267D0-2E08-9918-AEAF-4758660D54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93" y="5532555"/>
            <a:ext cx="315235" cy="247685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DC0659AA-6F5C-CFD2-D547-6B1ADE801831}"/>
              </a:ext>
            </a:extLst>
          </p:cNvPr>
          <p:cNvSpPr/>
          <p:nvPr/>
        </p:nvSpPr>
        <p:spPr>
          <a:xfrm>
            <a:off x="3138975" y="177681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5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B509AA6-3FAE-F857-7B64-7DDBB69D8A16}"/>
              </a:ext>
            </a:extLst>
          </p:cNvPr>
          <p:cNvSpPr/>
          <p:nvPr/>
        </p:nvSpPr>
        <p:spPr>
          <a:xfrm>
            <a:off x="3299824" y="2026601"/>
            <a:ext cx="1850676" cy="27256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F21028E-76E6-B0E1-773E-3D86E9ACF51B}"/>
              </a:ext>
            </a:extLst>
          </p:cNvPr>
          <p:cNvSpPr/>
          <p:nvPr/>
        </p:nvSpPr>
        <p:spPr>
          <a:xfrm>
            <a:off x="7137285" y="1992815"/>
            <a:ext cx="1213613" cy="27256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4BAEC3C-78B0-6650-7E82-3D0B9FE46622}"/>
              </a:ext>
            </a:extLst>
          </p:cNvPr>
          <p:cNvSpPr/>
          <p:nvPr/>
        </p:nvSpPr>
        <p:spPr>
          <a:xfrm>
            <a:off x="6958609" y="175278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388D487-8F90-184F-8156-6DD03DAFBD13}"/>
              </a:ext>
            </a:extLst>
          </p:cNvPr>
          <p:cNvCxnSpPr>
            <a:cxnSpLocks/>
          </p:cNvCxnSpPr>
          <p:nvPr/>
        </p:nvCxnSpPr>
        <p:spPr>
          <a:xfrm flipH="1">
            <a:off x="4889341" y="2265384"/>
            <a:ext cx="2933098" cy="1072101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416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540F7-BA7D-6295-5815-52617933D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4B363C42-732B-46C4-6AA0-B2BE6B97D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2. </a:t>
            </a:r>
            <a:r>
              <a:rPr lang="ko-KR" altLang="en-US" dirty="0">
                <a:solidFill>
                  <a:srgbClr val="C9A9D0"/>
                </a:solidFill>
              </a:rPr>
              <a:t>주요 기능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리스트 뷰 페이지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7E83D7-3FB3-DAF4-1118-3C7675976A11}"/>
              </a:ext>
            </a:extLst>
          </p:cNvPr>
          <p:cNvSpPr txBox="1"/>
          <p:nvPr/>
        </p:nvSpPr>
        <p:spPr>
          <a:xfrm>
            <a:off x="370009" y="984168"/>
            <a:ext cx="6590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관리자 화면의 네비게이션 바를 클릭하여 각 주제별 회원정보를 조회합니다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주제별 리스트 화면에서 필요한 항목을 추가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삭제 하거나 필터링하여 조회할 수 있습니다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8F62F-ACD7-E2C8-10C8-C00AD43B7210}"/>
              </a:ext>
            </a:extLst>
          </p:cNvPr>
          <p:cNvSpPr txBox="1"/>
          <p:nvPr/>
        </p:nvSpPr>
        <p:spPr>
          <a:xfrm>
            <a:off x="9097119" y="811763"/>
            <a:ext cx="3094881" cy="609701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네비게이션 바 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 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탭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관리 주제별로 구성된 관리자 화면 메뉴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메뉴 클릭하여 주제별 리스트 화면 조회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② 리스트 목록 선택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기본 제공되는 리스트 목록 및 관리자가 사용자정의로 지정한 리스트 목록 선택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자주보는 리스트 목록을 설정하고 조회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3)       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       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리스트 목록 고정하여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③ 목록 보기 컨트롤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조회되는 리스트의 데이터 항목 편집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관리자가 조회하거나 제외할 필드를 선택하여 설정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④ 필터 설정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조회되는 리스트의 항목을 필터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필터를 여러 개 설정하여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AND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조건으로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필터 추가 제거하여 데이터 조회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E925CC-2F2D-0011-24DD-5FABABF64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130" y="3016946"/>
            <a:ext cx="295275" cy="3238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92A436-3B14-632A-01E2-3FDB6015E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415" y="3026471"/>
            <a:ext cx="314325" cy="3048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C06E347-8A8C-BA32-6E9F-2226228E1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60" y="2185938"/>
            <a:ext cx="8238931" cy="184964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745D516-EEC3-7399-2FA2-017B0EDF1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30" y="1657206"/>
            <a:ext cx="8257592" cy="420465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DD4502-6E80-0AA5-5DE0-0A667C115CA6}"/>
              </a:ext>
            </a:extLst>
          </p:cNvPr>
          <p:cNvSpPr/>
          <p:nvPr/>
        </p:nvSpPr>
        <p:spPr>
          <a:xfrm>
            <a:off x="752566" y="2540477"/>
            <a:ext cx="2755744" cy="1313066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33C059D-8318-127A-5618-A051D3173674}"/>
              </a:ext>
            </a:extLst>
          </p:cNvPr>
          <p:cNvSpPr/>
          <p:nvPr/>
        </p:nvSpPr>
        <p:spPr>
          <a:xfrm>
            <a:off x="555228" y="232793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BCFA3B-D7C3-3285-7059-CF3E808465E8}"/>
              </a:ext>
            </a:extLst>
          </p:cNvPr>
          <p:cNvSpPr/>
          <p:nvPr/>
        </p:nvSpPr>
        <p:spPr>
          <a:xfrm>
            <a:off x="1044576" y="1883944"/>
            <a:ext cx="7679546" cy="208930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09D60F1-DC53-0717-424D-B75614C79B51}"/>
              </a:ext>
            </a:extLst>
          </p:cNvPr>
          <p:cNvSpPr/>
          <p:nvPr/>
        </p:nvSpPr>
        <p:spPr>
          <a:xfrm>
            <a:off x="859872" y="167158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8CBCDD6-EA8E-EE8A-B00F-EEE9F861EF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875" y="1793071"/>
            <a:ext cx="3189145" cy="2375328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FEFB2426-5D17-7EA2-D1AD-9BDC14ED5D8C}"/>
              </a:ext>
            </a:extLst>
          </p:cNvPr>
          <p:cNvSpPr/>
          <p:nvPr/>
        </p:nvSpPr>
        <p:spPr>
          <a:xfrm>
            <a:off x="7253876" y="2774898"/>
            <a:ext cx="576358" cy="1393502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81BE907-E3D5-BF7A-D47D-F1F2A280F76E}"/>
              </a:ext>
            </a:extLst>
          </p:cNvPr>
          <p:cNvSpPr/>
          <p:nvPr/>
        </p:nvSpPr>
        <p:spPr>
          <a:xfrm>
            <a:off x="7035618" y="255735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9129B97-B986-DD47-FDAA-3531A900B926}"/>
              </a:ext>
            </a:extLst>
          </p:cNvPr>
          <p:cNvSpPr/>
          <p:nvPr/>
        </p:nvSpPr>
        <p:spPr>
          <a:xfrm>
            <a:off x="8288739" y="226033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5E02A4E-7907-77CB-4FB8-BFB4807E48FA}"/>
              </a:ext>
            </a:extLst>
          </p:cNvPr>
          <p:cNvSpPr/>
          <p:nvPr/>
        </p:nvSpPr>
        <p:spPr>
          <a:xfrm>
            <a:off x="8457672" y="2488559"/>
            <a:ext cx="279919" cy="2847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1">
            <a:extLst>
              <a:ext uri="{FF2B5EF4-FFF2-40B4-BE49-F238E27FC236}">
                <a16:creationId xmlns:a16="http://schemas.microsoft.com/office/drawing/2014/main" id="{03539260-779A-790C-BD4E-B42EEA06A9B8}"/>
              </a:ext>
            </a:extLst>
          </p:cNvPr>
          <p:cNvCxnSpPr>
            <a:cxnSpLocks/>
          </p:cNvCxnSpPr>
          <p:nvPr/>
        </p:nvCxnSpPr>
        <p:spPr>
          <a:xfrm rot="5400000">
            <a:off x="6611722" y="2800570"/>
            <a:ext cx="2010596" cy="1955775"/>
          </a:xfrm>
          <a:prstGeom prst="bentConnector3">
            <a:avLst>
              <a:gd name="adj1" fmla="val 69491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91FA1AB6-A3B2-2E52-A661-5D12B2AA9B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4320" y="4783756"/>
            <a:ext cx="3574102" cy="1794325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5B26086C-843C-BDBA-30C4-544DFE36DDA2}"/>
              </a:ext>
            </a:extLst>
          </p:cNvPr>
          <p:cNvSpPr/>
          <p:nvPr/>
        </p:nvSpPr>
        <p:spPr>
          <a:xfrm>
            <a:off x="4884320" y="4783756"/>
            <a:ext cx="3574102" cy="1794325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E9150C05-5856-D804-AB7E-ACAD5269B0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139" y="4168399"/>
            <a:ext cx="3400991" cy="2010598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38D41E8D-F1B7-0359-5160-DF8FDFEF44F8}"/>
              </a:ext>
            </a:extLst>
          </p:cNvPr>
          <p:cNvSpPr/>
          <p:nvPr/>
        </p:nvSpPr>
        <p:spPr>
          <a:xfrm>
            <a:off x="731138" y="4544261"/>
            <a:ext cx="3400991" cy="1634736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9A5501C-06BE-5684-A046-7787A6C8226A}"/>
              </a:ext>
            </a:extLst>
          </p:cNvPr>
          <p:cNvCxnSpPr>
            <a:cxnSpLocks/>
          </p:cNvCxnSpPr>
          <p:nvPr/>
        </p:nvCxnSpPr>
        <p:spPr>
          <a:xfrm flipH="1">
            <a:off x="2431633" y="3549243"/>
            <a:ext cx="4819985" cy="973695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3BBF4E-456A-EF3C-3ADD-94925EAAF1F0}"/>
              </a:ext>
            </a:extLst>
          </p:cNvPr>
          <p:cNvSpPr/>
          <p:nvPr/>
        </p:nvSpPr>
        <p:spPr>
          <a:xfrm>
            <a:off x="7255756" y="3484415"/>
            <a:ext cx="576358" cy="1451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665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BEC7-D9F3-BC9D-BA35-BEFCBB48E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96C13633-EA41-F5CC-2D55-452104191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① </a:t>
            </a:r>
            <a:r>
              <a:rPr lang="ko-KR" altLang="en-US" dirty="0">
                <a:solidFill>
                  <a:srgbClr val="C9A9D0"/>
                </a:solidFill>
              </a:rPr>
              <a:t>멤버십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4978BF-68DD-E251-6F7D-F294E30DDC56}"/>
              </a:ext>
            </a:extLst>
          </p:cNvPr>
          <p:cNvSpPr txBox="1"/>
          <p:nvPr/>
        </p:nvSpPr>
        <p:spPr>
          <a:xfrm>
            <a:off x="370009" y="913526"/>
            <a:ext cx="8631116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고객별 구매 이력과 등급</a:t>
            </a:r>
            <a:r>
              <a:rPr lang="en-US" altLang="ko-KR" sz="1400" dirty="0"/>
              <a:t>, </a:t>
            </a:r>
            <a:r>
              <a:rPr lang="ko-KR" altLang="en-US" sz="1400" dirty="0"/>
              <a:t>적립 포인트</a:t>
            </a:r>
            <a:r>
              <a:rPr lang="en-US" altLang="ko-KR" sz="1400" dirty="0"/>
              <a:t>, </a:t>
            </a:r>
            <a:r>
              <a:rPr lang="ko-KR" altLang="en-US" sz="1400" dirty="0"/>
              <a:t>혜택 적용 현황 등을 통합적으로 확인할 수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이를 통해 일반 고객부터 우수 고객까지 회원 상태에 맞는 서비스를 제공할 수 있으며</a:t>
            </a:r>
            <a:r>
              <a:rPr lang="en-US" altLang="ko-KR" sz="1400" dirty="0"/>
              <a:t>,  </a:t>
            </a:r>
            <a:r>
              <a:rPr lang="ko-KR" altLang="en-US" sz="1400" dirty="0"/>
              <a:t>고객 관리의 정확성과 효율성을 높일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916AC4D-2AF4-6F2A-5481-C7880CCFD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88" y="4222971"/>
            <a:ext cx="7253811" cy="24421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0BA80C-1756-FDF9-7CB6-4F11B80064DB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멤버십 정보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멤버십 정보 조회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② 멤버십 구분 클릭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멤버십 상세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등급별 회원 수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등급 혜택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등급 설명 확인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보상 이력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등급에 적용 되는 보상 이력 확인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보상 이력 추가 버튼으로 보상 선택 목록에서 추가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D5BD89-00ED-B020-1EDE-1599B1EE9C63}"/>
              </a:ext>
            </a:extLst>
          </p:cNvPr>
          <p:cNvSpPr/>
          <p:nvPr/>
        </p:nvSpPr>
        <p:spPr>
          <a:xfrm>
            <a:off x="1374988" y="4206457"/>
            <a:ext cx="7253810" cy="245861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B9F4041-9F94-2C37-D6F2-755B470B7541}"/>
              </a:ext>
            </a:extLst>
          </p:cNvPr>
          <p:cNvSpPr/>
          <p:nvPr/>
        </p:nvSpPr>
        <p:spPr>
          <a:xfrm>
            <a:off x="7985408" y="5910428"/>
            <a:ext cx="643390" cy="14815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AB25AB6-4456-AF50-AA4F-7657B73A45E1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263708" y="3932931"/>
            <a:ext cx="2738185" cy="273526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84F14E40-AD5F-C64C-6B62-B1B85D4F2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04" y="2107926"/>
            <a:ext cx="6096002" cy="180849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F8477BD5-8B00-1F77-FD65-E41D6D20EB6E}"/>
              </a:ext>
            </a:extLst>
          </p:cNvPr>
          <p:cNvSpPr/>
          <p:nvPr/>
        </p:nvSpPr>
        <p:spPr>
          <a:xfrm>
            <a:off x="2299500" y="2107926"/>
            <a:ext cx="593717" cy="19571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E207A8B-D4C5-004E-01DA-8FFD8CF8E70D}"/>
              </a:ext>
            </a:extLst>
          </p:cNvPr>
          <p:cNvSpPr/>
          <p:nvPr/>
        </p:nvSpPr>
        <p:spPr>
          <a:xfrm>
            <a:off x="4780722" y="2611447"/>
            <a:ext cx="1076481" cy="18957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D66C17C-8F09-80B5-5EB1-FC5049311767}"/>
              </a:ext>
            </a:extLst>
          </p:cNvPr>
          <p:cNvSpPr/>
          <p:nvPr/>
        </p:nvSpPr>
        <p:spPr>
          <a:xfrm>
            <a:off x="4564722" y="239646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FCB64B4-2CC9-3C53-2A3C-DBBE6D49E119}"/>
              </a:ext>
            </a:extLst>
          </p:cNvPr>
          <p:cNvSpPr/>
          <p:nvPr/>
        </p:nvSpPr>
        <p:spPr>
          <a:xfrm>
            <a:off x="1335232" y="2992236"/>
            <a:ext cx="1597741" cy="91424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CFB93DF1-66BA-4E9E-B72F-D0A89C1EDF30}"/>
              </a:ext>
            </a:extLst>
          </p:cNvPr>
          <p:cNvSpPr/>
          <p:nvPr/>
        </p:nvSpPr>
        <p:spPr>
          <a:xfrm>
            <a:off x="1119232" y="276629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5835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7E959-A573-692D-C83E-3A9421A46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984D67F6-1259-7742-DD53-145B1714E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① </a:t>
            </a:r>
            <a:r>
              <a:rPr lang="ko-KR" altLang="en-US" dirty="0">
                <a:solidFill>
                  <a:srgbClr val="C9A9D0"/>
                </a:solidFill>
              </a:rPr>
              <a:t>멤버십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쿠폰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1202A5-A093-624F-FD4C-9C1B299CD591}"/>
              </a:ext>
            </a:extLst>
          </p:cNvPr>
          <p:cNvSpPr txBox="1"/>
          <p:nvPr/>
        </p:nvSpPr>
        <p:spPr>
          <a:xfrm>
            <a:off x="370009" y="1077475"/>
            <a:ext cx="7321235" cy="697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회원 등급 기준 쿠폰 지급을 통해 운영 효율을 높이고</a:t>
            </a:r>
            <a:r>
              <a:rPr lang="en-US" altLang="ko-KR" sz="1400" dirty="0"/>
              <a:t>, </a:t>
            </a:r>
            <a:r>
              <a:rPr lang="ko-KR" altLang="en-US" sz="1400" dirty="0"/>
              <a:t>회원 혜택을 체계적으로 관리하여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고객 관리 품질을 향상시킬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393EF45-7942-AAA8-F173-28D4C20B6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11" y="1884021"/>
            <a:ext cx="6215694" cy="209260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26091D-B919-D408-691F-2470ED2B0484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③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멤버십 쿠폰 지급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 </a:t>
            </a:r>
            <a:r>
              <a:rPr lang="ko-KR" altLang="en-US" sz="1200" dirty="0"/>
              <a:t>쿠폰명을 검색하여 사용 가능한 쿠폰 지급 목록에서 선택한 후</a:t>
            </a:r>
            <a:r>
              <a:rPr lang="en-US" altLang="ko-KR" sz="1200" dirty="0"/>
              <a:t>, </a:t>
            </a:r>
            <a:r>
              <a:rPr lang="ko-KR" altLang="en-US" sz="1200" dirty="0"/>
              <a:t>해당 등급 다수 회원에게 쿠폰 지급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DFC8B3-4349-4DC1-55DD-250D183FC320}"/>
              </a:ext>
            </a:extLst>
          </p:cNvPr>
          <p:cNvSpPr/>
          <p:nvPr/>
        </p:nvSpPr>
        <p:spPr>
          <a:xfrm>
            <a:off x="2662998" y="2214640"/>
            <a:ext cx="643390" cy="14815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C88A05D-07C7-53EF-4213-D8E9A06AB74B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022017" y="2372127"/>
            <a:ext cx="1622334" cy="1806602"/>
          </a:xfrm>
          <a:prstGeom prst="straightConnector1">
            <a:avLst/>
          </a:prstGeom>
          <a:ln w="63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5598C540-3FBE-F87D-82B4-0C25C6E8C0B0}"/>
              </a:ext>
            </a:extLst>
          </p:cNvPr>
          <p:cNvSpPr/>
          <p:nvPr/>
        </p:nvSpPr>
        <p:spPr>
          <a:xfrm>
            <a:off x="2517674" y="197668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3D526B-3F4D-523D-AE7C-BED82CBC6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42" y="4307246"/>
            <a:ext cx="4520806" cy="18238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5EA771-8AD6-68C8-DA9D-65CF7000D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566" y="4178730"/>
            <a:ext cx="2969506" cy="218805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63C8624-82B8-632A-B067-3D9928791797}"/>
              </a:ext>
            </a:extLst>
          </p:cNvPr>
          <p:cNvSpPr/>
          <p:nvPr/>
        </p:nvSpPr>
        <p:spPr>
          <a:xfrm>
            <a:off x="695739" y="4178729"/>
            <a:ext cx="7897224" cy="228170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836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5874-6921-9503-197D-D4A30B209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0287B9D4-476F-238A-2060-631763AAF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① </a:t>
            </a:r>
            <a:r>
              <a:rPr lang="ko-KR" altLang="en-US" dirty="0">
                <a:solidFill>
                  <a:srgbClr val="C9A9D0"/>
                </a:solidFill>
              </a:rPr>
              <a:t>멤버십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쿠폰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04D33B-3977-58AC-E22C-56CA08702D8B}"/>
              </a:ext>
            </a:extLst>
          </p:cNvPr>
          <p:cNvSpPr txBox="1"/>
          <p:nvPr/>
        </p:nvSpPr>
        <p:spPr>
          <a:xfrm>
            <a:off x="370008" y="1077475"/>
            <a:ext cx="8137887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회원 등급에 맞는 쿠폰을 검색해 지급하며</a:t>
            </a:r>
            <a:r>
              <a:rPr lang="en-US" altLang="ko-KR" sz="1400" dirty="0"/>
              <a:t>, </a:t>
            </a:r>
            <a:r>
              <a:rPr lang="ko-KR" altLang="en-US" sz="1400" dirty="0"/>
              <a:t>조건이 일치하지 않는 경우 지급이 제한되어 정확하고 효율적인 회원 혜택 관리가 가능합니다</a:t>
            </a:r>
            <a:r>
              <a:rPr lang="en-US" altLang="ko-KR" sz="14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ED04D6-EA2A-C8E0-B5D7-2FD0341B8E62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CD7581-D677-536F-9F47-D0EAAAF8B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864" y="2227883"/>
            <a:ext cx="4642421" cy="356278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5315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858E-1BFB-86B9-5CFF-A6A63189D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77C01BC5-DC14-C789-2D42-269A9AA3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② </a:t>
            </a:r>
            <a:r>
              <a:rPr lang="ko-KR" altLang="en-US" dirty="0">
                <a:solidFill>
                  <a:srgbClr val="C9A9D0"/>
                </a:solidFill>
              </a:rPr>
              <a:t>프로모션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E857B-8798-842A-CB7D-EDF4D5436BFE}"/>
              </a:ext>
            </a:extLst>
          </p:cNvPr>
          <p:cNvSpPr txBox="1"/>
          <p:nvPr/>
        </p:nvSpPr>
        <p:spPr>
          <a:xfrm>
            <a:off x="370009" y="1003713"/>
            <a:ext cx="8634032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 회원 등급</a:t>
            </a:r>
            <a:r>
              <a:rPr lang="en-US" altLang="ko-KR" sz="1400" dirty="0"/>
              <a:t>, </a:t>
            </a:r>
            <a:r>
              <a:rPr lang="ko-KR" altLang="en-US" sz="1400" dirty="0"/>
              <a:t>대상 매장</a:t>
            </a:r>
            <a:r>
              <a:rPr lang="en-US" altLang="ko-KR" sz="1400" dirty="0"/>
              <a:t>, </a:t>
            </a:r>
            <a:r>
              <a:rPr lang="ko-KR" altLang="en-US" sz="1400" dirty="0"/>
              <a:t>대상 품목</a:t>
            </a:r>
            <a:r>
              <a:rPr lang="en-US" altLang="ko-KR" sz="1400" dirty="0"/>
              <a:t>, </a:t>
            </a:r>
            <a:r>
              <a:rPr lang="ko-KR" altLang="en-US" sz="1400" dirty="0"/>
              <a:t>적용 기간 등의 조건에 따라 다양한 맞춤형 혜택을 운영할 수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이를 통해 포인트 지급은 물론</a:t>
            </a:r>
            <a:r>
              <a:rPr lang="en-US" altLang="ko-KR" sz="1400" dirty="0"/>
              <a:t>, </a:t>
            </a:r>
            <a:r>
              <a:rPr lang="ko-KR" altLang="en-US" sz="1400" dirty="0"/>
              <a:t>특정 고객군이나 특정 상품을 대상으로 한 차별화된 프로모션을 보다 유연하게 설정할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683B61-6927-AFB7-74AA-A6177F23441D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프로모션 정보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이름으로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특정 프로모션 정보 조회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② 프로모션 구분 클릭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요약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상세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정보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쿠폰 정보 확인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정보 </a:t>
            </a:r>
            <a:b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 기간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실 적용 기간</a:t>
            </a:r>
            <a:b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조회 기간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사용 가능 조회 기간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ko-KR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★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적용 기준 </a:t>
            </a:r>
            <a:r>
              <a:rPr lang="ko-KR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★</a:t>
            </a:r>
            <a:b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</a:t>
            </a: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활성 상태가 활성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 경우</a:t>
            </a:r>
            <a:b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당일 기준 </a:t>
            </a: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시작 일자와 종료 일자내에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유효한 경우 </a:t>
            </a:r>
            <a:b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한 개라도 충족되지 않으면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 불가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ko-KR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★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재사용 </a:t>
            </a:r>
            <a:r>
              <a:rPr lang="ko-KR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★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b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/>
              <a:t>시작</a:t>
            </a:r>
            <a:r>
              <a:rPr lang="en-US" altLang="ko-KR" sz="1200" dirty="0"/>
              <a:t>/</a:t>
            </a:r>
            <a:r>
              <a:rPr lang="ko-KR" altLang="en-US" sz="1200" dirty="0"/>
              <a:t>종료 일자</a:t>
            </a:r>
            <a:r>
              <a:rPr lang="en-US" altLang="ko-KR" sz="1200" dirty="0"/>
              <a:t>(</a:t>
            </a:r>
            <a:r>
              <a:rPr lang="ko-KR" altLang="en-US" sz="1200" dirty="0"/>
              <a:t>및 게시 시작</a:t>
            </a:r>
            <a:r>
              <a:rPr lang="en-US" altLang="ko-KR" sz="1200" dirty="0"/>
              <a:t>/</a:t>
            </a:r>
            <a:r>
              <a:rPr lang="ko-KR" altLang="en-US" sz="1200" dirty="0"/>
              <a:t>종료 일자</a:t>
            </a:r>
            <a:r>
              <a:rPr lang="en-US" altLang="ko-KR" sz="1200" dirty="0"/>
              <a:t>)</a:t>
            </a:r>
            <a:r>
              <a:rPr lang="ko-KR" altLang="en-US" sz="1200" dirty="0"/>
              <a:t>를 연장하고 활성 상태로 변경하면 다시 적용 가능</a:t>
            </a: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6F7835-7541-992F-959E-2700F21FC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69" y="2167245"/>
            <a:ext cx="7035282" cy="200266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5B87E59-2315-0D8F-5407-F6A928A871BD}"/>
              </a:ext>
            </a:extLst>
          </p:cNvPr>
          <p:cNvSpPr/>
          <p:nvPr/>
        </p:nvSpPr>
        <p:spPr>
          <a:xfrm>
            <a:off x="1527534" y="2900277"/>
            <a:ext cx="1169013" cy="130228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E0B086C-6E17-7276-F759-ACA3509C3438}"/>
              </a:ext>
            </a:extLst>
          </p:cNvPr>
          <p:cNvSpPr/>
          <p:nvPr/>
        </p:nvSpPr>
        <p:spPr>
          <a:xfrm>
            <a:off x="1320360" y="271033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62141F-08F2-CEE6-AF82-8BA9E121B7C2}"/>
              </a:ext>
            </a:extLst>
          </p:cNvPr>
          <p:cNvSpPr/>
          <p:nvPr/>
        </p:nvSpPr>
        <p:spPr>
          <a:xfrm>
            <a:off x="2205117" y="2158825"/>
            <a:ext cx="631389" cy="21081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3FEFC1-A1A9-4CB9-4BE2-3BDBEFF4CB1F}"/>
              </a:ext>
            </a:extLst>
          </p:cNvPr>
          <p:cNvSpPr/>
          <p:nvPr/>
        </p:nvSpPr>
        <p:spPr>
          <a:xfrm>
            <a:off x="447869" y="4452862"/>
            <a:ext cx="8232004" cy="185176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01490C-13FF-62B6-D5A6-ACB9757EC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69" y="4452862"/>
            <a:ext cx="8232004" cy="1851762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31D5CBA-E9E3-868F-E529-B44AFD6923CB}"/>
              </a:ext>
            </a:extLst>
          </p:cNvPr>
          <p:cNvSpPr/>
          <p:nvPr/>
        </p:nvSpPr>
        <p:spPr>
          <a:xfrm>
            <a:off x="3321261" y="5341279"/>
            <a:ext cx="2575572" cy="20475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84D735-1AF8-89B6-BD0A-1A1E0A6F3789}"/>
              </a:ext>
            </a:extLst>
          </p:cNvPr>
          <p:cNvSpPr/>
          <p:nvPr/>
        </p:nvSpPr>
        <p:spPr>
          <a:xfrm>
            <a:off x="4393047" y="421698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별: 꼭짓점 5개 15">
            <a:extLst>
              <a:ext uri="{FF2B5EF4-FFF2-40B4-BE49-F238E27FC236}">
                <a16:creationId xmlns:a16="http://schemas.microsoft.com/office/drawing/2014/main" id="{FE7356AA-0227-8753-5331-2B2676C3280F}"/>
              </a:ext>
            </a:extLst>
          </p:cNvPr>
          <p:cNvSpPr/>
          <p:nvPr/>
        </p:nvSpPr>
        <p:spPr>
          <a:xfrm>
            <a:off x="3115696" y="5351218"/>
            <a:ext cx="159026" cy="143575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BE13AA-0C2E-69D1-9DCE-1E59601D03F2}"/>
              </a:ext>
            </a:extLst>
          </p:cNvPr>
          <p:cNvSpPr/>
          <p:nvPr/>
        </p:nvSpPr>
        <p:spPr>
          <a:xfrm>
            <a:off x="732124" y="5695471"/>
            <a:ext cx="2463085" cy="20475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E0834-C082-9B6B-36E4-ED62121D4B7F}"/>
              </a:ext>
            </a:extLst>
          </p:cNvPr>
          <p:cNvCxnSpPr>
            <a:cxnSpLocks/>
          </p:cNvCxnSpPr>
          <p:nvPr/>
        </p:nvCxnSpPr>
        <p:spPr>
          <a:xfrm>
            <a:off x="1970788" y="4184315"/>
            <a:ext cx="2451830" cy="250296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별: 꼭짓점 5개 25">
            <a:extLst>
              <a:ext uri="{FF2B5EF4-FFF2-40B4-BE49-F238E27FC236}">
                <a16:creationId xmlns:a16="http://schemas.microsoft.com/office/drawing/2014/main" id="{4B30A911-A532-0C6C-59DA-F8E496B310ED}"/>
              </a:ext>
            </a:extLst>
          </p:cNvPr>
          <p:cNvSpPr/>
          <p:nvPr/>
        </p:nvSpPr>
        <p:spPr>
          <a:xfrm>
            <a:off x="511230" y="5705410"/>
            <a:ext cx="159026" cy="143575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847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F0892-4779-CECC-9C47-482AF9E3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7198C59E-C916-A888-EDD7-A48D3008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② </a:t>
            </a:r>
            <a:r>
              <a:rPr lang="ko-KR" altLang="en-US" dirty="0">
                <a:solidFill>
                  <a:srgbClr val="C9A9D0"/>
                </a:solidFill>
              </a:rPr>
              <a:t>프로모션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제품 일괄 등록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58B21-368C-6639-BC75-4A992722901E}"/>
              </a:ext>
            </a:extLst>
          </p:cNvPr>
          <p:cNvSpPr txBox="1"/>
          <p:nvPr/>
        </p:nvSpPr>
        <p:spPr>
          <a:xfrm>
            <a:off x="370010" y="1077475"/>
            <a:ext cx="8634032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ea typeface="나눔스퀘어" panose="020B0600000101010101"/>
              </a:rPr>
              <a:t>제품 등록 기능을 통해 </a:t>
            </a:r>
            <a:r>
              <a:rPr lang="ko-KR" altLang="en-US" sz="1400" dirty="0"/>
              <a:t>대량 제품에 대한 프로모션을 일괄 처리 방식으로 지급할 수 있습니다</a:t>
            </a:r>
            <a:r>
              <a:rPr lang="en-US" altLang="ko-KR" sz="14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2D9900-FF44-68D2-8589-0C67CB82ADC9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③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엑셀 업로드 방식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제품 등록 버튼 클릭 시</a:t>
            </a:r>
            <a:r>
              <a:rPr lang="en-US" altLang="ko-KR" sz="1200" dirty="0"/>
              <a:t>, CSV </a:t>
            </a:r>
            <a:r>
              <a:rPr lang="ko-KR" altLang="en-US" sz="1200" dirty="0"/>
              <a:t>파일 업로드 방식</a:t>
            </a:r>
            <a:r>
              <a:rPr lang="en-US" altLang="ko-KR" sz="1200" dirty="0"/>
              <a:t>(</a:t>
            </a:r>
            <a:r>
              <a:rPr lang="ko-KR" altLang="en-US" sz="1200" dirty="0"/>
              <a:t>쉼표 분리</a:t>
            </a:r>
            <a:r>
              <a:rPr lang="en-US" altLang="ko-KR" sz="1200" dirty="0"/>
              <a:t>)</a:t>
            </a:r>
            <a:r>
              <a:rPr lang="ko-KR" altLang="en-US" sz="1200" dirty="0"/>
              <a:t>으로 프로모션 적용 가능 제품을 일괄 등록할 수 있습니다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업로드 전 성공</a:t>
            </a:r>
            <a:r>
              <a:rPr lang="en-US" altLang="ko-KR" sz="1200" dirty="0"/>
              <a:t>/</a:t>
            </a:r>
            <a:r>
              <a:rPr lang="ko-KR" altLang="en-US" sz="1200" dirty="0"/>
              <a:t>실패 건수 파악과 함께  유효한 제품 코드와 오류 내역을 미리 확인한 후 등록할 수 있습니다</a:t>
            </a:r>
            <a:r>
              <a:rPr lang="en-US" altLang="ko-KR" sz="1200" dirty="0"/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업로드 시 헤더 항목은 업로드 화면에서도 안내되며</a:t>
            </a:r>
            <a:r>
              <a:rPr lang="en-US" altLang="ko-KR" sz="1200" dirty="0"/>
              <a:t>, </a:t>
            </a:r>
            <a:r>
              <a:rPr lang="ko-KR" altLang="en-US" sz="1200" dirty="0"/>
              <a:t>전체 항목을 확인하시려면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- </a:t>
            </a:r>
            <a:r>
              <a:rPr lang="ko-KR" altLang="en-US" sz="1200" dirty="0"/>
              <a:t>엑셀 업로드 파일 헤더 항목 요약표를 참고하시기 바랍니다</a:t>
            </a:r>
            <a:r>
              <a:rPr lang="en-US" altLang="ko-KR" sz="1200" dirty="0"/>
              <a:t>.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A99C25-012B-D8FD-B771-2851F00D4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8" y="1774794"/>
            <a:ext cx="8415957" cy="298632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4014B9D-AB7F-A848-3C75-0D2B3FC5330B}"/>
              </a:ext>
            </a:extLst>
          </p:cNvPr>
          <p:cNvSpPr/>
          <p:nvPr/>
        </p:nvSpPr>
        <p:spPr>
          <a:xfrm>
            <a:off x="7781731" y="1842973"/>
            <a:ext cx="523256" cy="19241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E426681-3645-6FE6-44CB-6EE75BE0C743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4572313" y="2054053"/>
            <a:ext cx="3471046" cy="1208841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44509EAA-9272-F1CF-72D6-39D38157F6B6}"/>
              </a:ext>
            </a:extLst>
          </p:cNvPr>
          <p:cNvSpPr/>
          <p:nvPr/>
        </p:nvSpPr>
        <p:spPr>
          <a:xfrm>
            <a:off x="7565731" y="166887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5AD244-0665-5F50-E5DC-ACC1E7EEB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79" y="3268350"/>
            <a:ext cx="3991797" cy="186144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ACEF20E-6E4A-F7F3-70E9-1C67FFCD6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076" y="3268351"/>
            <a:ext cx="3858270" cy="185598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54B6E56-6C15-6189-5FF6-DAB833CFBE41}"/>
              </a:ext>
            </a:extLst>
          </p:cNvPr>
          <p:cNvSpPr/>
          <p:nvPr/>
        </p:nvSpPr>
        <p:spPr>
          <a:xfrm>
            <a:off x="647279" y="3262894"/>
            <a:ext cx="7850067" cy="186144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C3336CB-CA49-3E03-9079-9B2A2C60EF3B}"/>
              </a:ext>
            </a:extLst>
          </p:cNvPr>
          <p:cNvSpPr/>
          <p:nvPr/>
        </p:nvSpPr>
        <p:spPr>
          <a:xfrm>
            <a:off x="4649806" y="4439542"/>
            <a:ext cx="3779819" cy="29863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8E643-5396-4D29-46D1-63847D2F6964}"/>
              </a:ext>
            </a:extLst>
          </p:cNvPr>
          <p:cNvSpPr txBox="1"/>
          <p:nvPr/>
        </p:nvSpPr>
        <p:spPr>
          <a:xfrm>
            <a:off x="647279" y="5135250"/>
            <a:ext cx="11274552" cy="5674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모든 업로드 파일은 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CSV (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쉼표로 분리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) (*.csv)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형식으로 저장해야 합니다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파일 권장량 초과 시 업로드가 실패할 수 있습니다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반드시 권장량을 지켜 </a:t>
            </a:r>
            <a:r>
              <a:rPr lang="ko-KR" altLang="en-US" sz="1100" dirty="0" err="1">
                <a:solidFill>
                  <a:srgbClr val="DC2626"/>
                </a:solidFill>
                <a:latin typeface="맑은 고딕" panose="020B0503020000020004" pitchFamily="50" charset="-127"/>
              </a:rPr>
              <a:t>주시길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 바랍니다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dirty="0">
              <a:solidFill>
                <a:srgbClr val="DC2626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9299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5DF-170E-413A-3E49-BED3F2F92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D98B2834-ADB2-94B4-0928-1C12EB993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② </a:t>
            </a:r>
            <a:r>
              <a:rPr lang="ko-KR" altLang="en-US" dirty="0">
                <a:solidFill>
                  <a:srgbClr val="C9A9D0"/>
                </a:solidFill>
              </a:rPr>
              <a:t>프로모션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매장 일괄 등록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DEA9FA-6D24-834A-3B79-81CDFEEA2213}"/>
              </a:ext>
            </a:extLst>
          </p:cNvPr>
          <p:cNvSpPr txBox="1"/>
          <p:nvPr/>
        </p:nvSpPr>
        <p:spPr>
          <a:xfrm>
            <a:off x="370010" y="1077475"/>
            <a:ext cx="8634032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ea typeface="나눔스퀘어" panose="020B0600000101010101"/>
              </a:rPr>
              <a:t>매장 등록 기능을 통해</a:t>
            </a:r>
            <a:r>
              <a:rPr lang="en-US" altLang="ko-KR" sz="1400" dirty="0">
                <a:ea typeface="나눔스퀘어" panose="020B0600000101010101"/>
              </a:rPr>
              <a:t> </a:t>
            </a:r>
            <a:r>
              <a:rPr lang="ko-KR" altLang="en-US" sz="1400" dirty="0"/>
              <a:t>대량 매장에 대한 프로모션을 일괄 처리 방식으로 지급할 수 있습니다</a:t>
            </a:r>
            <a:r>
              <a:rPr lang="en-US" altLang="ko-KR" sz="14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571405-D96C-08F6-AD1F-3D4B2068161A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④ 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엑셀 업로드 방식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매장</a:t>
            </a:r>
            <a:r>
              <a:rPr lang="ko-KR" altLang="en-US" sz="1200" dirty="0"/>
              <a:t> 등록 버튼 클릭 시</a:t>
            </a:r>
            <a:r>
              <a:rPr lang="en-US" altLang="ko-KR" sz="1200" dirty="0"/>
              <a:t>, CSV </a:t>
            </a:r>
            <a:r>
              <a:rPr lang="ko-KR" altLang="en-US" sz="1200" dirty="0"/>
              <a:t>파일 업로드 방식</a:t>
            </a:r>
            <a:r>
              <a:rPr lang="en-US" altLang="ko-KR" sz="1200" dirty="0"/>
              <a:t>(</a:t>
            </a:r>
            <a:r>
              <a:rPr lang="ko-KR" altLang="en-US" sz="1200" dirty="0"/>
              <a:t>쉼표 분리</a:t>
            </a:r>
            <a:r>
              <a:rPr lang="en-US" altLang="ko-KR" sz="1200" dirty="0"/>
              <a:t>)</a:t>
            </a:r>
            <a:r>
              <a:rPr lang="ko-KR" altLang="en-US" sz="1200" dirty="0"/>
              <a:t>으로 프로모션 적용 가능 매장을 일괄 등록할 수 있습니다</a:t>
            </a:r>
            <a:r>
              <a:rPr lang="en-US" altLang="ko-KR" sz="1200" dirty="0"/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업로드 전 성공</a:t>
            </a:r>
            <a:r>
              <a:rPr lang="en-US" altLang="ko-KR" sz="1200" dirty="0"/>
              <a:t>/</a:t>
            </a:r>
            <a:r>
              <a:rPr lang="ko-KR" altLang="en-US" sz="1200" dirty="0"/>
              <a:t>실패 건수 파악과 함께  유효한 매장 코드와 오류 내역을 미리 확인한 후 등록할 수 있습니다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업로드 시 헤더 항목은 업로드 화면에서도 안내되며</a:t>
            </a:r>
            <a:r>
              <a:rPr lang="en-US" altLang="ko-KR" sz="1200" dirty="0"/>
              <a:t>, </a:t>
            </a:r>
            <a:r>
              <a:rPr lang="ko-KR" altLang="en-US" sz="1200" dirty="0"/>
              <a:t>전체 항목을 확인하시려면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- </a:t>
            </a:r>
            <a:r>
              <a:rPr lang="ko-KR" altLang="en-US" sz="1200" dirty="0"/>
              <a:t>엑셀 업로드 파일 헤더 항목 요약표를 참고하시기 바랍니다</a:t>
            </a:r>
            <a:r>
              <a:rPr lang="en-US" altLang="ko-KR" sz="1200" dirty="0"/>
              <a:t>.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5EC5EB-BC20-4922-0A16-E377AE97B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2" y="1734321"/>
            <a:ext cx="8415957" cy="298632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50BB1AB-B13F-485F-5AB7-BD5CFB1E01E3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612757" y="2005975"/>
            <a:ext cx="3907484" cy="1423025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66DFCA-5779-56D3-B5F2-ACDAE72944E0}"/>
              </a:ext>
            </a:extLst>
          </p:cNvPr>
          <p:cNvSpPr/>
          <p:nvPr/>
        </p:nvSpPr>
        <p:spPr>
          <a:xfrm>
            <a:off x="8258613" y="1813557"/>
            <a:ext cx="523256" cy="19241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943B354-91DA-D058-7CC6-91C619CD41F9}"/>
              </a:ext>
            </a:extLst>
          </p:cNvPr>
          <p:cNvSpPr/>
          <p:nvPr/>
        </p:nvSpPr>
        <p:spPr>
          <a:xfrm>
            <a:off x="8113289" y="1567641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C4A5E3-0AEE-34CD-9BF4-D80C82B63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06" y="3429000"/>
            <a:ext cx="4092001" cy="186443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C4D897-33FD-2161-8A32-413A86E16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107" y="3429000"/>
            <a:ext cx="3494193" cy="186443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BCABE43-9135-0183-F515-91C8F4E33871}"/>
              </a:ext>
            </a:extLst>
          </p:cNvPr>
          <p:cNvSpPr/>
          <p:nvPr/>
        </p:nvSpPr>
        <p:spPr>
          <a:xfrm>
            <a:off x="811213" y="3429000"/>
            <a:ext cx="7603087" cy="1861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E451B2-01F1-3901-BC8A-74DBE8112DEC}"/>
              </a:ext>
            </a:extLst>
          </p:cNvPr>
          <p:cNvSpPr/>
          <p:nvPr/>
        </p:nvSpPr>
        <p:spPr>
          <a:xfrm>
            <a:off x="4937000" y="4450178"/>
            <a:ext cx="3477300" cy="71237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F5AB0-426E-21D9-4B3A-3933DEE6D20C}"/>
              </a:ext>
            </a:extLst>
          </p:cNvPr>
          <p:cNvSpPr txBox="1"/>
          <p:nvPr/>
        </p:nvSpPr>
        <p:spPr>
          <a:xfrm>
            <a:off x="811213" y="5290359"/>
            <a:ext cx="11274552" cy="5674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모든 업로드 파일은 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CSV (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쉼표로 분리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) (*.csv)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형식으로 저장해야 합니다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파일 권장량 초과 시 업로드가 실패할 수 있습니다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반드시 권장량을 지켜 </a:t>
            </a:r>
            <a:r>
              <a:rPr lang="ko-KR" altLang="en-US" sz="1100" dirty="0" err="1">
                <a:solidFill>
                  <a:srgbClr val="DC2626"/>
                </a:solidFill>
                <a:latin typeface="맑은 고딕" panose="020B0503020000020004" pitchFamily="50" charset="-127"/>
              </a:rPr>
              <a:t>주시길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 바랍니다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dirty="0">
              <a:solidFill>
                <a:srgbClr val="DC2626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1592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D32FC-0173-9F41-BFD6-5B41988B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D9590905-EB99-41D3-FCBC-8EBD3E5C6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② </a:t>
            </a:r>
            <a:r>
              <a:rPr lang="ko-KR" altLang="en-US" dirty="0">
                <a:solidFill>
                  <a:srgbClr val="C9A9D0"/>
                </a:solidFill>
              </a:rPr>
              <a:t>프로모션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쿠폰 설정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B4E45F-B146-ED4C-3EC3-F7A5A5E80E8B}"/>
              </a:ext>
            </a:extLst>
          </p:cNvPr>
          <p:cNvSpPr txBox="1"/>
          <p:nvPr/>
        </p:nvSpPr>
        <p:spPr>
          <a:xfrm>
            <a:off x="370010" y="1077475"/>
            <a:ext cx="8634032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쿠폰 설정 기능과 적용 가능 쿠폰에서 추가 기능을 통해 프로모션에 특정 쿠폰을 적용할 수 있습니다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07A4C-D3B5-7A87-42C6-C0CE1349F3C3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⑤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쿠폰 설정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프로모션에 대한 특정 쿠폰 적용 가능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적용된 프로모션 쿠폰은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관련됨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–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 가능 쿠폰에서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⑥ [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관련됨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– 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 가능 쿠폰 새로 만들기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dirty="0">
                <a:ea typeface="나눔스퀘어" panose="020B0600000101010101"/>
              </a:rPr>
              <a:t>Salesforce </a:t>
            </a:r>
            <a:r>
              <a:rPr lang="ko-KR" altLang="en-US" sz="1200" dirty="0">
                <a:ea typeface="나눔스퀘어" panose="020B0600000101010101"/>
              </a:rPr>
              <a:t>표준 기능으로 동작하며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쿠폰 범주 이름과 사용 가능 쿠폰을 지정하여 새 쿠폰 한도를 등록</a:t>
            </a:r>
            <a:endParaRPr lang="en-US" altLang="ko-KR" sz="1200" dirty="0">
              <a:ea typeface="나눔스퀘어" panose="020B0600000101010101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쿠폰 범주 이름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쿠폰 이름 설정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가능 쿠폰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프로모션 적용 쿠폰 설정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저장 및 새로 만들기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 쿠폰 한도 </a:t>
            </a:r>
            <a:r>
              <a:rPr lang="ko-KR" altLang="en-US" sz="1200" dirty="0"/>
              <a:t>저장 후</a:t>
            </a:r>
            <a:r>
              <a:rPr lang="en-US" altLang="ko-KR" sz="1200" dirty="0"/>
              <a:t>,</a:t>
            </a:r>
            <a:r>
              <a:rPr lang="ko-KR" altLang="en-US" sz="1200" dirty="0"/>
              <a:t> 창이 유지되어 연속으로 쿠폰 한도 생성 가능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저장 </a:t>
            </a:r>
            <a:r>
              <a:rPr lang="en-US" altLang="ko-KR" sz="1200" dirty="0"/>
              <a:t>: </a:t>
            </a:r>
            <a:r>
              <a:rPr lang="ko-KR" altLang="en-US" sz="1200" dirty="0"/>
              <a:t>새 쿠폰 한도 저장 후</a:t>
            </a:r>
            <a:r>
              <a:rPr lang="en-US" altLang="ko-KR" sz="1200" dirty="0"/>
              <a:t>,</a:t>
            </a:r>
            <a:r>
              <a:rPr lang="ko-KR" altLang="en-US" sz="1200" dirty="0"/>
              <a:t> 창이 닫히고 생성 완료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2)      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해당 쿠폰 데이터 수정</a:t>
            </a:r>
            <a:r>
              <a:rPr lang="en-US" altLang="ko-KR" sz="1200" dirty="0"/>
              <a:t>/</a:t>
            </a:r>
            <a:r>
              <a:rPr lang="ko-KR" altLang="en-US" sz="1200" dirty="0"/>
              <a:t>삭제 가능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99C490-A5E8-22C9-43FB-6FEBF190D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36" y="3383928"/>
            <a:ext cx="2984839" cy="233599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2E96C5F-1959-F88D-A546-69DDE7CF3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9" y="1572939"/>
            <a:ext cx="8553272" cy="1399792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3C5F5C-4F92-4ECD-75C3-9BAB27661B7F}"/>
              </a:ext>
            </a:extLst>
          </p:cNvPr>
          <p:cNvSpPr/>
          <p:nvPr/>
        </p:nvSpPr>
        <p:spPr>
          <a:xfrm>
            <a:off x="8362845" y="1712300"/>
            <a:ext cx="523256" cy="19241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5ACC566-2650-3C62-1B3D-9D51A5AF0255}"/>
              </a:ext>
            </a:extLst>
          </p:cNvPr>
          <p:cNvSpPr/>
          <p:nvPr/>
        </p:nvSpPr>
        <p:spPr>
          <a:xfrm>
            <a:off x="8144970" y="153083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5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96091F8-73C5-4109-63C0-CC73EF979346}"/>
              </a:ext>
            </a:extLst>
          </p:cNvPr>
          <p:cNvSpPr/>
          <p:nvPr/>
        </p:nvSpPr>
        <p:spPr>
          <a:xfrm>
            <a:off x="8252970" y="2695655"/>
            <a:ext cx="523256" cy="19241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35C0636-203D-AA4B-9983-691832D151F1}"/>
              </a:ext>
            </a:extLst>
          </p:cNvPr>
          <p:cNvSpPr/>
          <p:nvPr/>
        </p:nvSpPr>
        <p:spPr>
          <a:xfrm>
            <a:off x="8012139" y="267207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FE838F1-3E91-83BD-48C6-2E01633E12D3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111456" y="1904718"/>
            <a:ext cx="6476671" cy="147921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972985-A88D-1F25-F7D4-69649DEC805D}"/>
              </a:ext>
            </a:extLst>
          </p:cNvPr>
          <p:cNvSpPr/>
          <p:nvPr/>
        </p:nvSpPr>
        <p:spPr>
          <a:xfrm>
            <a:off x="619036" y="3383928"/>
            <a:ext cx="2984839" cy="233599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035F7FB-1FA7-9BAE-DFA3-02BBDDAC2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658" y="3644558"/>
            <a:ext cx="4393026" cy="181473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F57F8105-5213-FAD4-4A71-9618792C296A}"/>
              </a:ext>
            </a:extLst>
          </p:cNvPr>
          <p:cNvSpPr/>
          <p:nvPr/>
        </p:nvSpPr>
        <p:spPr>
          <a:xfrm>
            <a:off x="4012682" y="3647128"/>
            <a:ext cx="4414002" cy="181216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5E40847-363B-891D-A5C5-845B17F90545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6219683" y="2888073"/>
            <a:ext cx="2294915" cy="759055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그림 37">
            <a:extLst>
              <a:ext uri="{FF2B5EF4-FFF2-40B4-BE49-F238E27FC236}">
                <a16:creationId xmlns:a16="http://schemas.microsoft.com/office/drawing/2014/main" id="{DEE83842-8165-6B24-EDD7-E59271C5F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2883" y="6114081"/>
            <a:ext cx="236240" cy="22862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6523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3AE32-C69F-31D0-8ADC-5F5B67B86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6C2B4782-5498-783B-F58C-9B484796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② </a:t>
            </a:r>
            <a:r>
              <a:rPr lang="ko-KR" altLang="en-US" dirty="0">
                <a:solidFill>
                  <a:srgbClr val="C9A9D0"/>
                </a:solidFill>
              </a:rPr>
              <a:t>프로모션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포인트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796005-F481-6FD8-2A9A-7B069918F7A5}"/>
              </a:ext>
            </a:extLst>
          </p:cNvPr>
          <p:cNvSpPr txBox="1"/>
          <p:nvPr/>
        </p:nvSpPr>
        <p:spPr>
          <a:xfrm>
            <a:off x="370009" y="1077475"/>
            <a:ext cx="8005718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</a:t>
            </a:r>
            <a:r>
              <a:rPr lang="ko-KR" altLang="en-US" sz="1400" dirty="0"/>
              <a:t>관련됨</a:t>
            </a:r>
            <a:r>
              <a:rPr lang="en-US" altLang="ko-KR" sz="1400" dirty="0"/>
              <a:t>] </a:t>
            </a:r>
            <a:r>
              <a:rPr lang="ko-KR" altLang="en-US" sz="1400" dirty="0"/>
              <a:t>적용 가능 포인트 </a:t>
            </a:r>
            <a:r>
              <a:rPr lang="en-US" altLang="ko-KR" sz="1400" dirty="0"/>
              <a:t>– </a:t>
            </a:r>
            <a:r>
              <a:rPr lang="ko-KR" altLang="en-US" sz="1400" dirty="0"/>
              <a:t>새로 만들기를 통해 프로모션 포인트를 생성 및 설정할 수 있습니다</a:t>
            </a:r>
            <a:r>
              <a:rPr lang="en-US" altLang="ko-KR" sz="1400" dirty="0"/>
              <a:t>.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2C75C-A8F4-4E1F-86F8-F5A0B9C44716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⑦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프로모션 포인트 생성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en-US" altLang="ko-KR" sz="1200" dirty="0">
                <a:ea typeface="나눔스퀘어" panose="020B0600000101010101"/>
              </a:rPr>
              <a:t>Salesforce </a:t>
            </a:r>
            <a:r>
              <a:rPr lang="ko-KR" altLang="en-US" sz="1200" dirty="0">
                <a:ea typeface="나눔스퀘어" panose="020B0600000101010101"/>
              </a:rPr>
              <a:t>표준 기능으로 동작하며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 프로모션 포인트 등록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이름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 적용 가능 포인트 이름 설정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유형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 포인트 종류 설정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값 설정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유형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포인트의 적용 값 설정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저장 및 새로 만들기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 쿠폰 한도 </a:t>
            </a:r>
            <a:r>
              <a:rPr lang="ko-KR" altLang="en-US" sz="1200" dirty="0"/>
              <a:t>저장 후</a:t>
            </a:r>
            <a:r>
              <a:rPr lang="en-US" altLang="ko-KR" sz="1200" dirty="0"/>
              <a:t>,</a:t>
            </a:r>
            <a:r>
              <a:rPr lang="ko-KR" altLang="en-US" sz="1200" dirty="0"/>
              <a:t> 창이 유지되어 연속으로 쿠폰 한도 생성 가능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저장 </a:t>
            </a:r>
            <a:r>
              <a:rPr lang="en-US" altLang="ko-KR" sz="1200" dirty="0"/>
              <a:t>: </a:t>
            </a:r>
            <a:r>
              <a:rPr lang="ko-KR" altLang="en-US" sz="1200" dirty="0"/>
              <a:t>새 쿠폰 한도 저장 후</a:t>
            </a:r>
            <a:r>
              <a:rPr lang="en-US" altLang="ko-KR" sz="1200" dirty="0"/>
              <a:t>,</a:t>
            </a:r>
            <a:r>
              <a:rPr lang="ko-KR" altLang="en-US" sz="1200" dirty="0"/>
              <a:t> 창이 닫히고 생성 완료 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★프로모션 </a:t>
            </a:r>
            <a:r>
              <a:rPr lang="en-US" altLang="ko-KR" sz="1200" dirty="0"/>
              <a:t>N</a:t>
            </a:r>
            <a:r>
              <a:rPr lang="ko-KR" altLang="en-US" sz="1200" dirty="0"/>
              <a:t>배 적립은 적용 가능 포인트를 </a:t>
            </a:r>
            <a:r>
              <a:rPr lang="en-US" altLang="ko-KR" sz="1200" dirty="0"/>
              <a:t>N</a:t>
            </a:r>
            <a:r>
              <a:rPr lang="ko-KR" altLang="en-US" sz="1200" dirty="0"/>
              <a:t>개 새로 만들기 생성 필수 ★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2)       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버튼 클릭 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포인트 데이터 수정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삭제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1BA584-71BD-8828-A444-3A33F61EB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9" y="1788479"/>
            <a:ext cx="8532410" cy="66803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3CC4DB4-BEC0-31CE-9915-2EB8E189512B}"/>
              </a:ext>
            </a:extLst>
          </p:cNvPr>
          <p:cNvSpPr/>
          <p:nvPr/>
        </p:nvSpPr>
        <p:spPr>
          <a:xfrm>
            <a:off x="8303566" y="1796678"/>
            <a:ext cx="595624" cy="24643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B159146-1639-6056-D858-A477708EF5D0}"/>
              </a:ext>
            </a:extLst>
          </p:cNvPr>
          <p:cNvSpPr/>
          <p:nvPr/>
        </p:nvSpPr>
        <p:spPr>
          <a:xfrm>
            <a:off x="8159727" y="153010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7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7E22A0C-0B25-53A8-597C-DB8EBE2F0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573" y="5281513"/>
            <a:ext cx="236240" cy="22862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8BEDC96-9E4A-AD78-811C-7CE4AFA2F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183" y="2711142"/>
            <a:ext cx="4411427" cy="351016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D16F2DA-061C-D2F7-51F8-B1876F63677E}"/>
              </a:ext>
            </a:extLst>
          </p:cNvPr>
          <p:cNvSpPr/>
          <p:nvPr/>
        </p:nvSpPr>
        <p:spPr>
          <a:xfrm>
            <a:off x="2163924" y="2711143"/>
            <a:ext cx="4411427" cy="351016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D38FFC3-81E2-0C1C-8101-13C1A96477BB}"/>
              </a:ext>
            </a:extLst>
          </p:cNvPr>
          <p:cNvCxnSpPr>
            <a:cxnSpLocks/>
          </p:cNvCxnSpPr>
          <p:nvPr/>
        </p:nvCxnSpPr>
        <p:spPr>
          <a:xfrm flipH="1">
            <a:off x="4369638" y="2043108"/>
            <a:ext cx="4202530" cy="566888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867096-2F38-2BB8-FB56-53FC673119A9}"/>
              </a:ext>
            </a:extLst>
          </p:cNvPr>
          <p:cNvSpPr txBox="1"/>
          <p:nvPr/>
        </p:nvSpPr>
        <p:spPr>
          <a:xfrm>
            <a:off x="1705047" y="6322456"/>
            <a:ext cx="699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★프로모션 </a:t>
            </a:r>
            <a:r>
              <a:rPr lang="en-US" altLang="ko-KR" sz="1200" dirty="0">
                <a:solidFill>
                  <a:srgbClr val="FF0000"/>
                </a:solidFill>
              </a:rPr>
              <a:t>N</a:t>
            </a:r>
            <a:r>
              <a:rPr lang="ko-KR" altLang="en-US" sz="1200" dirty="0">
                <a:solidFill>
                  <a:srgbClr val="FF0000"/>
                </a:solidFill>
              </a:rPr>
              <a:t>배 적립은 </a:t>
            </a:r>
            <a:r>
              <a:rPr lang="en-US" altLang="ko-KR" sz="1200" dirty="0">
                <a:solidFill>
                  <a:srgbClr val="FF0000"/>
                </a:solidFill>
              </a:rPr>
              <a:t>N</a:t>
            </a:r>
            <a:r>
              <a:rPr lang="ko-KR" altLang="en-US" sz="1200" dirty="0">
                <a:solidFill>
                  <a:srgbClr val="FF0000"/>
                </a:solidFill>
              </a:rPr>
              <a:t>개 만큼 적용 가능 포인트를 설정해야 적립 조건 적용됩니다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★</a:t>
            </a:r>
            <a:br>
              <a:rPr lang="en-US" altLang="ko-KR" sz="1200" dirty="0">
                <a:solidFill>
                  <a:srgbClr val="FF0000"/>
                </a:solidFill>
              </a:rPr>
            </a:br>
            <a:r>
              <a:rPr lang="en-US" altLang="ko-KR" sz="1200" dirty="0">
                <a:solidFill>
                  <a:srgbClr val="FF0000"/>
                </a:solidFill>
              </a:rPr>
              <a:t>ex) </a:t>
            </a:r>
            <a:r>
              <a:rPr lang="ko-KR" altLang="en-US" sz="1200" dirty="0">
                <a:solidFill>
                  <a:srgbClr val="FF0000"/>
                </a:solidFill>
              </a:rPr>
              <a:t>더블 적립 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두 개의 적용 가능 포인트를 새로 생성하셔야 합니다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080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49ECD-4CF1-772C-B34B-F45C89F6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9EF8DAAA-5AC7-9097-0787-987DE780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② </a:t>
            </a:r>
            <a:r>
              <a:rPr lang="ko-KR" altLang="en-US" dirty="0">
                <a:solidFill>
                  <a:srgbClr val="C9A9D0"/>
                </a:solidFill>
              </a:rPr>
              <a:t>프로모션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제품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0BB430-D70A-3A80-5821-AECD2E7119C7}"/>
              </a:ext>
            </a:extLst>
          </p:cNvPr>
          <p:cNvSpPr txBox="1"/>
          <p:nvPr/>
        </p:nvSpPr>
        <p:spPr>
          <a:xfrm>
            <a:off x="370009" y="1077475"/>
            <a:ext cx="6965368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</a:t>
            </a:r>
            <a:r>
              <a:rPr lang="ko-KR" altLang="en-US" sz="1400" dirty="0"/>
              <a:t>관련됨</a:t>
            </a:r>
            <a:r>
              <a:rPr lang="en-US" altLang="ko-KR" sz="1400" dirty="0"/>
              <a:t>] </a:t>
            </a:r>
            <a:r>
              <a:rPr lang="ko-KR" altLang="en-US" sz="1400" dirty="0"/>
              <a:t>적용 가능 제품 </a:t>
            </a:r>
            <a:r>
              <a:rPr lang="en-US" altLang="ko-KR" sz="1400" dirty="0"/>
              <a:t>- </a:t>
            </a:r>
            <a:r>
              <a:rPr lang="ko-KR" altLang="en-US" sz="1400" dirty="0"/>
              <a:t>추가를 통해 프로모션 제품을 생성</a:t>
            </a:r>
            <a:r>
              <a:rPr lang="en-US" altLang="ko-KR" sz="1400" dirty="0"/>
              <a:t> </a:t>
            </a:r>
            <a:r>
              <a:rPr lang="ko-KR" altLang="en-US" sz="1400" dirty="0"/>
              <a:t>및 설정할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D027B4-F28F-6625-1027-68DCE8A1DBC4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⑧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프로모션 제품 생성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ea typeface="나눔스퀘어" panose="020B0600000101010101"/>
              </a:rPr>
              <a:t>Salesforce </a:t>
            </a:r>
            <a:r>
              <a:rPr lang="ko-KR" altLang="en-US" sz="1200" dirty="0">
                <a:ea typeface="나눔스퀘어" panose="020B0600000101010101"/>
              </a:rPr>
              <a:t>표준 기능으로 동작하며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 프로모션 제품 등록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제품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프로모션 적용 가능 제품 설정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저장 및 새로 만들기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 쿠폰 한도 </a:t>
            </a:r>
            <a:r>
              <a:rPr lang="ko-KR" altLang="en-US" sz="1200" dirty="0"/>
              <a:t>저장 후</a:t>
            </a:r>
            <a:r>
              <a:rPr lang="en-US" altLang="ko-KR" sz="1200" dirty="0"/>
              <a:t>,</a:t>
            </a:r>
            <a:r>
              <a:rPr lang="ko-KR" altLang="en-US" sz="1200" dirty="0"/>
              <a:t> 창이 유지되어 연속으로 쿠폰 한도 생성 가능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저장 </a:t>
            </a:r>
            <a:r>
              <a:rPr lang="en-US" altLang="ko-KR" sz="1200" dirty="0"/>
              <a:t>: </a:t>
            </a:r>
            <a:r>
              <a:rPr lang="ko-KR" altLang="en-US" sz="1200" dirty="0"/>
              <a:t>새 쿠폰 한도 저장 후</a:t>
            </a:r>
            <a:r>
              <a:rPr lang="en-US" altLang="ko-KR" sz="1200" dirty="0"/>
              <a:t>,</a:t>
            </a:r>
            <a:r>
              <a:rPr lang="ko-KR" altLang="en-US" sz="1200" dirty="0"/>
              <a:t> 창이 닫히고 생성 완료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      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버튼 클릭 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제품 데이터 수정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삭제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47CFC93-68B4-7112-31F4-1C9105E72281}"/>
              </a:ext>
            </a:extLst>
          </p:cNvPr>
          <p:cNvSpPr/>
          <p:nvPr/>
        </p:nvSpPr>
        <p:spPr>
          <a:xfrm>
            <a:off x="8464168" y="1573671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8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2E992D7-F6AC-57F7-F66E-8B3FA9760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81" y="1868717"/>
            <a:ext cx="8596674" cy="77728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BDDF6C-0B79-4C73-019C-ECC12686E9AD}"/>
              </a:ext>
            </a:extLst>
          </p:cNvPr>
          <p:cNvSpPr/>
          <p:nvPr/>
        </p:nvSpPr>
        <p:spPr>
          <a:xfrm>
            <a:off x="8572168" y="1859386"/>
            <a:ext cx="327022" cy="18175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206B9F1-D20C-9235-8B5D-B1110035735B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4640518" y="2041136"/>
            <a:ext cx="4095161" cy="167419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904794DA-BF1E-904F-5BFD-E328AC5B3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987" y="3909120"/>
            <a:ext cx="236240" cy="22862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5D783B0-92DF-0412-16BA-4EC35F18A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220" y="3715326"/>
            <a:ext cx="6416596" cy="206519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CF1DF55-F026-CC3A-DA16-8377DA35C9BB}"/>
              </a:ext>
            </a:extLst>
          </p:cNvPr>
          <p:cNvSpPr/>
          <p:nvPr/>
        </p:nvSpPr>
        <p:spPr>
          <a:xfrm>
            <a:off x="1432220" y="3715326"/>
            <a:ext cx="6416596" cy="206519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046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41CA-FF39-C1B2-C4F1-0C875A4CD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4274BB69-CB6F-B1D4-CAD1-1FB2A3450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② </a:t>
            </a:r>
            <a:r>
              <a:rPr lang="ko-KR" altLang="en-US" dirty="0">
                <a:solidFill>
                  <a:srgbClr val="C9A9D0"/>
                </a:solidFill>
              </a:rPr>
              <a:t>프로모션</a:t>
            </a:r>
            <a:r>
              <a:rPr lang="en-US" altLang="ko-KR" dirty="0">
                <a:solidFill>
                  <a:srgbClr val="C9A9D0"/>
                </a:solidFill>
              </a:rPr>
              <a:t>- </a:t>
            </a:r>
            <a:r>
              <a:rPr lang="ko-KR" altLang="en-US" dirty="0">
                <a:solidFill>
                  <a:srgbClr val="C9A9D0"/>
                </a:solidFill>
              </a:rPr>
              <a:t>매장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B694F-1501-3670-DD8B-AFE8BCD8CCC9}"/>
              </a:ext>
            </a:extLst>
          </p:cNvPr>
          <p:cNvSpPr txBox="1"/>
          <p:nvPr/>
        </p:nvSpPr>
        <p:spPr>
          <a:xfrm>
            <a:off x="370009" y="1077475"/>
            <a:ext cx="7584127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</a:t>
            </a:r>
            <a:r>
              <a:rPr lang="ko-KR" altLang="en-US" sz="1400" dirty="0"/>
              <a:t>관련됨</a:t>
            </a:r>
            <a:r>
              <a:rPr lang="en-US" altLang="ko-KR" sz="1400" dirty="0"/>
              <a:t>] </a:t>
            </a:r>
            <a:r>
              <a:rPr lang="ko-KR" altLang="en-US" sz="1400" dirty="0"/>
              <a:t>적용 가능 매장 </a:t>
            </a:r>
            <a:r>
              <a:rPr lang="en-US" altLang="ko-KR" sz="1400" dirty="0"/>
              <a:t>– </a:t>
            </a:r>
            <a:r>
              <a:rPr lang="ko-KR" altLang="en-US" sz="1400" dirty="0"/>
              <a:t>새로 만들기를 통해 프로모션 제품을 생성</a:t>
            </a:r>
            <a:r>
              <a:rPr lang="en-US" altLang="ko-KR" sz="1400" dirty="0"/>
              <a:t> </a:t>
            </a:r>
            <a:r>
              <a:rPr lang="ko-KR" altLang="en-US" sz="1400" dirty="0"/>
              <a:t>및 설정할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598F3-E217-8670-EF14-0B480AF52FDF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/>
              <a:t>⑨ 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매장 생성 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ea typeface="나눔스퀘어" panose="020B0600000101010101"/>
              </a:rPr>
              <a:t>Salesforce </a:t>
            </a:r>
            <a:r>
              <a:rPr lang="ko-KR" altLang="en-US" sz="1200" dirty="0">
                <a:ea typeface="나눔스퀘어" panose="020B0600000101010101"/>
              </a:rPr>
              <a:t>표준 기능으로 동작하며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 프로모션 매장 등록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매장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프로모션에 적용 가능 매장 설정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저장 및 새로 만들기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 쿠폰 한도 </a:t>
            </a:r>
            <a:r>
              <a:rPr lang="ko-KR" altLang="en-US" sz="1200" dirty="0"/>
              <a:t>저장 후</a:t>
            </a:r>
            <a:r>
              <a:rPr lang="en-US" altLang="ko-KR" sz="1200" dirty="0"/>
              <a:t>,</a:t>
            </a:r>
            <a:r>
              <a:rPr lang="ko-KR" altLang="en-US" sz="1200" dirty="0"/>
              <a:t> 창이 유지되어 연속으로 쿠폰 한도 생성 가능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저장 </a:t>
            </a:r>
            <a:r>
              <a:rPr lang="en-US" altLang="ko-KR" sz="1200" dirty="0"/>
              <a:t>: </a:t>
            </a:r>
            <a:r>
              <a:rPr lang="ko-KR" altLang="en-US" sz="1200" dirty="0"/>
              <a:t>새 쿠폰 한도 저장 후</a:t>
            </a:r>
            <a:r>
              <a:rPr lang="en-US" altLang="ko-KR" sz="1200" dirty="0"/>
              <a:t>,</a:t>
            </a:r>
            <a:r>
              <a:rPr lang="ko-KR" altLang="en-US" sz="1200" dirty="0"/>
              <a:t> 창이 닫히고 생성 완료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     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버튼 클릭 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매장 데이터 수정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삭제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1DC926F-E7D3-726D-8E7A-368A2D2BA910}"/>
              </a:ext>
            </a:extLst>
          </p:cNvPr>
          <p:cNvSpPr/>
          <p:nvPr/>
        </p:nvSpPr>
        <p:spPr>
          <a:xfrm>
            <a:off x="7883573" y="158762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9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2FDF61-4274-BF83-CDFF-C26E1BC1F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9" y="1838610"/>
            <a:ext cx="8206444" cy="76463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2A97BCB-A1BF-5CC0-689E-931A3ABCE173}"/>
              </a:ext>
            </a:extLst>
          </p:cNvPr>
          <p:cNvCxnSpPr>
            <a:cxnSpLocks/>
          </p:cNvCxnSpPr>
          <p:nvPr/>
        </p:nvCxnSpPr>
        <p:spPr>
          <a:xfrm flipH="1">
            <a:off x="4907902" y="2041136"/>
            <a:ext cx="3383849" cy="1317884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D6CFE7-1C98-1679-988B-5CFD655FB0C8}"/>
              </a:ext>
            </a:extLst>
          </p:cNvPr>
          <p:cNvSpPr/>
          <p:nvPr/>
        </p:nvSpPr>
        <p:spPr>
          <a:xfrm>
            <a:off x="8007051" y="1838610"/>
            <a:ext cx="569401" cy="20252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BF2049E-205F-B223-D7EA-EC59B537C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711" y="3891570"/>
            <a:ext cx="236240" cy="22862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8A2E23B-F263-3044-72AD-B3C7347EF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570" y="3426744"/>
            <a:ext cx="5351018" cy="2921643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EA3415B-3F51-83C6-00B5-176423544DF4}"/>
              </a:ext>
            </a:extLst>
          </p:cNvPr>
          <p:cNvSpPr/>
          <p:nvPr/>
        </p:nvSpPr>
        <p:spPr>
          <a:xfrm>
            <a:off x="2111571" y="3432264"/>
            <a:ext cx="5351018" cy="291612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6785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E6308-089B-4914-F928-5B894046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53DB48D7-A44C-A521-C71A-9E2606300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③ </a:t>
            </a:r>
            <a:r>
              <a:rPr lang="ko-KR" altLang="en-US" dirty="0">
                <a:solidFill>
                  <a:srgbClr val="C9A9D0"/>
                </a:solidFill>
              </a:rPr>
              <a:t>포인트  </a:t>
            </a:r>
            <a:r>
              <a:rPr lang="en-US" altLang="ko-KR" dirty="0">
                <a:solidFill>
                  <a:srgbClr val="C9A9D0"/>
                </a:solidFill>
              </a:rPr>
              <a:t>- </a:t>
            </a:r>
            <a:r>
              <a:rPr lang="ko-KR" altLang="en-US" dirty="0">
                <a:solidFill>
                  <a:srgbClr val="C9A9D0"/>
                </a:solidFill>
              </a:rPr>
              <a:t>개인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0F49F5-59F5-9136-48D5-27E4FB31C5B4}"/>
              </a:ext>
            </a:extLst>
          </p:cNvPr>
          <p:cNvSpPr txBox="1"/>
          <p:nvPr/>
        </p:nvSpPr>
        <p:spPr>
          <a:xfrm>
            <a:off x="370010" y="972700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특정 회원을 대상으로 포인트를 개별 지급할 수 있으며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지급된 포인트 내역을 통해 </a:t>
            </a:r>
            <a:r>
              <a:rPr lang="ko-KR" altLang="en-US" sz="1400" dirty="0" err="1"/>
              <a:t>회원별</a:t>
            </a:r>
            <a:r>
              <a:rPr lang="ko-KR" altLang="en-US" sz="1400" dirty="0"/>
              <a:t> 포인트 보유 현황을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C92411-289C-94D7-70F1-57A2337E6275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회원 구분 클릭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360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리스트뷰에서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특정 대상 회원 조회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번호로 회원 상세 정보 진입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② 포인트 지급 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지급 기능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회원에게 포인트 개별 지급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만료 일자는 당일 이후부터 설정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포인트 종류</a:t>
            </a:r>
            <a:r>
              <a:rPr lang="en-US" altLang="ko-KR" sz="1200" dirty="0"/>
              <a:t>, </a:t>
            </a:r>
            <a:r>
              <a:rPr lang="ko-KR" altLang="en-US" sz="1200" dirty="0"/>
              <a:t>지급 금액</a:t>
            </a:r>
            <a:r>
              <a:rPr lang="en-US" altLang="ko-KR" sz="1200" dirty="0"/>
              <a:t>, </a:t>
            </a:r>
            <a:r>
              <a:rPr lang="ko-KR" altLang="en-US" sz="1200" dirty="0"/>
              <a:t>만료 일자 및 지급 사유 입력을 통해 포인트 지급 가능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(*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필수 항목입니다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C45C404-446C-F614-70F7-A9D034887592}"/>
              </a:ext>
            </a:extLst>
          </p:cNvPr>
          <p:cNvSpPr/>
          <p:nvPr/>
        </p:nvSpPr>
        <p:spPr>
          <a:xfrm>
            <a:off x="139403" y="180413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27F446F9-5B5E-1C70-D4D2-FD5F42F70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09" y="1755986"/>
            <a:ext cx="5738327" cy="92793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2A9B7CC8-DEB5-D6A1-DBAB-10A97B7777C0}"/>
              </a:ext>
            </a:extLst>
          </p:cNvPr>
          <p:cNvSpPr/>
          <p:nvPr/>
        </p:nvSpPr>
        <p:spPr>
          <a:xfrm>
            <a:off x="827183" y="1756356"/>
            <a:ext cx="364736" cy="16450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6F7C29D-F28E-6C1E-7C2B-283D822882ED}"/>
              </a:ext>
            </a:extLst>
          </p:cNvPr>
          <p:cNvSpPr/>
          <p:nvPr/>
        </p:nvSpPr>
        <p:spPr>
          <a:xfrm>
            <a:off x="718457" y="2255247"/>
            <a:ext cx="473462" cy="42867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5B28EAE3-2026-4AEA-EDD5-B422EEC93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754" y="4403722"/>
            <a:ext cx="3094881" cy="222045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D59E2498-675C-AC72-7591-58D412DB67EC}"/>
              </a:ext>
            </a:extLst>
          </p:cNvPr>
          <p:cNvCxnSpPr>
            <a:cxnSpLocks/>
          </p:cNvCxnSpPr>
          <p:nvPr/>
        </p:nvCxnSpPr>
        <p:spPr>
          <a:xfrm>
            <a:off x="876235" y="2697049"/>
            <a:ext cx="3033292" cy="428673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B1A3C74-C2F7-907C-BF6E-6DC736BC213C}"/>
              </a:ext>
            </a:extLst>
          </p:cNvPr>
          <p:cNvSpPr/>
          <p:nvPr/>
        </p:nvSpPr>
        <p:spPr>
          <a:xfrm>
            <a:off x="3623754" y="4403722"/>
            <a:ext cx="3094881" cy="222045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AE6E29-05E9-7FE3-77F3-2FD29BC97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09" y="3161192"/>
            <a:ext cx="7165910" cy="1142173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BB1FDB42-138E-C2F5-40A3-4AFDD251D801}"/>
              </a:ext>
            </a:extLst>
          </p:cNvPr>
          <p:cNvSpPr/>
          <p:nvPr/>
        </p:nvSpPr>
        <p:spPr>
          <a:xfrm>
            <a:off x="3909527" y="291367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91DD69-A6FC-A80C-9E15-DD71A2764454}"/>
              </a:ext>
            </a:extLst>
          </p:cNvPr>
          <p:cNvSpPr/>
          <p:nvPr/>
        </p:nvSpPr>
        <p:spPr>
          <a:xfrm>
            <a:off x="7100595" y="3243520"/>
            <a:ext cx="435323" cy="16681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5F9B72E-555C-F1E9-A169-7A7CFA9DB125}"/>
              </a:ext>
            </a:extLst>
          </p:cNvPr>
          <p:cNvSpPr/>
          <p:nvPr/>
        </p:nvSpPr>
        <p:spPr>
          <a:xfrm>
            <a:off x="370009" y="3158470"/>
            <a:ext cx="7165909" cy="114217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4ACCA37-8B54-6D79-C524-7800FA354A12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 flipH="1">
            <a:off x="5171195" y="3410338"/>
            <a:ext cx="2147062" cy="993384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377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2B7D6-3C0E-1EC7-9AE0-DD2A9CF3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4A7A9FEF-E998-FD13-FF1C-A2656A32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③ </a:t>
            </a:r>
            <a:r>
              <a:rPr lang="ko-KR" altLang="en-US" dirty="0">
                <a:solidFill>
                  <a:srgbClr val="C9A9D0"/>
                </a:solidFill>
              </a:rPr>
              <a:t>포인트  </a:t>
            </a:r>
            <a:r>
              <a:rPr lang="en-US" altLang="ko-KR" dirty="0">
                <a:solidFill>
                  <a:srgbClr val="C9A9D0"/>
                </a:solidFill>
              </a:rPr>
              <a:t>- </a:t>
            </a:r>
            <a:r>
              <a:rPr lang="ko-KR" altLang="en-US" dirty="0">
                <a:solidFill>
                  <a:srgbClr val="C9A9D0"/>
                </a:solidFill>
              </a:rPr>
              <a:t>그룹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57CF1-34B1-BFDC-9E7A-8CF6EFBE04ED}"/>
              </a:ext>
            </a:extLst>
          </p:cNvPr>
          <p:cNvSpPr txBox="1"/>
          <p:nvPr/>
        </p:nvSpPr>
        <p:spPr>
          <a:xfrm>
            <a:off x="370009" y="821093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특정 다수 회원을 대상으로 포인트를 일괄 지급할 수 있으며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지급된 포인트 내역을 통해 </a:t>
            </a:r>
            <a:r>
              <a:rPr lang="ko-KR" altLang="en-US" sz="1400" dirty="0" err="1"/>
              <a:t>회원별</a:t>
            </a:r>
            <a:r>
              <a:rPr lang="ko-KR" altLang="en-US" sz="1400" dirty="0"/>
              <a:t> 포인트 보유 현황을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95D5E-89C4-DB46-532E-A3F166403B84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③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포인트 구분 클릭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리스트뷰에서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지급할 포인트 유형 조회 및 선택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2) </a:t>
            </a:r>
            <a:r>
              <a:rPr lang="ko-KR" altLang="en-US" sz="1200" dirty="0"/>
              <a:t>지급 업로드 기능으로 엑셀 파일 업로드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④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포인트 지급 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지급 대상 업로드 </a:t>
            </a:r>
            <a:r>
              <a:rPr lang="ko-KR" altLang="en-US" sz="1200" dirty="0"/>
              <a:t>기능으로 </a:t>
            </a:r>
            <a:r>
              <a:rPr lang="en-US" altLang="ko-KR" sz="1200" dirty="0"/>
              <a:t>CSV </a:t>
            </a:r>
            <a:r>
              <a:rPr lang="ko-KR" altLang="en-US" sz="1200" dirty="0"/>
              <a:t>파일 업로드 방식</a:t>
            </a:r>
            <a:r>
              <a:rPr lang="en-US" altLang="ko-KR" sz="1200" dirty="0"/>
              <a:t>(</a:t>
            </a:r>
            <a:r>
              <a:rPr lang="ko-KR" altLang="en-US" sz="1200" dirty="0"/>
              <a:t>쉼표 분리</a:t>
            </a:r>
            <a:r>
              <a:rPr lang="en-US" altLang="ko-KR" sz="1200" dirty="0"/>
              <a:t>)</a:t>
            </a:r>
            <a:r>
              <a:rPr lang="ko-KR" altLang="en-US" sz="1200" dirty="0"/>
              <a:t>으로 특정 다수 회원 대상으로 일괄 지급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업로드 전 성공</a:t>
            </a:r>
            <a:r>
              <a:rPr lang="en-US" altLang="ko-KR" sz="1200" dirty="0"/>
              <a:t>/</a:t>
            </a:r>
            <a:r>
              <a:rPr lang="ko-KR" altLang="en-US" sz="1200" dirty="0"/>
              <a:t>실패 건수 파악과 함께  유효한 회원 번호와 오류 내역을 미리 확인한 후 등록할 수 있습니다</a:t>
            </a:r>
            <a:r>
              <a:rPr lang="en-US" altLang="ko-KR" sz="1200" dirty="0"/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만료 기간 설정 </a:t>
            </a:r>
            <a:r>
              <a:rPr lang="en-US" altLang="ko-KR" sz="1200" dirty="0"/>
              <a:t>: </a:t>
            </a:r>
            <a:r>
              <a:rPr lang="ko-KR" altLang="en-US" sz="1200" dirty="0"/>
              <a:t>기본 설정은 </a:t>
            </a:r>
            <a:r>
              <a:rPr lang="en-US" altLang="ko-KR" sz="1200" dirty="0"/>
              <a:t>2</a:t>
            </a:r>
            <a:r>
              <a:rPr lang="ko-KR" altLang="en-US" sz="1200" dirty="0"/>
              <a:t>년으로</a:t>
            </a:r>
            <a:r>
              <a:rPr lang="en-US" altLang="ko-KR" sz="1200" dirty="0"/>
              <a:t>, </a:t>
            </a:r>
            <a:r>
              <a:rPr lang="ko-KR" altLang="en-US" sz="1200" dirty="0"/>
              <a:t>수동으로 만료 일자를 직접 지정 가능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(</a:t>
            </a:r>
            <a:r>
              <a:rPr lang="ko-KR" altLang="en-US" sz="1200" dirty="0"/>
              <a:t>만료 일자는 지급 당일 기준 다음날부터 설정 가능</a:t>
            </a:r>
            <a:r>
              <a:rPr lang="en-US" altLang="ko-KR" sz="1200" dirty="0"/>
              <a:t>)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업로드 시 헤더 항목은 업로드 화면에서도 안내되며</a:t>
            </a:r>
            <a:r>
              <a:rPr lang="en-US" altLang="ko-KR" sz="1200" dirty="0"/>
              <a:t>, </a:t>
            </a:r>
            <a:r>
              <a:rPr lang="ko-KR" altLang="en-US" sz="1200" dirty="0"/>
              <a:t>전체 항목을 확인하시려면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- </a:t>
            </a:r>
            <a:r>
              <a:rPr lang="ko-KR" altLang="en-US" sz="1200" dirty="0"/>
              <a:t>엑셀 업로드 파일 헤더 항목 요약표를 참고하시기 바랍니다</a:t>
            </a:r>
            <a:r>
              <a:rPr lang="en-US" altLang="ko-KR" sz="1200" dirty="0"/>
              <a:t>.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E77FD8-7C17-4305-F0C3-7880ADCE3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36" y="1515586"/>
            <a:ext cx="6364208" cy="157165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FED449-7361-373C-2D3F-F2DD6DAAFD75}"/>
              </a:ext>
            </a:extLst>
          </p:cNvPr>
          <p:cNvSpPr/>
          <p:nvPr/>
        </p:nvSpPr>
        <p:spPr>
          <a:xfrm>
            <a:off x="681734" y="2145844"/>
            <a:ext cx="472952" cy="94140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3BAD62A0-7D4B-AAA9-D8C5-106EB160F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246" y="2505699"/>
            <a:ext cx="6205319" cy="116309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4D4D966B-3E5E-714E-5A97-87D10D9AE251}"/>
              </a:ext>
            </a:extLst>
          </p:cNvPr>
          <p:cNvSpPr/>
          <p:nvPr/>
        </p:nvSpPr>
        <p:spPr>
          <a:xfrm>
            <a:off x="4208105" y="2807923"/>
            <a:ext cx="586592" cy="17341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5E81DDA-9A77-926D-D663-4582A55B36CB}"/>
              </a:ext>
            </a:extLst>
          </p:cNvPr>
          <p:cNvCxnSpPr>
            <a:cxnSpLocks/>
          </p:cNvCxnSpPr>
          <p:nvPr/>
        </p:nvCxnSpPr>
        <p:spPr>
          <a:xfrm>
            <a:off x="1154686" y="2477706"/>
            <a:ext cx="2987524" cy="416925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5D94C48-FB58-96AF-8E38-5E72CE19C9AD}"/>
              </a:ext>
            </a:extLst>
          </p:cNvPr>
          <p:cNvCxnSpPr>
            <a:cxnSpLocks/>
          </p:cNvCxnSpPr>
          <p:nvPr/>
        </p:nvCxnSpPr>
        <p:spPr>
          <a:xfrm>
            <a:off x="4423692" y="2972010"/>
            <a:ext cx="0" cy="724773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295F882C-C396-5698-C10D-A0B5B3C07F31}"/>
              </a:ext>
            </a:extLst>
          </p:cNvPr>
          <p:cNvSpPr/>
          <p:nvPr/>
        </p:nvSpPr>
        <p:spPr>
          <a:xfrm>
            <a:off x="4027716" y="252859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E69C256-5F7A-9293-348B-67D07D0943FC}"/>
              </a:ext>
            </a:extLst>
          </p:cNvPr>
          <p:cNvSpPr/>
          <p:nvPr/>
        </p:nvSpPr>
        <p:spPr>
          <a:xfrm>
            <a:off x="4153783" y="346678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04559C9-F4C7-7E70-CBF8-C31994028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42" y="3839545"/>
            <a:ext cx="4752579" cy="177424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80F850B-D2FE-EFC5-E4A7-8C1E757B5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928" y="5353100"/>
            <a:ext cx="2192520" cy="1305695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E029EFA-7F49-CB64-1EE6-63A6D2ED9880}"/>
              </a:ext>
            </a:extLst>
          </p:cNvPr>
          <p:cNvSpPr/>
          <p:nvPr/>
        </p:nvSpPr>
        <p:spPr>
          <a:xfrm>
            <a:off x="117200" y="3753045"/>
            <a:ext cx="8979913" cy="299616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0F72F9-2B1E-B41D-D325-55F337D19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621" y="3997996"/>
            <a:ext cx="4131017" cy="120560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661F738-162F-63AF-CB4F-081943ECBD99}"/>
              </a:ext>
            </a:extLst>
          </p:cNvPr>
          <p:cNvSpPr/>
          <p:nvPr/>
        </p:nvSpPr>
        <p:spPr>
          <a:xfrm>
            <a:off x="4919614" y="4980290"/>
            <a:ext cx="4131017" cy="24622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9A9CBE-E617-3BCA-3674-5CA260706A19}"/>
              </a:ext>
            </a:extLst>
          </p:cNvPr>
          <p:cNvSpPr/>
          <p:nvPr/>
        </p:nvSpPr>
        <p:spPr>
          <a:xfrm>
            <a:off x="4919613" y="4278059"/>
            <a:ext cx="4131017" cy="24622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7D7A6-C1E8-BF9B-2776-2059CE197B36}"/>
              </a:ext>
            </a:extLst>
          </p:cNvPr>
          <p:cNvSpPr txBox="1"/>
          <p:nvPr/>
        </p:nvSpPr>
        <p:spPr>
          <a:xfrm>
            <a:off x="5045296" y="5284023"/>
            <a:ext cx="37756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직접 설정 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만료 일자는 지급 당일 기준 다음날부터 기본 설정 되어 있습니다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br>
              <a:rPr lang="en-US" altLang="ko-KR" sz="1000" dirty="0">
                <a:solidFill>
                  <a:srgbClr val="FF0000"/>
                </a:solidFill>
              </a:rPr>
            </a:b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모든 업로드 파일은 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CSV (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쉼표로 분리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) (*.csv)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형식으로 저장해야 합니다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b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</a:br>
            <a:endParaRPr lang="en-US" altLang="ko-KR" sz="1000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파일 권장량 초과 시 업로드가 실패할 수 있습니다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반드시 권장량을 지켜 </a:t>
            </a:r>
            <a:r>
              <a:rPr lang="ko-KR" altLang="en-US" sz="10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주시길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 바랍니다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br>
              <a:rPr lang="en-US" altLang="ko-KR" sz="1000" dirty="0">
                <a:solidFill>
                  <a:srgbClr val="FF0000"/>
                </a:solidFill>
              </a:rPr>
            </a:b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570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B839E-B3D1-6947-15BA-DB970E0A9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64272790-FAF6-D8BA-5A09-F0596CA85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④ </a:t>
            </a:r>
            <a:r>
              <a:rPr lang="ko-KR" altLang="en-US" dirty="0">
                <a:solidFill>
                  <a:srgbClr val="C9A9D0"/>
                </a:solidFill>
              </a:rPr>
              <a:t>쿠폰  </a:t>
            </a:r>
            <a:r>
              <a:rPr lang="en-US" altLang="ko-KR" dirty="0">
                <a:solidFill>
                  <a:srgbClr val="C9A9D0"/>
                </a:solidFill>
              </a:rPr>
              <a:t>- </a:t>
            </a:r>
            <a:r>
              <a:rPr lang="ko-KR" altLang="en-US" dirty="0">
                <a:solidFill>
                  <a:srgbClr val="C9A9D0"/>
                </a:solidFill>
              </a:rPr>
              <a:t>개인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B878D-3EA2-B35C-E7EB-D4B514294A6F}"/>
              </a:ext>
            </a:extLst>
          </p:cNvPr>
          <p:cNvSpPr txBox="1"/>
          <p:nvPr/>
        </p:nvSpPr>
        <p:spPr>
          <a:xfrm>
            <a:off x="370009" y="964260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특정 회원을 대상으로 쿠폰을 개별 지급할 수 있으며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지급된 포인트 내역을 통해 </a:t>
            </a:r>
            <a:r>
              <a:rPr lang="ko-KR" altLang="en-US" sz="1400" dirty="0" err="1"/>
              <a:t>회원별</a:t>
            </a:r>
            <a:r>
              <a:rPr lang="ko-KR" altLang="en-US" sz="1400" dirty="0"/>
              <a:t> 쿠폰 보유 현황을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8D1B7D-61DE-7544-BF7D-8BADED899FC1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회원 구분 클릭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360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리스트뷰에서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지급 대상 회원 조회 및 검색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② 쿠폰 지급 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회원에게 쿠폰 개별 지급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지급 가능조건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쿠폰의 상태가 활성화인 경우</a:t>
            </a:r>
            <a:b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회원의 조건과 쿠폰의 조건이 일치한 경우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FFD763C2-80ED-C56C-4FD2-18EE8FAE6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09" y="1755986"/>
            <a:ext cx="5738327" cy="92793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1BBD7E42-CB32-5389-6D53-1215F6C05EEA}"/>
              </a:ext>
            </a:extLst>
          </p:cNvPr>
          <p:cNvSpPr/>
          <p:nvPr/>
        </p:nvSpPr>
        <p:spPr>
          <a:xfrm>
            <a:off x="827183" y="1756356"/>
            <a:ext cx="364736" cy="16450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DA4A90C-2FDA-EF17-CA81-54106D6CA447}"/>
              </a:ext>
            </a:extLst>
          </p:cNvPr>
          <p:cNvSpPr/>
          <p:nvPr/>
        </p:nvSpPr>
        <p:spPr>
          <a:xfrm>
            <a:off x="523227" y="2212849"/>
            <a:ext cx="706016" cy="47107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B7A0FB65-8F18-9EBF-EB6C-31B6ED642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09" y="3008253"/>
            <a:ext cx="7324531" cy="113928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51621D09-D277-223E-626E-C746C11016AA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876235" y="2697049"/>
            <a:ext cx="3227940" cy="311204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B74ED0E-5912-1BBF-F7AF-16627C3B9E60}"/>
              </a:ext>
            </a:extLst>
          </p:cNvPr>
          <p:cNvSpPr/>
          <p:nvPr/>
        </p:nvSpPr>
        <p:spPr>
          <a:xfrm>
            <a:off x="6814004" y="3085966"/>
            <a:ext cx="521704" cy="16681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E76D2B-0B93-2037-8417-6B0CDD63B5CC}"/>
              </a:ext>
            </a:extLst>
          </p:cNvPr>
          <p:cNvSpPr/>
          <p:nvPr/>
        </p:nvSpPr>
        <p:spPr>
          <a:xfrm>
            <a:off x="4004776" y="3812197"/>
            <a:ext cx="364736" cy="27830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9DA54F2-172C-D12C-3CB7-C8DC7888DC70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4273420" y="3252784"/>
            <a:ext cx="2801436" cy="972468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45E5764B-3EF8-B8AE-B302-145CCE8286FB}"/>
              </a:ext>
            </a:extLst>
          </p:cNvPr>
          <p:cNvSpPr/>
          <p:nvPr/>
        </p:nvSpPr>
        <p:spPr>
          <a:xfrm>
            <a:off x="6625997" y="286403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E41B4A6-93B2-CEA8-29EB-0617F4EDA6F7}"/>
              </a:ext>
            </a:extLst>
          </p:cNvPr>
          <p:cNvSpPr/>
          <p:nvPr/>
        </p:nvSpPr>
        <p:spPr>
          <a:xfrm>
            <a:off x="189960" y="173969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926C7A-AA85-BC65-10FB-0AE0A2DA758D}"/>
              </a:ext>
            </a:extLst>
          </p:cNvPr>
          <p:cNvSpPr/>
          <p:nvPr/>
        </p:nvSpPr>
        <p:spPr>
          <a:xfrm>
            <a:off x="441909" y="3000285"/>
            <a:ext cx="7324531" cy="113928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D55ED-703D-0C2F-6A31-9E7AF3345344}"/>
              </a:ext>
            </a:extLst>
          </p:cNvPr>
          <p:cNvSpPr txBox="1"/>
          <p:nvPr/>
        </p:nvSpPr>
        <p:spPr>
          <a:xfrm>
            <a:off x="5412907" y="6117606"/>
            <a:ext cx="3601929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사용 가능한 모든 쿠폰이 조회되며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쿠폰 지급 조건과 해당 회원의 조건이 일치하지 않는 경우 지급되지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en-US" altLang="ko-KR" sz="100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C3E53B-7586-6188-523D-73EB95DF4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725" y="4277381"/>
            <a:ext cx="2452899" cy="236447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0AA548C-1583-13BE-2D9B-52058494613B}"/>
              </a:ext>
            </a:extLst>
          </p:cNvPr>
          <p:cNvSpPr/>
          <p:nvPr/>
        </p:nvSpPr>
        <p:spPr>
          <a:xfrm>
            <a:off x="2855111" y="4275819"/>
            <a:ext cx="2475513" cy="238483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9716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2367-F9DE-08D5-5228-411346DC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78BABD77-CD3C-31C2-C325-348F8AFD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④ </a:t>
            </a:r>
            <a:r>
              <a:rPr lang="ko-KR" altLang="en-US" dirty="0">
                <a:solidFill>
                  <a:srgbClr val="C9A9D0"/>
                </a:solidFill>
              </a:rPr>
              <a:t>쿠폰  </a:t>
            </a:r>
            <a:r>
              <a:rPr lang="en-US" altLang="ko-KR" dirty="0">
                <a:solidFill>
                  <a:srgbClr val="C9A9D0"/>
                </a:solidFill>
              </a:rPr>
              <a:t>- </a:t>
            </a:r>
            <a:r>
              <a:rPr lang="ko-KR" altLang="en-US" dirty="0">
                <a:solidFill>
                  <a:srgbClr val="C9A9D0"/>
                </a:solidFill>
              </a:rPr>
              <a:t>그룹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3CE60-4398-D110-AC21-21AC10FF81A1}"/>
              </a:ext>
            </a:extLst>
          </p:cNvPr>
          <p:cNvSpPr txBox="1"/>
          <p:nvPr/>
        </p:nvSpPr>
        <p:spPr>
          <a:xfrm>
            <a:off x="370010" y="1077475"/>
            <a:ext cx="7999549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ea typeface="나눔스퀘어" panose="020B0600000101010101"/>
              </a:rPr>
              <a:t>지급 대상 업로드 기능을 통해</a:t>
            </a:r>
            <a:r>
              <a:rPr lang="en-US" altLang="ko-KR" sz="1400" dirty="0">
                <a:ea typeface="나눔스퀘어" panose="020B0600000101010101"/>
              </a:rPr>
              <a:t> </a:t>
            </a:r>
            <a:r>
              <a:rPr lang="ko-KR" altLang="en-US" sz="1400" dirty="0"/>
              <a:t>대량 회원에 대한 쿠폰을 일괄 처리 방식으로 지급할 수 있습니다</a:t>
            </a:r>
            <a:r>
              <a:rPr lang="en-US" altLang="ko-KR" sz="14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50F60-60A5-A8CF-4236-9C3530B6F904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③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쿠폰 구분 클릭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쿠폰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리스트뷰에서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지급할 쿠폰 조회 및 선택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④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쿠폰지급 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지급 대상 업로드 </a:t>
            </a:r>
            <a:r>
              <a:rPr lang="ko-KR" altLang="en-US" sz="1200" dirty="0"/>
              <a:t>기능으로 </a:t>
            </a:r>
            <a:r>
              <a:rPr lang="en-US" altLang="ko-KR" sz="1200" dirty="0"/>
              <a:t>CSV </a:t>
            </a:r>
            <a:r>
              <a:rPr lang="ko-KR" altLang="en-US" sz="1200" dirty="0"/>
              <a:t>파일 업로드 방식</a:t>
            </a:r>
            <a:r>
              <a:rPr lang="en-US" altLang="ko-KR" sz="1200" dirty="0"/>
              <a:t>(</a:t>
            </a:r>
            <a:r>
              <a:rPr lang="ko-KR" altLang="en-US" sz="1200" dirty="0"/>
              <a:t>쉼표 분리</a:t>
            </a:r>
            <a:r>
              <a:rPr lang="en-US" altLang="ko-KR" sz="1200" dirty="0"/>
              <a:t>)</a:t>
            </a:r>
            <a:r>
              <a:rPr lang="ko-KR" altLang="en-US" sz="1200" dirty="0"/>
              <a:t>으로 특정 다수 회원 대상으로 일괄 지급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ko-KR" altLang="en-US" sz="1200" dirty="0"/>
              <a:t>업로드 전 성공</a:t>
            </a:r>
            <a:r>
              <a:rPr lang="en-US" altLang="ko-KR" sz="1200" dirty="0"/>
              <a:t>/</a:t>
            </a:r>
            <a:r>
              <a:rPr lang="ko-KR" altLang="en-US" sz="1200" dirty="0"/>
              <a:t>실패 건수 파악과 함께  유효한 회원 번호와 오류 내역을 미리 확인한 후 등록할 수 있습니다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업로드 시 헤더 항목은 업로드 화면에서도 안내되며</a:t>
            </a:r>
            <a:r>
              <a:rPr lang="en-US" altLang="ko-KR" sz="1200" dirty="0"/>
              <a:t>, </a:t>
            </a:r>
            <a:r>
              <a:rPr lang="ko-KR" altLang="en-US" sz="1200" dirty="0"/>
              <a:t>전체 항목을 확인하시려면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- </a:t>
            </a:r>
            <a:r>
              <a:rPr lang="ko-KR" altLang="en-US" sz="1200" dirty="0"/>
              <a:t>엑셀 업로드 파일 헤더 항목 요약표를 참고하시기 바랍니다</a:t>
            </a:r>
            <a:r>
              <a:rPr lang="en-US" altLang="ko-KR" sz="1200" dirty="0"/>
              <a:t>.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DA891FC-E4C8-8365-7D43-1FC6ED17A977}"/>
              </a:ext>
            </a:extLst>
          </p:cNvPr>
          <p:cNvSpPr/>
          <p:nvPr/>
        </p:nvSpPr>
        <p:spPr>
          <a:xfrm>
            <a:off x="4030756" y="343201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837517-5965-8FA2-A3C7-F600317D3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39" y="1612784"/>
            <a:ext cx="6294774" cy="171341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EFAA454-E56A-A1BA-32D0-8A6DD36FEF0F}"/>
              </a:ext>
            </a:extLst>
          </p:cNvPr>
          <p:cNvSpPr/>
          <p:nvPr/>
        </p:nvSpPr>
        <p:spPr>
          <a:xfrm>
            <a:off x="2476966" y="1612784"/>
            <a:ext cx="546153" cy="16003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6E280D-EA9A-0BEB-111B-1F037B3B80EA}"/>
              </a:ext>
            </a:extLst>
          </p:cNvPr>
          <p:cNvSpPr/>
          <p:nvPr/>
        </p:nvSpPr>
        <p:spPr>
          <a:xfrm>
            <a:off x="2175760" y="2154749"/>
            <a:ext cx="564951" cy="20697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EC0B5E7-F12F-14F4-12A2-3F72F5FE418A}"/>
              </a:ext>
            </a:extLst>
          </p:cNvPr>
          <p:cNvSpPr/>
          <p:nvPr/>
        </p:nvSpPr>
        <p:spPr>
          <a:xfrm>
            <a:off x="1959760" y="193423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FB6E808-85E1-27D9-B39B-DD4DF0EF6F7B}"/>
              </a:ext>
            </a:extLst>
          </p:cNvPr>
          <p:cNvCxnSpPr>
            <a:cxnSpLocks/>
          </p:cNvCxnSpPr>
          <p:nvPr/>
        </p:nvCxnSpPr>
        <p:spPr>
          <a:xfrm>
            <a:off x="2476966" y="2361727"/>
            <a:ext cx="1535197" cy="1286291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0FCE9042-AE38-10D1-A4FD-4D617DC03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0" y="3868159"/>
            <a:ext cx="4905386" cy="1675457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A233A90-CE20-85E9-090B-67FD65FD6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176" y="3746898"/>
            <a:ext cx="3953158" cy="2345992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AF4C17-D9E9-69FD-BDDF-8A98A08EE8CF}"/>
              </a:ext>
            </a:extLst>
          </p:cNvPr>
          <p:cNvSpPr/>
          <p:nvPr/>
        </p:nvSpPr>
        <p:spPr>
          <a:xfrm>
            <a:off x="72760" y="3708127"/>
            <a:ext cx="8879574" cy="253405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436320-AAE7-CB8A-B959-764B9C245ACC}"/>
              </a:ext>
            </a:extLst>
          </p:cNvPr>
          <p:cNvSpPr/>
          <p:nvPr/>
        </p:nvSpPr>
        <p:spPr>
          <a:xfrm>
            <a:off x="4999176" y="5085183"/>
            <a:ext cx="3953158" cy="88640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92BC3B-95B7-BB1C-6F5C-5E6B3856E6F9}"/>
              </a:ext>
            </a:extLst>
          </p:cNvPr>
          <p:cNvSpPr txBox="1"/>
          <p:nvPr/>
        </p:nvSpPr>
        <p:spPr>
          <a:xfrm>
            <a:off x="0" y="5531451"/>
            <a:ext cx="4999176" cy="75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모든 업로드 파일은 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CSV (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쉼표로 분리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) (*.csv)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형식으로 저장해야 합니다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파일 권장량 초과 시 업로드가 실패할 수 있습니다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반드시 권장량을 지켜 </a:t>
            </a:r>
            <a:r>
              <a:rPr lang="ko-KR" altLang="en-US" sz="10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주시길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 바랍니다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2000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4F874-15CD-CEF9-236D-6261DF6F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F397C73B-3F27-8556-9657-230B5670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④ </a:t>
            </a:r>
            <a:r>
              <a:rPr lang="ko-KR" altLang="en-US" dirty="0">
                <a:solidFill>
                  <a:srgbClr val="C9A9D0"/>
                </a:solidFill>
              </a:rPr>
              <a:t>쿠폰  </a:t>
            </a:r>
            <a:r>
              <a:rPr lang="en-US" altLang="ko-KR" dirty="0">
                <a:solidFill>
                  <a:srgbClr val="C9A9D0"/>
                </a:solidFill>
              </a:rPr>
              <a:t>- </a:t>
            </a:r>
            <a:r>
              <a:rPr lang="ko-KR" altLang="en-US" dirty="0">
                <a:solidFill>
                  <a:srgbClr val="C9A9D0"/>
                </a:solidFill>
              </a:rPr>
              <a:t>한도 정책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AF50DE-06ED-E91C-B693-00421AD35766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쿠폰 사용 정책 설정에서 </a:t>
            </a:r>
            <a:r>
              <a:rPr lang="en-US" altLang="ko-KR" sz="1400" dirty="0"/>
              <a:t>CSV </a:t>
            </a:r>
            <a:r>
              <a:rPr lang="ko-KR" altLang="en-US" sz="1400" dirty="0"/>
              <a:t>파일을 통해 제품</a:t>
            </a:r>
            <a:r>
              <a:rPr lang="en-US" altLang="ko-KR" sz="1400" dirty="0"/>
              <a:t>/</a:t>
            </a:r>
            <a:r>
              <a:rPr lang="ko-KR" altLang="en-US" sz="1400" dirty="0"/>
              <a:t>매장을 일괄 등록할 수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대량 데이터를 효율적으로 처리할 수 있습니다</a:t>
            </a:r>
            <a:r>
              <a:rPr lang="en-US" altLang="ko-KR" sz="1400" dirty="0"/>
              <a:t>.</a:t>
            </a:r>
            <a:endParaRPr lang="en-US" altLang="ko-KR" sz="1400" dirty="0"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D4008E-F72E-B215-83A1-0F1C337B76E4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⑤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쿠폰 구분 클릭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쿠폰의 제약 조건 조회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⑥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쿠폰 조건 설정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검색 기능으로 각 적용 항목 데이터 조회 및 선택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조건의 하위 항목은 이하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이상 조건 설정 가능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사용 가능 제품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매장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회원 등급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제품 분류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매장 구분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주문 구분</a:t>
            </a:r>
            <a:r>
              <a:rPr lang="en-US" altLang="ko-KR" sz="1200" dirty="0"/>
              <a:t>, </a:t>
            </a:r>
            <a:r>
              <a:rPr lang="ko-KR" altLang="en-US" sz="1200" dirty="0"/>
              <a:t>판매 적용 가능 최대 할인율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최소 금액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최소 수량의 항목들에 특정 조건을 설정하여 쿠폰 한도 정책 등록</a:t>
            </a:r>
            <a:r>
              <a:rPr lang="en-US" altLang="ko-KR" sz="1200" dirty="0"/>
              <a:t>/</a:t>
            </a:r>
            <a:r>
              <a:rPr lang="ko-KR" altLang="en-US" sz="1200" dirty="0"/>
              <a:t>적용 가능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56BCC34-BD8E-B7E6-804A-40F83D830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503" y="3796392"/>
            <a:ext cx="4343538" cy="210848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9FF5DCC-3B6C-DB08-0156-6B128A973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52" y="3799824"/>
            <a:ext cx="4287658" cy="189878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5A6927-912D-F942-899B-48EBC8BD20A6}"/>
              </a:ext>
            </a:extLst>
          </p:cNvPr>
          <p:cNvSpPr/>
          <p:nvPr/>
        </p:nvSpPr>
        <p:spPr>
          <a:xfrm>
            <a:off x="235851" y="3796392"/>
            <a:ext cx="8659189" cy="210848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DD9CCE7-69E0-F207-45A9-3C2AC0C123BE}"/>
              </a:ext>
            </a:extLst>
          </p:cNvPr>
          <p:cNvSpPr/>
          <p:nvPr/>
        </p:nvSpPr>
        <p:spPr>
          <a:xfrm>
            <a:off x="3954784" y="354678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EC6477-1A1E-B8C8-D947-C2AD17040D0B}"/>
              </a:ext>
            </a:extLst>
          </p:cNvPr>
          <p:cNvSpPr txBox="1"/>
          <p:nvPr/>
        </p:nvSpPr>
        <p:spPr>
          <a:xfrm>
            <a:off x="180973" y="5972087"/>
            <a:ext cx="9103007" cy="52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쿠폰 사용 정책 설정 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사용 가능 제품</a:t>
            </a:r>
            <a:r>
              <a:rPr lang="en-US" altLang="ko-KR" sz="1000" dirty="0">
                <a:solidFill>
                  <a:srgbClr val="FF0000"/>
                </a:solidFill>
              </a:rPr>
              <a:t>·</a:t>
            </a:r>
            <a:r>
              <a:rPr lang="ko-KR" altLang="en-US" sz="1000" dirty="0">
                <a:solidFill>
                  <a:srgbClr val="FF0000"/>
                </a:solidFill>
              </a:rPr>
              <a:t>사용 가능 매장</a:t>
            </a:r>
            <a:r>
              <a:rPr lang="en-US" altLang="ko-KR" sz="1000" dirty="0">
                <a:solidFill>
                  <a:srgbClr val="FF0000"/>
                </a:solidFill>
              </a:rPr>
              <a:t>·</a:t>
            </a:r>
            <a:r>
              <a:rPr lang="ko-KR" altLang="en-US" sz="1000" dirty="0">
                <a:solidFill>
                  <a:srgbClr val="FF0000"/>
                </a:solidFill>
              </a:rPr>
              <a:t>사용 가능 제품 분류는 항목당 최대 </a:t>
            </a:r>
            <a:r>
              <a:rPr lang="en-US" altLang="ko-KR" sz="1000" dirty="0">
                <a:solidFill>
                  <a:srgbClr val="FF0000"/>
                </a:solidFill>
              </a:rPr>
              <a:t>5,000</a:t>
            </a:r>
            <a:r>
              <a:rPr lang="ko-KR" altLang="en-US" sz="1000" dirty="0">
                <a:solidFill>
                  <a:srgbClr val="FF0000"/>
                </a:solidFill>
              </a:rPr>
              <a:t>건까지 등록 가능합니다</a:t>
            </a:r>
            <a:r>
              <a:rPr lang="en-US" altLang="ko-KR" sz="1000" dirty="0">
                <a:solidFill>
                  <a:srgbClr val="FF0000"/>
                </a:solidFill>
              </a:rPr>
              <a:t>.              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</a:rPr>
              <a:t> ⚠ 5,000</a:t>
            </a:r>
            <a:r>
              <a:rPr lang="ko-KR" altLang="en-US" sz="1000" dirty="0">
                <a:solidFill>
                  <a:srgbClr val="FF0000"/>
                </a:solidFill>
              </a:rPr>
              <a:t>건을 초과하여 등록할 경우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시스템 처리 한도로 인해 조건 설정이 실패하거나 일부만 저장될 수 있으므로 주의하시기 바랍니다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A118E7-F448-DBA2-9960-9FCFF2BAA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98" y="1810683"/>
            <a:ext cx="6294774" cy="171341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3C1EA-6201-3977-8D18-E31F0323A194}"/>
              </a:ext>
            </a:extLst>
          </p:cNvPr>
          <p:cNvSpPr/>
          <p:nvPr/>
        </p:nvSpPr>
        <p:spPr>
          <a:xfrm>
            <a:off x="6007925" y="2348653"/>
            <a:ext cx="706016" cy="23426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04D033F-1057-37F2-F196-FF94994F85B8}"/>
              </a:ext>
            </a:extLst>
          </p:cNvPr>
          <p:cNvSpPr/>
          <p:nvPr/>
        </p:nvSpPr>
        <p:spPr>
          <a:xfrm>
            <a:off x="5818811" y="214198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5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8F9D277-7E41-CB62-CB15-0E1DC2E63C97}"/>
              </a:ext>
            </a:extLst>
          </p:cNvPr>
          <p:cNvCxnSpPr>
            <a:cxnSpLocks/>
          </p:cNvCxnSpPr>
          <p:nvPr/>
        </p:nvCxnSpPr>
        <p:spPr>
          <a:xfrm flipH="1">
            <a:off x="4170784" y="2607887"/>
            <a:ext cx="2199480" cy="1121296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411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E8C5-F44E-8AD0-6043-9C57F80CC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85A18B93-6B82-9F9F-B9C6-1C00116E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④ </a:t>
            </a:r>
            <a:r>
              <a:rPr lang="ko-KR" altLang="en-US" dirty="0">
                <a:solidFill>
                  <a:srgbClr val="C9A9D0"/>
                </a:solidFill>
              </a:rPr>
              <a:t>쿠폰  </a:t>
            </a:r>
            <a:r>
              <a:rPr lang="en-US" altLang="ko-KR" dirty="0">
                <a:solidFill>
                  <a:srgbClr val="C9A9D0"/>
                </a:solidFill>
              </a:rPr>
              <a:t>- </a:t>
            </a:r>
            <a:r>
              <a:rPr lang="ko-KR" altLang="en-US" dirty="0">
                <a:solidFill>
                  <a:srgbClr val="C9A9D0"/>
                </a:solidFill>
              </a:rPr>
              <a:t>한도 정책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D92CE-7193-6DCD-8563-7E3D800A70A0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쿠폰 사용 정책 설정에서 </a:t>
            </a:r>
            <a:r>
              <a:rPr lang="en-US" altLang="ko-KR" sz="1400" dirty="0"/>
              <a:t>CSV </a:t>
            </a:r>
            <a:r>
              <a:rPr lang="ko-KR" altLang="en-US" sz="1400" dirty="0"/>
              <a:t>파일을 통해 제품</a:t>
            </a:r>
            <a:r>
              <a:rPr lang="en-US" altLang="ko-KR" sz="1400" dirty="0"/>
              <a:t>/</a:t>
            </a:r>
            <a:r>
              <a:rPr lang="ko-KR" altLang="en-US" sz="1400" dirty="0"/>
              <a:t>매장을 일괄 등록할 수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대량 데이터를 효율적으로 처리할 수 있습니다</a:t>
            </a:r>
            <a:r>
              <a:rPr lang="en-US" altLang="ko-KR" sz="1400" dirty="0"/>
              <a:t>.</a:t>
            </a:r>
            <a:endParaRPr lang="en-US" altLang="ko-KR" sz="1400" dirty="0"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488E34-A336-3EB2-5FEC-B29EC42D810C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⑤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쿠폰 구분 클릭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쿠폰의 제약 조건 조회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⑥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쿠폰 조건 설정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검색 기능으로 각 적용 항목 데이터 조회 및 선택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조건의 하위 항목은 이하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이상 조건 설정 가능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사용 가능 제품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매장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회원 등급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제품 분류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매장 구분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주문 구분</a:t>
            </a:r>
            <a:r>
              <a:rPr lang="en-US" altLang="ko-KR" sz="1200" dirty="0"/>
              <a:t>, </a:t>
            </a:r>
            <a:r>
              <a:rPr lang="ko-KR" altLang="en-US" sz="1200" dirty="0"/>
              <a:t>판매 적용 가능 최대 할인율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최소 금액</a:t>
            </a:r>
            <a:r>
              <a:rPr lang="en-US" altLang="ko-KR" sz="1200" dirty="0"/>
              <a:t>, </a:t>
            </a:r>
            <a:r>
              <a:rPr lang="ko-KR" altLang="en-US" sz="1200" dirty="0"/>
              <a:t>사용 가능 최소 수량의 항목들에 특정 조건을 설정하여 쿠폰 한도 정책 등록</a:t>
            </a:r>
            <a:r>
              <a:rPr lang="en-US" altLang="ko-KR" sz="1200" dirty="0"/>
              <a:t>/</a:t>
            </a:r>
            <a:r>
              <a:rPr lang="ko-KR" altLang="en-US" sz="1200" dirty="0"/>
              <a:t>적용 가능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사용 가능 주문 구분과 판매 조건에 대한 자세한 사항은 다음 슬라이드에 참고하시길 바랍니다</a:t>
            </a:r>
            <a:r>
              <a:rPr lang="en-US" altLang="ko-KR" sz="1200" dirty="0"/>
              <a:t>. 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C1A79B-789A-E681-0DEA-F941703E4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61" y="1902417"/>
            <a:ext cx="5868192" cy="256025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320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B05D6-41CD-10F4-3113-DB402E70B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95740DE5-7FFC-2E55-D3BA-7D3C8140B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④ </a:t>
            </a:r>
            <a:r>
              <a:rPr lang="ko-KR" altLang="en-US" dirty="0">
                <a:solidFill>
                  <a:srgbClr val="C9A9D0"/>
                </a:solidFill>
              </a:rPr>
              <a:t>쿠폰  </a:t>
            </a:r>
            <a:r>
              <a:rPr lang="en-US" altLang="ko-KR" dirty="0">
                <a:solidFill>
                  <a:srgbClr val="C9A9D0"/>
                </a:solidFill>
              </a:rPr>
              <a:t>- </a:t>
            </a:r>
            <a:r>
              <a:rPr lang="ko-KR" altLang="en-US" dirty="0">
                <a:solidFill>
                  <a:srgbClr val="C9A9D0"/>
                </a:solidFill>
              </a:rPr>
              <a:t>한도 정책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253C4F-40A1-9B00-0696-1E330433E862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쿠폰 사용 정책 설정에서 </a:t>
            </a:r>
            <a:r>
              <a:rPr lang="en-US" altLang="ko-KR" sz="1400" dirty="0"/>
              <a:t>CSV </a:t>
            </a:r>
            <a:r>
              <a:rPr lang="ko-KR" altLang="en-US" sz="1400" dirty="0"/>
              <a:t>파일을 통해 제품</a:t>
            </a:r>
            <a:r>
              <a:rPr lang="en-US" altLang="ko-KR" sz="1400" dirty="0"/>
              <a:t>/</a:t>
            </a:r>
            <a:r>
              <a:rPr lang="ko-KR" altLang="en-US" sz="1400" dirty="0"/>
              <a:t>매장을 일괄 등록할 수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대량 데이터를 효율적으로 처리할 수 있습니다</a:t>
            </a:r>
            <a:r>
              <a:rPr lang="en-US" altLang="ko-KR" sz="1400" dirty="0"/>
              <a:t>.</a:t>
            </a:r>
            <a:endParaRPr lang="en-US" altLang="ko-KR" sz="1400" dirty="0"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CB8BF5-58E3-22E1-F8B9-D42BC6CF4615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/>
          </a:p>
        </p:txBody>
      </p:sp>
      <p:graphicFrame>
        <p:nvGraphicFramePr>
          <p:cNvPr id="14" name="CouponConditionsTable"/>
          <p:cNvGraphicFramePr>
            <a:graphicFrameLocks noGrp="1"/>
          </p:cNvGraphicFramePr>
          <p:nvPr/>
        </p:nvGraphicFramePr>
        <p:xfrm>
          <a:off x="352800" y="1602000"/>
          <a:ext cx="11160000" cy="37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2592000"/>
                <a:gridCol w="3384000"/>
                <a:gridCol w="3564000"/>
              </a:tblGrid>
              <a:tr h="3420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28800" marR="28800" marT="14400" marB="14400" anchor="ctr">
                    <a:solidFill>
                      <a:srgbClr val="7C4884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28800" marR="28800" marT="14400" marB="14400" anchor="ctr">
                    <a:solidFill>
                      <a:srgbClr val="7C4884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설정 방식</a:t>
                      </a:r>
                    </a:p>
                  </a:txBody>
                  <a:tcPr marL="28800" marR="28800" marT="14400" marB="14400" anchor="ctr">
                    <a:solidFill>
                      <a:srgbClr val="7C4884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적용 기준 / 예시</a:t>
                      </a:r>
                    </a:p>
                  </a:txBody>
                  <a:tcPr marL="28800" marR="28800" marT="14400" marB="14400" anchor="ctr">
                    <a:solidFill>
                      <a:srgbClr val="7C4884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</a:tr>
              <a:tr h="8460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7C4884"/>
                          </a:solidFill>
                          <a:latin typeface="맑은 고딕"/>
                        </a:rPr>
                        <a:t>사용 가능 주문 구분</a:t>
                      </a:r>
                    </a:p>
                  </a:txBody>
                  <a:tcPr marL="28800" marR="28800" marT="14400" marB="14400" anchor="ctr">
                    <a:solidFill>
                      <a:srgbClr val="F6F0F8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쿠폰을 적용할 수 있는 주문 유형을 제한합니다.</a:t>
                      </a:r>
                    </a:p>
                  </a:txBody>
                  <a:tcPr marL="28800" marR="28800" marT="14400" marB="14400" anchor="ctr">
                    <a:solidFill>
                      <a:srgbClr val="FFFFFF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적용할 주문 조건을 체크합니다. 아무것도 선택하지 않으면 전체 주문 유형에 적용 가능합니다.</a:t>
                      </a:r>
                    </a:p>
                  </a:txBody>
                  <a:tcPr marL="28800" marR="28800" marT="14400" marB="14400" anchor="ctr">
                    <a:solidFill>
                      <a:srgbClr val="FFFFFF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고재, 진열, 수선, 가주문, B2B 중 필요한 항목만 선택</a:t>
                      </a:r>
                    </a:p>
                  </a:txBody>
                  <a:tcPr marL="28800" marR="28800" marT="14400" marB="14400" anchor="ctr">
                    <a:solidFill>
                      <a:srgbClr val="FFFFFF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</a:tr>
              <a:tr h="8460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7C4884"/>
                          </a:solidFill>
                          <a:latin typeface="맑은 고딕"/>
                        </a:rPr>
                        <a:t>적용 가능 최대 할인율</a:t>
                      </a:r>
                    </a:p>
                  </a:txBody>
                  <a:tcPr marL="28800" marR="28800" marT="14400" marB="14400" anchor="ctr">
                    <a:solidFill>
                      <a:srgbClr val="F6F0F8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판매 금액 대비 기존 할인율 조건입니다.</a:t>
                      </a:r>
                    </a:p>
                  </a:txBody>
                  <a:tcPr marL="28800" marR="28800" marT="14400" marB="14400" anchor="ctr">
                    <a:solidFill>
                      <a:srgbClr val="FBF8FC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설정한 할인율 이상 할인된 판매 건에서 쿠폰을 적용할 수 있습니다.</a:t>
                      </a:r>
                    </a:p>
                  </a:txBody>
                  <a:tcPr marL="28800" marR="28800" marT="14400" marB="14400" anchor="ctr">
                    <a:solidFill>
                      <a:srgbClr val="FBF8FC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30%로 설정 시 판매 금액의 30% 이상 할인이 발생한 경우 적용 가능</a:t>
                      </a:r>
                    </a:p>
                  </a:txBody>
                  <a:tcPr marL="28800" marR="28800" marT="14400" marB="14400" anchor="ctr">
                    <a:solidFill>
                      <a:srgbClr val="FBF8FC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</a:tr>
              <a:tr h="8460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7C4884"/>
                          </a:solidFill>
                          <a:latin typeface="맑은 고딕"/>
                        </a:rPr>
                        <a:t>사용 가능 최소 금액</a:t>
                      </a:r>
                    </a:p>
                  </a:txBody>
                  <a:tcPr marL="28800" marR="28800" marT="14400" marB="14400" anchor="ctr">
                    <a:solidFill>
                      <a:srgbClr val="F6F0F8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판매 금액 기준의 최소/최대 금액 조건입니다.</a:t>
                      </a:r>
                    </a:p>
                  </a:txBody>
                  <a:tcPr marL="28800" marR="28800" marT="14400" marB="14400" anchor="ctr">
                    <a:solidFill>
                      <a:srgbClr val="FFFFFF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비교 조건(이하/이상)에 따라 입력 금액과 판매 금액이 조건에 맞아야 합니다.</a:t>
                      </a:r>
                    </a:p>
                  </a:txBody>
                  <a:tcPr marL="28800" marR="28800" marT="14400" marB="14400" anchor="ctr">
                    <a:solidFill>
                      <a:srgbClr val="FFFFFF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100,000원 이상 설정 시 판매 금액이 100,000원 이상일 때 적용 가능</a:t>
                      </a:r>
                    </a:p>
                  </a:txBody>
                  <a:tcPr marL="28800" marR="28800" marT="14400" marB="14400" anchor="ctr">
                    <a:solidFill>
                      <a:srgbClr val="FFFFFF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</a:tr>
              <a:tr h="8460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7C4884"/>
                          </a:solidFill>
                          <a:latin typeface="맑은 고딕"/>
                        </a:rPr>
                        <a:t>사용 가능 최소 수량</a:t>
                      </a:r>
                    </a:p>
                  </a:txBody>
                  <a:tcPr marL="28800" marR="28800" marT="14400" marB="14400" anchor="ctr">
                    <a:solidFill>
                      <a:srgbClr val="F6F0F8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판매 개수 기준의 최소/최대 수량 조건입니다.</a:t>
                      </a:r>
                    </a:p>
                  </a:txBody>
                  <a:tcPr marL="28800" marR="28800" marT="14400" marB="14400" anchor="ctr">
                    <a:solidFill>
                      <a:srgbClr val="FBF8FC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비교 조건(이하/이상)에 따라 구매 수량이 조건에 맞아야 합니다.</a:t>
                      </a:r>
                    </a:p>
                  </a:txBody>
                  <a:tcPr marL="28800" marR="28800" marT="14400" marB="14400" anchor="ctr">
                    <a:solidFill>
                      <a:srgbClr val="FBF8FC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2D2A30"/>
                          </a:solidFill>
                          <a:latin typeface="맑은 고딕"/>
                        </a:rPr>
                        <a:t>3개 이상 설정 시 3개 이상 구매한 경우 적용 가능</a:t>
                      </a:r>
                    </a:p>
                  </a:txBody>
                  <a:tcPr marL="28800" marR="28800" marT="14400" marB="14400" anchor="ctr">
                    <a:solidFill>
                      <a:srgbClr val="FBF8FC"/>
                    </a:solidFill>
                    <a:lnL w="9525">
                      <a:solidFill>
                        <a:srgbClr val="C9A9D0"/>
                      </a:solidFill>
                      <a:prstDash val="solid"/>
                    </a:lnL>
                    <a:lnR w="9525">
                      <a:solidFill>
                        <a:srgbClr val="C9A9D0"/>
                      </a:solidFill>
                      <a:prstDash val="solid"/>
                    </a:lnR>
                    <a:lnT w="9525">
                      <a:solidFill>
                        <a:srgbClr val="C9A9D0"/>
                      </a:solidFill>
                      <a:prstDash val="solid"/>
                    </a:lnT>
                    <a:lnB w="9525">
                      <a:solidFill>
                        <a:srgbClr val="C9A9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528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DBA70-31D4-07D4-BB73-85B3FA38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8BED619B-7D53-3585-5AB8-DE91E52A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④ </a:t>
            </a:r>
            <a:r>
              <a:rPr lang="ko-KR" altLang="en-US" dirty="0">
                <a:solidFill>
                  <a:srgbClr val="C9A9D0"/>
                </a:solidFill>
              </a:rPr>
              <a:t>쿠폰  </a:t>
            </a:r>
            <a:r>
              <a:rPr lang="en-US" altLang="ko-KR" dirty="0">
                <a:solidFill>
                  <a:srgbClr val="C9A9D0"/>
                </a:solidFill>
              </a:rPr>
              <a:t>- </a:t>
            </a:r>
            <a:r>
              <a:rPr lang="ko-KR" altLang="en-US" dirty="0">
                <a:solidFill>
                  <a:srgbClr val="C9A9D0"/>
                </a:solidFill>
              </a:rPr>
              <a:t>한도 정책</a:t>
            </a:r>
            <a:r>
              <a:rPr lang="en-US" altLang="ko-KR" dirty="0">
                <a:solidFill>
                  <a:srgbClr val="C9A9D0"/>
                </a:solidFill>
              </a:rPr>
              <a:t>(</a:t>
            </a:r>
            <a:r>
              <a:rPr lang="ko-KR" altLang="en-US" dirty="0">
                <a:solidFill>
                  <a:srgbClr val="C9A9D0"/>
                </a:solidFill>
              </a:rPr>
              <a:t>제품</a:t>
            </a:r>
            <a:r>
              <a:rPr lang="en-US" altLang="ko-KR" dirty="0">
                <a:solidFill>
                  <a:srgbClr val="C9A9D0"/>
                </a:solidFill>
              </a:rPr>
              <a:t>)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4E9C61-0C35-DB33-8578-D962B511598C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쿠폰 사용 정책 설정에서 </a:t>
            </a:r>
            <a:r>
              <a:rPr lang="en-US" altLang="ko-KR" sz="1400" dirty="0"/>
              <a:t>CSV </a:t>
            </a:r>
            <a:r>
              <a:rPr lang="ko-KR" altLang="en-US" sz="1400" dirty="0"/>
              <a:t>파일을 통해 제품</a:t>
            </a:r>
            <a:r>
              <a:rPr lang="en-US" altLang="ko-KR" sz="1400" dirty="0"/>
              <a:t>/</a:t>
            </a:r>
            <a:r>
              <a:rPr lang="ko-KR" altLang="en-US" sz="1400" dirty="0"/>
              <a:t>매장을 일괄 등록할 수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대량 데이터를 효율적으로 처리할 수 있습니다</a:t>
            </a:r>
            <a:r>
              <a:rPr lang="en-US" altLang="ko-KR" sz="1400" dirty="0"/>
              <a:t>.</a:t>
            </a:r>
            <a:endParaRPr lang="en-US" altLang="ko-KR" sz="1400" dirty="0"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D0BC79-7D1B-0633-59F0-FFBFD40A71D8}"/>
              </a:ext>
            </a:extLst>
          </p:cNvPr>
          <p:cNvSpPr txBox="1"/>
          <p:nvPr/>
        </p:nvSpPr>
        <p:spPr>
          <a:xfrm>
            <a:off x="9097119" y="821092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⑦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쿠폰 한도 제품 등록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제품 일괄 등록 </a:t>
            </a:r>
            <a:r>
              <a:rPr lang="ko-KR" altLang="en-US" sz="1200" dirty="0"/>
              <a:t>기능으로 </a:t>
            </a:r>
            <a:r>
              <a:rPr lang="en-US" altLang="ko-KR" sz="1200" dirty="0"/>
              <a:t>CSV </a:t>
            </a:r>
            <a:r>
              <a:rPr lang="ko-KR" altLang="en-US" sz="1200" dirty="0"/>
              <a:t>파일 업로드 방식</a:t>
            </a:r>
            <a:r>
              <a:rPr lang="en-US" altLang="ko-KR" sz="1200" dirty="0"/>
              <a:t>(</a:t>
            </a:r>
            <a:r>
              <a:rPr lang="ko-KR" altLang="en-US" sz="1200" dirty="0"/>
              <a:t>쉼표 분리</a:t>
            </a:r>
            <a:r>
              <a:rPr lang="en-US" altLang="ko-KR" sz="1200" dirty="0"/>
              <a:t>)</a:t>
            </a:r>
            <a:r>
              <a:rPr lang="ko-KR" altLang="en-US" sz="1200" dirty="0"/>
              <a:t>으로 특정 쿠폰에 대한 대량 제품 일괄 지급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업로드 전 성공</a:t>
            </a:r>
            <a:r>
              <a:rPr lang="en-US" altLang="ko-KR" sz="1200" dirty="0"/>
              <a:t>/</a:t>
            </a:r>
            <a:r>
              <a:rPr lang="ko-KR" altLang="en-US" sz="1200" dirty="0"/>
              <a:t>실패 건수 파악과 함께  유효한 제품 코드와 오류 내역을 미리 확인한 후 등록할 수 있습니다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br>
              <a:rPr lang="en-US" altLang="ko-KR" sz="1200" dirty="0"/>
            </a:br>
            <a:r>
              <a:rPr lang="en-US" altLang="ko-KR" sz="1200" dirty="0"/>
              <a:t>※ </a:t>
            </a:r>
            <a:r>
              <a:rPr lang="ko-KR" altLang="en-US" sz="1200" dirty="0"/>
              <a:t>업로드 시 헤더 항목은 업로드 화면에서도 안내되며</a:t>
            </a:r>
            <a:r>
              <a:rPr lang="en-US" altLang="ko-KR" sz="1200" dirty="0"/>
              <a:t>, </a:t>
            </a:r>
            <a:r>
              <a:rPr lang="ko-KR" altLang="en-US" sz="1200" dirty="0"/>
              <a:t>전체 항목을 확인하시려면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- </a:t>
            </a:r>
            <a:r>
              <a:rPr lang="ko-KR" altLang="en-US" sz="1200" dirty="0"/>
              <a:t>엑셀 업로드 파일 헤더 항목 요약표를 참고하시기 바랍니다</a:t>
            </a:r>
            <a:r>
              <a:rPr lang="en-US" altLang="ko-KR" sz="1200" dirty="0"/>
              <a:t>.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BD083D1-74BB-0FF8-5EA9-3BC44401E3CE}"/>
              </a:ext>
            </a:extLst>
          </p:cNvPr>
          <p:cNvSpPr/>
          <p:nvPr/>
        </p:nvSpPr>
        <p:spPr>
          <a:xfrm>
            <a:off x="4545800" y="301240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7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21D200-574E-DBCA-B9C5-1D1287CF6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25" y="1614183"/>
            <a:ext cx="3630122" cy="153716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60ADF3A6-5EA5-65F4-5185-2588F4476634}"/>
              </a:ext>
            </a:extLst>
          </p:cNvPr>
          <p:cNvSpPr/>
          <p:nvPr/>
        </p:nvSpPr>
        <p:spPr>
          <a:xfrm>
            <a:off x="8004531" y="1651772"/>
            <a:ext cx="706016" cy="20697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11FC640-0CBA-B721-D1A7-EA295AF63900}"/>
              </a:ext>
            </a:extLst>
          </p:cNvPr>
          <p:cNvCxnSpPr>
            <a:cxnSpLocks/>
          </p:cNvCxnSpPr>
          <p:nvPr/>
        </p:nvCxnSpPr>
        <p:spPr>
          <a:xfrm flipH="1">
            <a:off x="4682913" y="1858750"/>
            <a:ext cx="3686646" cy="1435062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BA0B27-7CD2-2C63-15EE-D42DF7A50160}"/>
              </a:ext>
            </a:extLst>
          </p:cNvPr>
          <p:cNvSpPr txBox="1"/>
          <p:nvPr/>
        </p:nvSpPr>
        <p:spPr>
          <a:xfrm>
            <a:off x="367228" y="5821047"/>
            <a:ext cx="9103007" cy="52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쿠폰 사용 정책 설정 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사용 가능 제품</a:t>
            </a:r>
            <a:r>
              <a:rPr lang="en-US" altLang="ko-KR" sz="1000" dirty="0">
                <a:solidFill>
                  <a:srgbClr val="FF0000"/>
                </a:solidFill>
              </a:rPr>
              <a:t>·</a:t>
            </a:r>
            <a:r>
              <a:rPr lang="ko-KR" altLang="en-US" sz="1000" dirty="0">
                <a:solidFill>
                  <a:srgbClr val="FF0000"/>
                </a:solidFill>
              </a:rPr>
              <a:t>사용 가능 매장</a:t>
            </a:r>
            <a:r>
              <a:rPr lang="en-US" altLang="ko-KR" sz="1000" dirty="0">
                <a:solidFill>
                  <a:srgbClr val="FF0000"/>
                </a:solidFill>
              </a:rPr>
              <a:t>·</a:t>
            </a:r>
            <a:r>
              <a:rPr lang="ko-KR" altLang="en-US" sz="1000" dirty="0">
                <a:solidFill>
                  <a:srgbClr val="FF0000"/>
                </a:solidFill>
              </a:rPr>
              <a:t>사용 가능 제품 분류는 항목당 최대 </a:t>
            </a:r>
            <a:r>
              <a:rPr lang="en-US" altLang="ko-KR" sz="1000" dirty="0">
                <a:solidFill>
                  <a:srgbClr val="FF0000"/>
                </a:solidFill>
              </a:rPr>
              <a:t>5,000</a:t>
            </a:r>
            <a:r>
              <a:rPr lang="ko-KR" altLang="en-US" sz="1000" dirty="0">
                <a:solidFill>
                  <a:srgbClr val="FF0000"/>
                </a:solidFill>
              </a:rPr>
              <a:t>건까지 등록 가능합니다</a:t>
            </a:r>
            <a:r>
              <a:rPr lang="en-US" altLang="ko-KR" sz="1000" dirty="0">
                <a:solidFill>
                  <a:srgbClr val="FF0000"/>
                </a:solidFill>
              </a:rPr>
              <a:t>.              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</a:rPr>
              <a:t> ⚠ 5,000</a:t>
            </a:r>
            <a:r>
              <a:rPr lang="ko-KR" altLang="en-US" sz="1000" dirty="0">
                <a:solidFill>
                  <a:srgbClr val="FF0000"/>
                </a:solidFill>
              </a:rPr>
              <a:t>건을 초과하여 등록할 경우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시스템 처리 한도로 인해 조건 설정이 실패하거나 일부만 저장될 수 있으므로 주의하시기 바랍니다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160916-2FF9-585D-7D48-7107884CE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07" y="3293812"/>
            <a:ext cx="4697515" cy="248671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1E32F14-610C-14D9-73B7-CC57E48AA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25" y="3293812"/>
            <a:ext cx="3873081" cy="2145935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3D3A567-E408-1F12-A7E3-93EAE9DE1E9D}"/>
              </a:ext>
            </a:extLst>
          </p:cNvPr>
          <p:cNvSpPr/>
          <p:nvPr/>
        </p:nvSpPr>
        <p:spPr>
          <a:xfrm>
            <a:off x="367227" y="3293812"/>
            <a:ext cx="8602257" cy="248671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5219A0-ADA7-26F0-D4D0-8EB2CA17BAA1}"/>
              </a:ext>
            </a:extLst>
          </p:cNvPr>
          <p:cNvSpPr/>
          <p:nvPr/>
        </p:nvSpPr>
        <p:spPr>
          <a:xfrm>
            <a:off x="5105414" y="4433679"/>
            <a:ext cx="3848092" cy="2369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60053-961A-FD0A-1EA9-CBAA02A30DD9}"/>
              </a:ext>
            </a:extLst>
          </p:cNvPr>
          <p:cNvSpPr txBox="1"/>
          <p:nvPr/>
        </p:nvSpPr>
        <p:spPr>
          <a:xfrm>
            <a:off x="367227" y="6286200"/>
            <a:ext cx="6117534" cy="29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모든 업로드 파일은 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CSV (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쉼표로 분리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) (*.csv)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형식으로 저장해야 합니다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6398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173CF-022F-2072-165A-199B6B9A5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E9B820FA-C5CC-8ED5-EDFF-C0E63D292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3. ④ </a:t>
            </a:r>
            <a:r>
              <a:rPr lang="ko-KR" altLang="en-US" dirty="0">
                <a:solidFill>
                  <a:srgbClr val="C9A9D0"/>
                </a:solidFill>
              </a:rPr>
              <a:t>쿠폰  </a:t>
            </a:r>
            <a:r>
              <a:rPr lang="en-US" altLang="ko-KR" dirty="0">
                <a:solidFill>
                  <a:srgbClr val="C9A9D0"/>
                </a:solidFill>
              </a:rPr>
              <a:t>- </a:t>
            </a:r>
            <a:r>
              <a:rPr lang="ko-KR" altLang="en-US" dirty="0">
                <a:solidFill>
                  <a:srgbClr val="C9A9D0"/>
                </a:solidFill>
              </a:rPr>
              <a:t>한도 정책</a:t>
            </a:r>
            <a:r>
              <a:rPr lang="en-US" altLang="ko-KR" dirty="0">
                <a:solidFill>
                  <a:srgbClr val="C9A9D0"/>
                </a:solidFill>
              </a:rPr>
              <a:t>(</a:t>
            </a:r>
            <a:r>
              <a:rPr lang="ko-KR" altLang="en-US" dirty="0">
                <a:solidFill>
                  <a:srgbClr val="C9A9D0"/>
                </a:solidFill>
              </a:rPr>
              <a:t>매장</a:t>
            </a:r>
            <a:r>
              <a:rPr lang="en-US" altLang="ko-KR" dirty="0">
                <a:solidFill>
                  <a:srgbClr val="C9A9D0"/>
                </a:solidFill>
              </a:rPr>
              <a:t>)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82A6B8-0E9C-3F1F-E882-1A84739F28D2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쿠폰 사용 정책을 설정하여 적용 대상 및 사용 조건을 정의할 수 있으며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제품</a:t>
            </a:r>
            <a:r>
              <a:rPr lang="en-US" altLang="ko-KR" sz="1400" dirty="0"/>
              <a:t>, </a:t>
            </a:r>
            <a:r>
              <a:rPr lang="ko-KR" altLang="en-US" sz="1400" dirty="0"/>
              <a:t>매장</a:t>
            </a:r>
            <a:r>
              <a:rPr lang="en-US" altLang="ko-KR" sz="1400" dirty="0"/>
              <a:t>, </a:t>
            </a:r>
            <a:r>
              <a:rPr lang="ko-KR" altLang="en-US" sz="1400" dirty="0"/>
              <a:t>회원 등급</a:t>
            </a:r>
            <a:r>
              <a:rPr lang="en-US" altLang="ko-KR" sz="1400" dirty="0"/>
              <a:t>, </a:t>
            </a:r>
            <a:r>
              <a:rPr lang="ko-KR" altLang="en-US" sz="1400" dirty="0"/>
              <a:t>주문 조건 등 다양한 기준을 기반으로 세부 정책 구성이 가능합니다</a:t>
            </a:r>
            <a:r>
              <a:rPr lang="en-US" altLang="ko-KR" sz="1400" dirty="0"/>
              <a:t>.</a:t>
            </a:r>
            <a:endParaRPr lang="en-US" altLang="ko-KR" sz="1400" dirty="0"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51D7C9-9ACE-3A13-F2F2-15CC81B5EBED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⑧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쿠폰 한도 매장 등록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매장 일괄 등록 </a:t>
            </a:r>
            <a:r>
              <a:rPr lang="ko-KR" altLang="en-US" sz="1200" dirty="0"/>
              <a:t>기능으로 </a:t>
            </a:r>
            <a:r>
              <a:rPr lang="en-US" altLang="ko-KR" sz="1200" dirty="0"/>
              <a:t>CSV </a:t>
            </a:r>
            <a:r>
              <a:rPr lang="ko-KR" altLang="en-US" sz="1200" dirty="0"/>
              <a:t>파일 업로드 방식</a:t>
            </a:r>
            <a:r>
              <a:rPr lang="en-US" altLang="ko-KR" sz="1200" dirty="0"/>
              <a:t>(</a:t>
            </a:r>
            <a:r>
              <a:rPr lang="ko-KR" altLang="en-US" sz="1200" dirty="0"/>
              <a:t>쉼표 분리</a:t>
            </a:r>
            <a:r>
              <a:rPr lang="en-US" altLang="ko-KR" sz="1200" dirty="0"/>
              <a:t>)</a:t>
            </a:r>
            <a:r>
              <a:rPr lang="ko-KR" altLang="en-US" sz="1200" dirty="0"/>
              <a:t>으로 특정 쿠폰에 대한 대량 매장 일괄 지급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업로드 전 성공</a:t>
            </a:r>
            <a:r>
              <a:rPr lang="en-US" altLang="ko-KR" sz="1200" dirty="0"/>
              <a:t>/</a:t>
            </a:r>
            <a:r>
              <a:rPr lang="ko-KR" altLang="en-US" sz="1200" dirty="0"/>
              <a:t>실패 건수 파악과 함께  유효한 매장 코드와 오류 내역을 미리 확인한 후 등록할 수 있습니다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업로드 시 헤더 항목은 업로드 화면에서도 안내되며</a:t>
            </a:r>
            <a:r>
              <a:rPr lang="en-US" altLang="ko-KR" sz="1200" dirty="0"/>
              <a:t>, </a:t>
            </a:r>
            <a:r>
              <a:rPr lang="ko-KR" altLang="en-US" sz="1200" dirty="0"/>
              <a:t>전체 항목을 확인하시려면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- </a:t>
            </a:r>
            <a:r>
              <a:rPr lang="ko-KR" altLang="en-US" sz="1200" dirty="0"/>
              <a:t>엑셀 업로드 파일 헤더 항목 요약표를 참고하시기 바랍니다</a:t>
            </a:r>
            <a:r>
              <a:rPr lang="en-US" altLang="ko-KR" sz="1200" dirty="0"/>
              <a:t>.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EC5FB4-91B3-52A2-C1D9-B1A17FC34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81" y="1891119"/>
            <a:ext cx="5532599" cy="92210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E188D43-D202-C01C-44B8-1AE190BF2704}"/>
              </a:ext>
            </a:extLst>
          </p:cNvPr>
          <p:cNvSpPr/>
          <p:nvPr/>
        </p:nvSpPr>
        <p:spPr>
          <a:xfrm>
            <a:off x="5179730" y="2026059"/>
            <a:ext cx="878945" cy="29726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FB7C809-09A0-659F-F71C-7DE9D9B94939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4655337" y="2323320"/>
            <a:ext cx="963866" cy="782475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E3C8E280-7592-C41B-11CB-6367FD65F7B6}"/>
              </a:ext>
            </a:extLst>
          </p:cNvPr>
          <p:cNvSpPr/>
          <p:nvPr/>
        </p:nvSpPr>
        <p:spPr>
          <a:xfrm>
            <a:off x="4416439" y="2902111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8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B615A3-0EB5-C10F-3E7C-5CB500C132DA}"/>
              </a:ext>
            </a:extLst>
          </p:cNvPr>
          <p:cNvSpPr txBox="1"/>
          <p:nvPr/>
        </p:nvSpPr>
        <p:spPr>
          <a:xfrm>
            <a:off x="286731" y="5535041"/>
            <a:ext cx="9103007" cy="52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쿠폰 사용 정책 설정 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사용 가능 제품</a:t>
            </a:r>
            <a:r>
              <a:rPr lang="en-US" altLang="ko-KR" sz="1000" dirty="0">
                <a:solidFill>
                  <a:srgbClr val="FF0000"/>
                </a:solidFill>
              </a:rPr>
              <a:t>·</a:t>
            </a:r>
            <a:r>
              <a:rPr lang="ko-KR" altLang="en-US" sz="1000" dirty="0">
                <a:solidFill>
                  <a:srgbClr val="FF0000"/>
                </a:solidFill>
              </a:rPr>
              <a:t>사용 가능 매장</a:t>
            </a:r>
            <a:r>
              <a:rPr lang="en-US" altLang="ko-KR" sz="1000" dirty="0">
                <a:solidFill>
                  <a:srgbClr val="FF0000"/>
                </a:solidFill>
              </a:rPr>
              <a:t>·</a:t>
            </a:r>
            <a:r>
              <a:rPr lang="ko-KR" altLang="en-US" sz="1000" dirty="0">
                <a:solidFill>
                  <a:srgbClr val="FF0000"/>
                </a:solidFill>
              </a:rPr>
              <a:t>사용 가능 제품 분류는 항목당 최대 </a:t>
            </a:r>
            <a:r>
              <a:rPr lang="en-US" altLang="ko-KR" sz="1000" dirty="0">
                <a:solidFill>
                  <a:srgbClr val="FF0000"/>
                </a:solidFill>
              </a:rPr>
              <a:t>5,000</a:t>
            </a:r>
            <a:r>
              <a:rPr lang="ko-KR" altLang="en-US" sz="1000" dirty="0">
                <a:solidFill>
                  <a:srgbClr val="FF0000"/>
                </a:solidFill>
              </a:rPr>
              <a:t>건까지 등록 가능합니다</a:t>
            </a:r>
            <a:r>
              <a:rPr lang="en-US" altLang="ko-KR" sz="1000" dirty="0">
                <a:solidFill>
                  <a:srgbClr val="FF0000"/>
                </a:solidFill>
              </a:rPr>
              <a:t>.              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</a:rPr>
              <a:t> ⚠ 5,000</a:t>
            </a:r>
            <a:r>
              <a:rPr lang="ko-KR" altLang="en-US" sz="1000" dirty="0">
                <a:solidFill>
                  <a:srgbClr val="FF0000"/>
                </a:solidFill>
              </a:rPr>
              <a:t>건을 초과하여 등록할 경우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시스템 처리 한도로 인해 조건 설정이 실패하거나 일부만 저장될 수 있으므로 주의하시기 바랍니다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CF7D98-4E6C-F0D8-95F4-364B8D2FF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31" y="3165859"/>
            <a:ext cx="4368606" cy="232143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70B1DE2-A11B-98B0-2EE4-36C0ED8F4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337" y="3165859"/>
            <a:ext cx="4170003" cy="231942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6FFAC3-CAA1-6911-1258-FD542C57F68C}"/>
              </a:ext>
            </a:extLst>
          </p:cNvPr>
          <p:cNvSpPr/>
          <p:nvPr/>
        </p:nvSpPr>
        <p:spPr>
          <a:xfrm>
            <a:off x="286731" y="3155549"/>
            <a:ext cx="8538609" cy="232973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54A9F9E-878D-EB0B-BA52-96D5EF08C84E}"/>
              </a:ext>
            </a:extLst>
          </p:cNvPr>
          <p:cNvSpPr/>
          <p:nvPr/>
        </p:nvSpPr>
        <p:spPr>
          <a:xfrm>
            <a:off x="4677106" y="4338188"/>
            <a:ext cx="4148234" cy="83097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250167-5CCC-F73F-B028-383AFE6A07D1}"/>
              </a:ext>
            </a:extLst>
          </p:cNvPr>
          <p:cNvSpPr txBox="1"/>
          <p:nvPr/>
        </p:nvSpPr>
        <p:spPr>
          <a:xfrm>
            <a:off x="286731" y="6005881"/>
            <a:ext cx="6117534" cy="29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모든 업로드 파일은 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CSV (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쉼표로 분리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) (*.csv)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형식으로 저장해야 합니다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5662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A6878-56A2-E013-4C42-B253D6BB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0F0F9423-3914-77AC-48D9-86CCB1CA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① </a:t>
            </a:r>
            <a:r>
              <a:rPr lang="ko-KR" altLang="en-US" dirty="0">
                <a:solidFill>
                  <a:srgbClr val="C9A9D0"/>
                </a:solidFill>
              </a:rPr>
              <a:t>회원 </a:t>
            </a:r>
            <a:r>
              <a:rPr lang="en-US" altLang="ko-KR" dirty="0">
                <a:solidFill>
                  <a:srgbClr val="C9A9D0"/>
                </a:solidFill>
              </a:rPr>
              <a:t>360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599965-1A72-B979-BD52-C32C4E2F1C66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회원 </a:t>
            </a:r>
            <a:r>
              <a:rPr lang="en-US" altLang="ko-KR" sz="1400" dirty="0"/>
              <a:t>360 </a:t>
            </a:r>
            <a:r>
              <a:rPr lang="ko-KR" altLang="en-US" sz="1400" dirty="0"/>
              <a:t>화면에서는 회원 정보 조회부터 포인트 및 쿠폰 지급까지 한 화면에서 처리할 수 있어</a:t>
            </a:r>
            <a:r>
              <a:rPr lang="en-US" altLang="ko-KR" sz="1400" dirty="0"/>
              <a:t>, </a:t>
            </a:r>
            <a:r>
              <a:rPr lang="ko-KR" altLang="en-US" sz="1400" dirty="0"/>
              <a:t>별도 메뉴 이동 없이 회원의 다양한 활동 이력을 통합적으로 확인하고 즉시 응대할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E592B0-B364-E79B-C3CE-C537659BA50E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회원 정보 검색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360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리스트뷰에서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번호로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목록 검색 및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200" dirty="0"/>
              <a:t>※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회원 </a:t>
            </a:r>
            <a:r>
              <a:rPr lang="en-US" altLang="ko-KR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360 </a:t>
            </a:r>
            <a:r>
              <a:rPr lang="ko-KR" altLang="en-US" sz="1200" u="sng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리스트뷰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는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Salesforce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기본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리스트뷰로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열 선택 불가 목록이라 커스텀 가능하게 </a:t>
            </a: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</a:t>
            </a:r>
            <a:r>
              <a:rPr lang="en-US" altLang="ko-KR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360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활용하시면 됩니다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리스트뷰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생성은 슬라이드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참고하시길 바랍니다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② 회원 번호 구분 클릭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번호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회원 상세 정보 진입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요약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검색된 회원의 회원 상세 정보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보유 혜택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등급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매거진 구독 데이터 등 조회 가능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쿠폰 발급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지급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특정 회원에게 쿠폰 및 포인트 지급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38AB9C-EEEF-47D4-346A-59F30EEA3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0" y="1905746"/>
            <a:ext cx="6895322" cy="1576283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7187B60-CCB7-9A08-7A28-3DD960B5112E}"/>
              </a:ext>
            </a:extLst>
          </p:cNvPr>
          <p:cNvSpPr/>
          <p:nvPr/>
        </p:nvSpPr>
        <p:spPr>
          <a:xfrm>
            <a:off x="5403616" y="2178670"/>
            <a:ext cx="900767" cy="21001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DE9D5F8-CE12-CD8B-08A2-8E24364A17DF}"/>
              </a:ext>
            </a:extLst>
          </p:cNvPr>
          <p:cNvSpPr/>
          <p:nvPr/>
        </p:nvSpPr>
        <p:spPr>
          <a:xfrm>
            <a:off x="5210098" y="196267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AD2530-AE37-1574-C89F-9C3997054F58}"/>
              </a:ext>
            </a:extLst>
          </p:cNvPr>
          <p:cNvSpPr/>
          <p:nvPr/>
        </p:nvSpPr>
        <p:spPr>
          <a:xfrm>
            <a:off x="788073" y="2483871"/>
            <a:ext cx="639511" cy="99815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9061304-B682-DAB0-23A3-890DCDD0022C}"/>
              </a:ext>
            </a:extLst>
          </p:cNvPr>
          <p:cNvSpPr/>
          <p:nvPr/>
        </p:nvSpPr>
        <p:spPr>
          <a:xfrm>
            <a:off x="535099" y="232830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4C57847-AB5D-6C7C-24B8-8DAC404B8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01" y="3964969"/>
            <a:ext cx="8307584" cy="129062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5A8BD262-A052-8026-F679-02A3BCEEA4F7}"/>
              </a:ext>
            </a:extLst>
          </p:cNvPr>
          <p:cNvSpPr/>
          <p:nvPr/>
        </p:nvSpPr>
        <p:spPr>
          <a:xfrm>
            <a:off x="398001" y="3955145"/>
            <a:ext cx="8307584" cy="130044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F671700-77DC-A362-94DF-80ADFEEF3443}"/>
              </a:ext>
            </a:extLst>
          </p:cNvPr>
          <p:cNvCxnSpPr>
            <a:cxnSpLocks/>
          </p:cNvCxnSpPr>
          <p:nvPr/>
        </p:nvCxnSpPr>
        <p:spPr>
          <a:xfrm>
            <a:off x="1107828" y="3477117"/>
            <a:ext cx="3443965" cy="482940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729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D8597-1FFA-64F5-4B4B-4C4E8510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1E3C5613-017B-4B5A-EA29-1DC09346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① </a:t>
            </a:r>
            <a:r>
              <a:rPr lang="ko-KR" altLang="en-US" dirty="0">
                <a:solidFill>
                  <a:srgbClr val="C9A9D0"/>
                </a:solidFill>
              </a:rPr>
              <a:t>회원 </a:t>
            </a:r>
            <a:r>
              <a:rPr lang="en-US" altLang="ko-KR" dirty="0">
                <a:solidFill>
                  <a:srgbClr val="C9A9D0"/>
                </a:solidFill>
              </a:rPr>
              <a:t>360 – </a:t>
            </a:r>
            <a:r>
              <a:rPr lang="ko-KR" altLang="en-US" dirty="0">
                <a:solidFill>
                  <a:srgbClr val="C9A9D0"/>
                </a:solidFill>
              </a:rPr>
              <a:t>하단 탭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0CE5B-C9AF-C243-BA1C-0C4CA1C8E7F9}"/>
              </a:ext>
            </a:extLst>
          </p:cNvPr>
          <p:cNvSpPr txBox="1"/>
          <p:nvPr/>
        </p:nvSpPr>
        <p:spPr>
          <a:xfrm>
            <a:off x="370010" y="1077475"/>
            <a:ext cx="7999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회원 </a:t>
            </a:r>
            <a:r>
              <a:rPr lang="en-US" altLang="ko-KR" sz="1400" dirty="0"/>
              <a:t>360 </a:t>
            </a:r>
            <a:r>
              <a:rPr lang="ko-KR" altLang="en-US" sz="1400" dirty="0"/>
              <a:t>화면에서는 회원 정보를 조회하고</a:t>
            </a:r>
            <a:r>
              <a:rPr lang="en-US" altLang="ko-KR" sz="1400" dirty="0"/>
              <a:t>, </a:t>
            </a:r>
            <a:r>
              <a:rPr lang="ko-KR" altLang="en-US" sz="1400" dirty="0"/>
              <a:t>포인트 및 쿠폰 지급과 함께 회원의 다양한 활동 이력의</a:t>
            </a:r>
            <a:r>
              <a:rPr lang="en-US" altLang="ko-KR" sz="1400" dirty="0"/>
              <a:t> </a:t>
            </a:r>
            <a:r>
              <a:rPr lang="ko-KR" altLang="en-US" sz="1400" dirty="0"/>
              <a:t>상세를 확인할 수 있습니다</a:t>
            </a:r>
            <a:r>
              <a:rPr lang="en-US" altLang="ko-KR" sz="1400" dirty="0"/>
              <a:t>.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/>
              </a:rPr>
              <a:t>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21C1DA-9F89-E77F-5B34-47E77C3BB0C8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회원정보 변경 이력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상세 정보의 항목을 변경 이력 조회 가능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자세한 변경 항목은 </a:t>
            </a:r>
            <a:r>
              <a:rPr lang="en-US" altLang="ko-KR" sz="1200" dirty="0"/>
              <a:t>※ [</a:t>
            </a:r>
            <a:r>
              <a:rPr lang="ko-KR" altLang="en-US" sz="1200" dirty="0"/>
              <a:t>별첨</a:t>
            </a:r>
            <a:r>
              <a:rPr lang="en-US" altLang="ko-KR" sz="1200" dirty="0"/>
              <a:t>] : </a:t>
            </a:r>
            <a:r>
              <a:rPr lang="ko-KR" altLang="en-US" sz="1200" dirty="0"/>
              <a:t>회원</a:t>
            </a:r>
            <a:r>
              <a:rPr lang="en-US" altLang="ko-KR" sz="1200" dirty="0"/>
              <a:t>360 – </a:t>
            </a:r>
            <a:r>
              <a:rPr lang="ko-KR" altLang="en-US" sz="1200" dirty="0"/>
              <a:t>회원변경이력 변경 항목 요약표 참고 부탁드립니다</a:t>
            </a:r>
            <a:r>
              <a:rPr lang="en-US" altLang="ko-KR" sz="1200" dirty="0"/>
              <a:t>.)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② 주문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이력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회원의 주문과 판매의 상세 이력 조회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편집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삭제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자동 번호 클릭 시 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판매에 대한 상세 정보 조회 가능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/>
              <a:t>판매 이력은 ▼ 아이콘으로 수정 가능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③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입금 이력</a:t>
            </a:r>
            <a:r>
              <a:rPr lang="en-US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현금</a:t>
            </a:r>
            <a:r>
              <a:rPr lang="en-US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카드 수단 조회</a:t>
            </a:r>
            <a:r>
              <a:rPr lang="en-US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회원의 주문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반품에 대한 입금 상세 이력 조회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각 데이터 하위 항목의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↓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을 통해 내림차순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오름차순으로 정렬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주문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ID -&gt;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주문페이지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ID-&gt;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페이지로 이동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2E8C83-2EBC-1012-572B-025D9A430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427" y="5265968"/>
            <a:ext cx="5610381" cy="130262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A48A820-A608-B75E-96D1-0E4DBB8D73CA}"/>
              </a:ext>
            </a:extLst>
          </p:cNvPr>
          <p:cNvSpPr/>
          <p:nvPr/>
        </p:nvSpPr>
        <p:spPr>
          <a:xfrm>
            <a:off x="2734105" y="5281225"/>
            <a:ext cx="507144" cy="14508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5902196-402D-FDF7-46EC-F37F48048FE7}"/>
              </a:ext>
            </a:extLst>
          </p:cNvPr>
          <p:cNvSpPr/>
          <p:nvPr/>
        </p:nvSpPr>
        <p:spPr>
          <a:xfrm>
            <a:off x="2452931" y="519840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675B299-7970-0CA6-B0E1-8CC07DEB1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9" y="1704929"/>
            <a:ext cx="7005893" cy="80099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0246AF-5837-53D5-DFAC-3EFF21E9015E}"/>
              </a:ext>
            </a:extLst>
          </p:cNvPr>
          <p:cNvSpPr/>
          <p:nvPr/>
        </p:nvSpPr>
        <p:spPr>
          <a:xfrm>
            <a:off x="370009" y="1704929"/>
            <a:ext cx="777656" cy="21039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49CD2BD-883A-03B3-4014-C16168FE6B0F}"/>
              </a:ext>
            </a:extLst>
          </p:cNvPr>
          <p:cNvSpPr/>
          <p:nvPr/>
        </p:nvSpPr>
        <p:spPr>
          <a:xfrm>
            <a:off x="154009" y="153419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391FAEE-EF9A-75C6-CBC5-46725D1F2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10" y="2786548"/>
            <a:ext cx="6823799" cy="1242035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51C2788-11EE-9BDC-CAD2-0A6419E07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09" y="4021205"/>
            <a:ext cx="6823799" cy="103210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ED4EA628-5BAD-59D9-53AA-208EEE5F843A}"/>
              </a:ext>
            </a:extLst>
          </p:cNvPr>
          <p:cNvSpPr/>
          <p:nvPr/>
        </p:nvSpPr>
        <p:spPr>
          <a:xfrm>
            <a:off x="886980" y="2755301"/>
            <a:ext cx="216000" cy="22541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5C96214-B50F-3CBF-63E8-04021DC7A07A}"/>
              </a:ext>
            </a:extLst>
          </p:cNvPr>
          <p:cNvSpPr/>
          <p:nvPr/>
        </p:nvSpPr>
        <p:spPr>
          <a:xfrm>
            <a:off x="1167543" y="2783820"/>
            <a:ext cx="701013" cy="21231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3918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49E25-AA4A-32F4-9EE2-6B4A696A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F8151EA0-EE83-DC82-65AC-9FE90B45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① </a:t>
            </a:r>
            <a:r>
              <a:rPr lang="ko-KR" altLang="en-US" dirty="0">
                <a:solidFill>
                  <a:srgbClr val="C9A9D0"/>
                </a:solidFill>
              </a:rPr>
              <a:t>회원 </a:t>
            </a:r>
            <a:r>
              <a:rPr lang="en-US" altLang="ko-KR" dirty="0">
                <a:solidFill>
                  <a:srgbClr val="C9A9D0"/>
                </a:solidFill>
              </a:rPr>
              <a:t>360 – </a:t>
            </a:r>
            <a:r>
              <a:rPr lang="ko-KR" altLang="en-US" dirty="0">
                <a:solidFill>
                  <a:srgbClr val="C9A9D0"/>
                </a:solidFill>
              </a:rPr>
              <a:t>하단 탭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217D4-ADC0-AD93-3F71-07FEEF98C110}"/>
              </a:ext>
            </a:extLst>
          </p:cNvPr>
          <p:cNvSpPr txBox="1"/>
          <p:nvPr/>
        </p:nvSpPr>
        <p:spPr>
          <a:xfrm>
            <a:off x="370010" y="1077475"/>
            <a:ext cx="7999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회원 </a:t>
            </a:r>
            <a:r>
              <a:rPr lang="en-US" altLang="ko-KR" sz="1400" dirty="0"/>
              <a:t>360 </a:t>
            </a:r>
            <a:r>
              <a:rPr lang="ko-KR" altLang="en-US" sz="1400" dirty="0"/>
              <a:t>화면에서는 회원 정보를 조회하고</a:t>
            </a:r>
            <a:r>
              <a:rPr lang="en-US" altLang="ko-KR" sz="1400" dirty="0"/>
              <a:t>, </a:t>
            </a:r>
            <a:r>
              <a:rPr lang="ko-KR" altLang="en-US" sz="1400" dirty="0"/>
              <a:t>포인트 및 쿠폰 지급과 함께 회원의 다양한 활동 이력의</a:t>
            </a:r>
            <a:r>
              <a:rPr lang="en-US" altLang="ko-KR" sz="1400" dirty="0"/>
              <a:t> </a:t>
            </a:r>
            <a:r>
              <a:rPr lang="ko-KR" altLang="en-US" sz="1400" dirty="0"/>
              <a:t>상세를 확인할 수 있습니다</a:t>
            </a:r>
            <a:r>
              <a:rPr lang="en-US" altLang="ko-KR" sz="1400" dirty="0"/>
              <a:t>.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/>
              </a:rPr>
              <a:t>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6729F9-8217-24ED-CDE5-C4CE47D7B6B6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④ 포인트 적립 이력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조회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회원의 포인트 적립 내역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유효 종료 일자 조건 설정으로 특정 데이터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데이터 나열은 유효기간 종료일자가 가까운 순으로 정렬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판매번호로 판매페이지 이동 가능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⑤ 포인트 사용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소멸 이력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조회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소멸 일자 조건 설정으로 특정 데이터 조회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수정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나열은 사용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소멸 일자가 최신순으로 정렬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번호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적립판매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판매반품 번호로 주문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반품 페이지 이동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번호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포인트가 사용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취소된 판매 건 </a:t>
            </a:r>
            <a:b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적립판매번호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포인트가 적립된 판매 건 </a:t>
            </a:r>
            <a:b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판매반품번호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포인트가 복원된 해당 반품 건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F566D69-9842-9321-C1C7-779AFD651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97" y="1880648"/>
            <a:ext cx="8032762" cy="179229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1A5BE0-C512-E62B-DED5-6BAB1EC5E5EB}"/>
              </a:ext>
            </a:extLst>
          </p:cNvPr>
          <p:cNvSpPr/>
          <p:nvPr/>
        </p:nvSpPr>
        <p:spPr>
          <a:xfrm>
            <a:off x="2738234" y="1880647"/>
            <a:ext cx="1000539" cy="27563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B27B79-F229-D62D-152E-424DA2655A84}"/>
              </a:ext>
            </a:extLst>
          </p:cNvPr>
          <p:cNvSpPr/>
          <p:nvPr/>
        </p:nvSpPr>
        <p:spPr>
          <a:xfrm>
            <a:off x="923442" y="2761585"/>
            <a:ext cx="564951" cy="19128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1885072-1EEE-3F18-A002-C823C54C89AC}"/>
              </a:ext>
            </a:extLst>
          </p:cNvPr>
          <p:cNvSpPr/>
          <p:nvPr/>
        </p:nvSpPr>
        <p:spPr>
          <a:xfrm>
            <a:off x="2460487" y="191046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5B17CA3-6241-BE9F-4CF3-0F368D840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97" y="4277953"/>
            <a:ext cx="8162952" cy="161411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887C239B-E04B-5C30-3D58-46AF702B5C90}"/>
              </a:ext>
            </a:extLst>
          </p:cNvPr>
          <p:cNvSpPr/>
          <p:nvPr/>
        </p:nvSpPr>
        <p:spPr>
          <a:xfrm>
            <a:off x="3685879" y="4249989"/>
            <a:ext cx="1161218" cy="28793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BD16C3-3692-721F-CE3A-F0329225CB24}"/>
              </a:ext>
            </a:extLst>
          </p:cNvPr>
          <p:cNvSpPr/>
          <p:nvPr/>
        </p:nvSpPr>
        <p:spPr>
          <a:xfrm>
            <a:off x="4521056" y="5147245"/>
            <a:ext cx="730725" cy="160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AF4AE18-9ECA-928E-60D5-174738BDAB95}"/>
              </a:ext>
            </a:extLst>
          </p:cNvPr>
          <p:cNvSpPr/>
          <p:nvPr/>
        </p:nvSpPr>
        <p:spPr>
          <a:xfrm>
            <a:off x="6658640" y="5147245"/>
            <a:ext cx="730725" cy="160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95A83B9-A78C-D637-034C-973E2DFCD222}"/>
              </a:ext>
            </a:extLst>
          </p:cNvPr>
          <p:cNvSpPr/>
          <p:nvPr/>
        </p:nvSpPr>
        <p:spPr>
          <a:xfrm>
            <a:off x="7685585" y="5147245"/>
            <a:ext cx="730725" cy="160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102FE86-1585-6484-518D-9B04600476EC}"/>
              </a:ext>
            </a:extLst>
          </p:cNvPr>
          <p:cNvSpPr/>
          <p:nvPr/>
        </p:nvSpPr>
        <p:spPr>
          <a:xfrm>
            <a:off x="3430123" y="4287451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5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8193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BC8BF-DFD3-7A05-1A78-4E21597D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3EE43E2F-D037-8211-2A02-EAFACA36F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① </a:t>
            </a:r>
            <a:r>
              <a:rPr lang="ko-KR" altLang="en-US" dirty="0">
                <a:solidFill>
                  <a:srgbClr val="C9A9D0"/>
                </a:solidFill>
              </a:rPr>
              <a:t>회원 </a:t>
            </a:r>
            <a:r>
              <a:rPr lang="en-US" altLang="ko-KR" dirty="0">
                <a:solidFill>
                  <a:srgbClr val="C9A9D0"/>
                </a:solidFill>
              </a:rPr>
              <a:t>360 – </a:t>
            </a:r>
            <a:r>
              <a:rPr lang="ko-KR" altLang="en-US" dirty="0">
                <a:solidFill>
                  <a:srgbClr val="C9A9D0"/>
                </a:solidFill>
              </a:rPr>
              <a:t>하단 탭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DF10D5-21E8-643C-ED97-5EA0C7AB5889}"/>
              </a:ext>
            </a:extLst>
          </p:cNvPr>
          <p:cNvSpPr txBox="1"/>
          <p:nvPr/>
        </p:nvSpPr>
        <p:spPr>
          <a:xfrm>
            <a:off x="370010" y="1077475"/>
            <a:ext cx="7999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회원 </a:t>
            </a:r>
            <a:r>
              <a:rPr lang="en-US" altLang="ko-KR" sz="1400" dirty="0"/>
              <a:t>360 </a:t>
            </a:r>
            <a:r>
              <a:rPr lang="ko-KR" altLang="en-US" sz="1400" dirty="0"/>
              <a:t>화면에서는 회원 정보를 조회하고</a:t>
            </a:r>
            <a:r>
              <a:rPr lang="en-US" altLang="ko-KR" sz="1400" dirty="0"/>
              <a:t>, </a:t>
            </a:r>
            <a:r>
              <a:rPr lang="ko-KR" altLang="en-US" sz="1400" dirty="0"/>
              <a:t>포인트 및 쿠폰 지급과 함께 회원의 다양한 활동 이력의</a:t>
            </a:r>
            <a:r>
              <a:rPr lang="en-US" altLang="ko-KR" sz="1400" dirty="0"/>
              <a:t> </a:t>
            </a:r>
            <a:r>
              <a:rPr lang="ko-KR" altLang="en-US" sz="1400" dirty="0"/>
              <a:t>상세를 확인할 수 있습니다</a:t>
            </a:r>
            <a:r>
              <a:rPr lang="en-US" altLang="ko-KR" sz="1400" dirty="0"/>
              <a:t>.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/>
              </a:rPr>
              <a:t>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C830D6-B7FA-CE94-FCA8-37DA718CD3FA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⑥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쿠폰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상세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이력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쿠폰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본사상품권 조회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1200" b="1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보유 쿠폰 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회원이 보유한 모든 쿠폰 조회 가능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/>
              <a:t>▼ 아이콘으로 수정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쿠폰 이력 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회원에게 지급된 모든 쿠폰에 대한 상세 이력 조회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주문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ID -&gt;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주문 페이지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ID-&gt;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페이지 이동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(*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자세한 거래 구분은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: </a:t>
            </a:r>
            <a:r>
              <a:rPr lang="ko-KR" altLang="en-US" sz="1200" dirty="0"/>
              <a:t>회원</a:t>
            </a:r>
            <a:r>
              <a:rPr lang="en-US" altLang="ko-KR" sz="1200" dirty="0"/>
              <a:t>360, </a:t>
            </a: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</a:t>
            </a:r>
            <a:r>
              <a:rPr lang="en-US" altLang="ko-KR" sz="1200" dirty="0"/>
              <a:t>– </a:t>
            </a:r>
            <a:r>
              <a:rPr lang="ko-KR" altLang="en-US" sz="1200" dirty="0"/>
              <a:t>입금</a:t>
            </a:r>
            <a:r>
              <a:rPr lang="en-US" altLang="ko-KR" sz="1200" dirty="0"/>
              <a:t>, </a:t>
            </a:r>
            <a:r>
              <a:rPr lang="ko-KR" altLang="en-US" sz="1200" dirty="0"/>
              <a:t>쿠폰</a:t>
            </a:r>
            <a:r>
              <a:rPr lang="en-US" altLang="ko-KR" sz="1200" dirty="0"/>
              <a:t>, </a:t>
            </a:r>
            <a:r>
              <a:rPr lang="ko-KR" altLang="en-US" sz="1200" dirty="0"/>
              <a:t>포인트 이력 요약표 참고하시길 바랍니다</a:t>
            </a:r>
            <a:r>
              <a:rPr lang="en-US" altLang="ko-KR" sz="1200" dirty="0"/>
              <a:t>.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⑦ 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CS 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이력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회원의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CS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내역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76C529-2D59-FC32-C70E-A9C3F396D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9" y="4696443"/>
            <a:ext cx="8612383" cy="74094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3CE5D0B-4D26-9762-03B2-59E31C892061}"/>
              </a:ext>
            </a:extLst>
          </p:cNvPr>
          <p:cNvSpPr/>
          <p:nvPr/>
        </p:nvSpPr>
        <p:spPr>
          <a:xfrm>
            <a:off x="5813524" y="4780203"/>
            <a:ext cx="564951" cy="19128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C16AD1D-30AE-A691-E4F1-C4943D81DCC0}"/>
              </a:ext>
            </a:extLst>
          </p:cNvPr>
          <p:cNvSpPr/>
          <p:nvPr/>
        </p:nvSpPr>
        <p:spPr>
          <a:xfrm>
            <a:off x="5540161" y="476784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7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46F7ED5-6E8C-10FA-AD87-404E37C32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9" y="1944099"/>
            <a:ext cx="6102626" cy="236070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71066E-64BE-534B-79B9-4C096FD37842}"/>
              </a:ext>
            </a:extLst>
          </p:cNvPr>
          <p:cNvSpPr/>
          <p:nvPr/>
        </p:nvSpPr>
        <p:spPr>
          <a:xfrm>
            <a:off x="3592067" y="1926025"/>
            <a:ext cx="632063" cy="23076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6D3C78E-DE0A-FEF4-D26B-769B226CD9B2}"/>
              </a:ext>
            </a:extLst>
          </p:cNvPr>
          <p:cNvSpPr/>
          <p:nvPr/>
        </p:nvSpPr>
        <p:spPr>
          <a:xfrm>
            <a:off x="3333200" y="193340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6976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3A3C-2EC3-B662-ACD9-AA7CA9F84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9FE87578-77D6-EC6F-610A-272627E6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7C74E7-16F0-F50B-DBE9-4EACE89CDBFC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주문과 판매에 대한 주요 정보</a:t>
            </a:r>
            <a:r>
              <a:rPr lang="en-US" altLang="ko-KR" sz="1400" dirty="0"/>
              <a:t>(</a:t>
            </a:r>
            <a:r>
              <a:rPr lang="ko-KR" altLang="en-US" sz="1400" dirty="0"/>
              <a:t>주문 상태</a:t>
            </a:r>
            <a:r>
              <a:rPr lang="en-US" altLang="ko-KR" sz="1400" dirty="0"/>
              <a:t>, </a:t>
            </a:r>
            <a:r>
              <a:rPr lang="ko-KR" altLang="en-US" sz="1400" dirty="0"/>
              <a:t>판매 내역</a:t>
            </a:r>
            <a:r>
              <a:rPr lang="en-US" altLang="ko-KR" sz="1400" dirty="0"/>
              <a:t>, </a:t>
            </a:r>
            <a:r>
              <a:rPr lang="ko-KR" altLang="en-US" sz="1400" dirty="0"/>
              <a:t>결제 금액</a:t>
            </a:r>
            <a:r>
              <a:rPr lang="en-US" altLang="ko-KR" sz="1400" dirty="0"/>
              <a:t>, </a:t>
            </a:r>
            <a:r>
              <a:rPr lang="ko-KR" altLang="en-US" sz="1400" dirty="0"/>
              <a:t>고객 정보 등</a:t>
            </a:r>
            <a:r>
              <a:rPr lang="en-US" altLang="ko-KR" sz="1400" dirty="0"/>
              <a:t>)</a:t>
            </a:r>
            <a:r>
              <a:rPr lang="ko-KR" altLang="en-US" sz="1400" dirty="0"/>
              <a:t>를 통합하여 다양한 요약 이력을 확인할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DA0FFE-D3AA-A3FD-54C8-C6B545129801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주문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반품 정보 검색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u="sng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주문</a:t>
            </a:r>
            <a:r>
              <a:rPr lang="en-US" altLang="ko-KR" sz="1200" u="sng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u="sng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 자동 번호</a:t>
            </a:r>
            <a:r>
              <a:rPr lang="en-US" altLang="ko-KR" sz="1200" u="sng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u="sng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주문 번호로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  목록 검색 및 조회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★ Salesforce</a:t>
            </a:r>
            <a:r>
              <a:rPr lang="ko-KR" altLang="en-US" sz="1200" dirty="0"/>
              <a:t>에서 제공되는 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</a:t>
            </a:r>
            <a:r>
              <a:rPr lang="ko-KR" altLang="en-US" sz="1200" dirty="0" err="1"/>
              <a:t>리스트뷰</a:t>
            </a:r>
            <a:r>
              <a:rPr lang="ko-KR" altLang="en-US" sz="1200" dirty="0"/>
              <a:t> 목록에서 사용자 정의 맞게 선택 및 조회 가능 </a:t>
            </a:r>
            <a:r>
              <a:rPr lang="en-US" altLang="ko-KR" sz="1200" dirty="0"/>
              <a:t>★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ea typeface="나눔스퀘어" panose="020B0600000101010101"/>
              </a:rPr>
              <a:t>모든 주문 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전체 주문</a:t>
            </a:r>
            <a:r>
              <a:rPr lang="en-US" altLang="ko-KR" sz="1200" dirty="0">
                <a:ea typeface="나눔스퀘어" panose="020B0600000101010101"/>
              </a:rPr>
              <a:t>/</a:t>
            </a:r>
            <a:r>
              <a:rPr lang="ko-KR" altLang="en-US" sz="1200" dirty="0">
                <a:ea typeface="나눔스퀘어" panose="020B0600000101010101"/>
              </a:rPr>
              <a:t>판매 목록 조회</a:t>
            </a:r>
            <a:endParaRPr lang="en-US" altLang="ko-KR" sz="1200" dirty="0">
              <a:ea typeface="나눔스퀘어" panose="020B0600000101010101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ea typeface="나눔스퀘어" panose="020B0600000101010101"/>
              </a:rPr>
              <a:t>모든 초안 주문 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판매 삭제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반품 삭제 </a:t>
            </a:r>
            <a:r>
              <a:rPr lang="ko-KR" altLang="en-US" sz="1200" dirty="0" err="1">
                <a:ea typeface="나눔스퀘어" panose="020B0600000101010101"/>
              </a:rPr>
              <a:t>승인중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/>
              <a:t>반품 완료 </a:t>
            </a:r>
            <a:r>
              <a:rPr lang="ko-KR" altLang="en-US" sz="1200" dirty="0" err="1"/>
              <a:t>승인중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승인중</a:t>
            </a:r>
            <a:r>
              <a:rPr lang="en-US" altLang="ko-KR" sz="1200" dirty="0"/>
              <a:t>, </a:t>
            </a:r>
            <a:r>
              <a:rPr lang="ko-KR" altLang="en-US" sz="1200" dirty="0"/>
              <a:t>주문 성공</a:t>
            </a:r>
            <a:r>
              <a:rPr lang="en-US" altLang="ko-KR" sz="1200" dirty="0"/>
              <a:t>, </a:t>
            </a:r>
            <a:r>
              <a:rPr lang="ko-KR" altLang="en-US" sz="1200" dirty="0"/>
              <a:t>판매 삭제</a:t>
            </a:r>
            <a:r>
              <a:rPr lang="en-US" altLang="ko-KR" sz="1200" dirty="0"/>
              <a:t>, </a:t>
            </a:r>
            <a:r>
              <a:rPr lang="ko-KR" altLang="en-US" sz="1200" dirty="0"/>
              <a:t>판매 삭제 </a:t>
            </a:r>
            <a:r>
              <a:rPr lang="ko-KR" altLang="en-US" sz="1200" dirty="0" err="1"/>
              <a:t>승인중</a:t>
            </a:r>
            <a:r>
              <a:rPr lang="en-US" altLang="ko-KR" sz="1200" dirty="0"/>
              <a:t>, </a:t>
            </a:r>
            <a:r>
              <a:rPr lang="ko-KR" altLang="en-US" sz="1200" dirty="0"/>
              <a:t>판매 완료</a:t>
            </a:r>
            <a:r>
              <a:rPr lang="en-US" altLang="ko-KR" sz="1200" dirty="0"/>
              <a:t>, </a:t>
            </a:r>
            <a:r>
              <a:rPr lang="ko-KR" altLang="en-US" sz="1200" dirty="0"/>
              <a:t>판매 완료 </a:t>
            </a:r>
            <a:r>
              <a:rPr lang="ko-KR" altLang="en-US" sz="1200" dirty="0" err="1"/>
              <a:t>승인중</a:t>
            </a:r>
            <a:r>
              <a:rPr lang="ko-KR" altLang="en-US" sz="1200" dirty="0"/>
              <a:t> 상태인 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목록 조회</a:t>
            </a:r>
            <a:endParaRPr lang="ko-KR" altLang="en-US" sz="1200" dirty="0">
              <a:ea typeface="나눔스퀘어" panose="020B0600000101010101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ea typeface="나눔스퀘어" panose="020B0600000101010101"/>
              </a:rPr>
              <a:t>모든 판매 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전체 판매 목록 조회</a:t>
            </a:r>
            <a:endParaRPr lang="en-US" altLang="ko-KR" sz="1200" dirty="0">
              <a:ea typeface="나눔스퀘어" panose="020B0600000101010101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ea typeface="나눔스퀘어" panose="020B0600000101010101"/>
              </a:rPr>
              <a:t>모든 활성화된 주문 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반품 삭제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반품 완료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판매 삭제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판매 완료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활성화된 주문</a:t>
            </a:r>
            <a:r>
              <a:rPr lang="en-US" altLang="ko-KR" sz="1200" dirty="0">
                <a:ea typeface="나눔스퀘어" panose="020B0600000101010101"/>
              </a:rPr>
              <a:t>/</a:t>
            </a:r>
            <a:r>
              <a:rPr lang="ko-KR" altLang="en-US" sz="1200" dirty="0">
                <a:ea typeface="나눔스퀘어" panose="020B0600000101010101"/>
              </a:rPr>
              <a:t>판매 목록 조회</a:t>
            </a:r>
            <a:endParaRPr lang="en-US" altLang="ko-KR" sz="1200" dirty="0">
              <a:ea typeface="나눔스퀘어" panose="020B0600000101010101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ea typeface="나눔스퀘어" panose="020B0600000101010101"/>
              </a:rPr>
              <a:t>최근 조회 항목 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최근에 조회한 주문</a:t>
            </a:r>
            <a:r>
              <a:rPr lang="en-US" altLang="ko-KR" sz="1200" dirty="0">
                <a:ea typeface="나눔스퀘어" panose="020B0600000101010101"/>
              </a:rPr>
              <a:t>/</a:t>
            </a:r>
            <a:r>
              <a:rPr lang="ko-KR" altLang="en-US" sz="1200" dirty="0">
                <a:ea typeface="나눔스퀘어" panose="020B0600000101010101"/>
              </a:rPr>
              <a:t>판매 목록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200" dirty="0"/>
              <a:t>※ </a:t>
            </a:r>
            <a:r>
              <a:rPr lang="ko-KR" altLang="en-US" sz="1200" dirty="0" err="1"/>
              <a:t>리스트뷰</a:t>
            </a:r>
            <a:r>
              <a:rPr lang="ko-KR" altLang="en-US" sz="1200" dirty="0"/>
              <a:t> 생성은 슬라이드 </a:t>
            </a:r>
            <a:r>
              <a:rPr lang="en-US" altLang="ko-KR" sz="1200" dirty="0"/>
              <a:t>5 </a:t>
            </a:r>
            <a:r>
              <a:rPr lang="ko-KR" altLang="en-US" sz="1200" dirty="0"/>
              <a:t>참고하시길 바랍니다</a:t>
            </a:r>
            <a:r>
              <a:rPr lang="en-US" altLang="ko-KR" sz="1200" dirty="0"/>
              <a:t>.)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5C1E2E-F37B-63BA-B4E3-7A2E45D81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39" y="1803657"/>
            <a:ext cx="6102220" cy="139349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9CC850D-FDBF-E2A6-3722-BFE1253207AF}"/>
              </a:ext>
            </a:extLst>
          </p:cNvPr>
          <p:cNvSpPr/>
          <p:nvPr/>
        </p:nvSpPr>
        <p:spPr>
          <a:xfrm>
            <a:off x="4777273" y="2040073"/>
            <a:ext cx="886409" cy="18781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621B46-5835-0118-A806-649EABA42B20}"/>
              </a:ext>
            </a:extLst>
          </p:cNvPr>
          <p:cNvSpPr/>
          <p:nvPr/>
        </p:nvSpPr>
        <p:spPr>
          <a:xfrm>
            <a:off x="438539" y="1803657"/>
            <a:ext cx="858416" cy="31439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751EDD2-F6AC-855D-2E35-ADDF94E2F5AE}"/>
              </a:ext>
            </a:extLst>
          </p:cNvPr>
          <p:cNvSpPr/>
          <p:nvPr/>
        </p:nvSpPr>
        <p:spPr>
          <a:xfrm>
            <a:off x="4527803" y="201188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68AC49-6EB3-F1BB-B5C5-A122ED02F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69" y="3680762"/>
            <a:ext cx="7975043" cy="1960252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B3AC149-AFC7-A5F3-01F4-7014BA4A2354}"/>
              </a:ext>
            </a:extLst>
          </p:cNvPr>
          <p:cNvCxnSpPr>
            <a:stCxn id="7" idx="2"/>
          </p:cNvCxnSpPr>
          <p:nvPr/>
        </p:nvCxnSpPr>
        <p:spPr>
          <a:xfrm>
            <a:off x="867747" y="2118049"/>
            <a:ext cx="1129004" cy="1940767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18D3B4-F44D-EE9C-C742-8FB22599C3E6}"/>
              </a:ext>
            </a:extLst>
          </p:cNvPr>
          <p:cNvSpPr/>
          <p:nvPr/>
        </p:nvSpPr>
        <p:spPr>
          <a:xfrm>
            <a:off x="768221" y="4058815"/>
            <a:ext cx="2656114" cy="135293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" name="별: 꼭짓점 5개 2">
            <a:extLst>
              <a:ext uri="{FF2B5EF4-FFF2-40B4-BE49-F238E27FC236}">
                <a16:creationId xmlns:a16="http://schemas.microsoft.com/office/drawing/2014/main" id="{E219247D-7263-B55B-4BE6-75A7C81D4C50}"/>
              </a:ext>
            </a:extLst>
          </p:cNvPr>
          <p:cNvSpPr/>
          <p:nvPr/>
        </p:nvSpPr>
        <p:spPr>
          <a:xfrm>
            <a:off x="491412" y="4024286"/>
            <a:ext cx="217715" cy="167952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861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EEF9A-A049-AE22-47E8-0E615B20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EE602D9E-17BC-8B57-ED5A-9D2FE7A9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품목명 변경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여러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케이스 추가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11841-E70B-9305-FC14-548C423552A0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주문과 판매에 대한 주요 정보</a:t>
            </a:r>
            <a:r>
              <a:rPr lang="en-US" altLang="ko-KR" sz="1400" dirty="0"/>
              <a:t>(</a:t>
            </a:r>
            <a:r>
              <a:rPr lang="ko-KR" altLang="en-US" sz="1400" dirty="0"/>
              <a:t>주문 상태</a:t>
            </a:r>
            <a:r>
              <a:rPr lang="en-US" altLang="ko-KR" sz="1400" dirty="0"/>
              <a:t>, </a:t>
            </a:r>
            <a:r>
              <a:rPr lang="ko-KR" altLang="en-US" sz="1400" dirty="0"/>
              <a:t>판매 내역</a:t>
            </a:r>
            <a:r>
              <a:rPr lang="en-US" altLang="ko-KR" sz="1400" dirty="0"/>
              <a:t>, </a:t>
            </a:r>
            <a:r>
              <a:rPr lang="ko-KR" altLang="en-US" sz="1400" dirty="0"/>
              <a:t>결제 금액</a:t>
            </a:r>
            <a:r>
              <a:rPr lang="en-US" altLang="ko-KR" sz="1400" dirty="0"/>
              <a:t>, </a:t>
            </a:r>
            <a:r>
              <a:rPr lang="ko-KR" altLang="en-US" sz="1400" dirty="0"/>
              <a:t>고객 정보 등</a:t>
            </a:r>
            <a:r>
              <a:rPr lang="en-US" altLang="ko-KR" sz="1400" dirty="0"/>
              <a:t>)</a:t>
            </a:r>
            <a:r>
              <a:rPr lang="ko-KR" altLang="en-US" sz="1400" dirty="0"/>
              <a:t>를 통합하여 다양한 요약 이력을 확인할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5494E8-C424-DC98-CD7C-B3097A949B36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②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 주문</a:t>
            </a:r>
            <a:r>
              <a:rPr lang="en-US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</a:t>
            </a:r>
            <a:r>
              <a:rPr lang="en-US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요약 </a:t>
            </a:r>
            <a:endParaRPr lang="en-US" altLang="ko-KR" sz="1200" b="1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u="sng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주문</a:t>
            </a:r>
            <a:r>
              <a:rPr lang="en-US" altLang="ko-KR" sz="1200" u="sng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u="sng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 자동 번호로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주문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반품에 대한 상세 정보 조회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화면에서는 하나의 주문 흐름 안에서 주문 정보</a:t>
            </a:r>
            <a:r>
              <a:rPr lang="en-US" altLang="ko-KR" sz="1200" dirty="0"/>
              <a:t>, </a:t>
            </a:r>
            <a:r>
              <a:rPr lang="ko-KR" altLang="en-US" sz="1200" dirty="0"/>
              <a:t>판매 정보</a:t>
            </a:r>
            <a:r>
              <a:rPr lang="en-US" altLang="ko-KR" sz="1200" dirty="0"/>
              <a:t>, </a:t>
            </a:r>
            <a:r>
              <a:rPr lang="ko-KR" altLang="en-US" sz="1200" dirty="0"/>
              <a:t>반품 정보를 함께 확인할 수 있습니다</a:t>
            </a:r>
            <a:r>
              <a:rPr lang="en-US" altLang="ko-KR" sz="1200" dirty="0"/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★주문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과정에서 품목명이 변경된 경우</a:t>
            </a:r>
            <a:r>
              <a:rPr lang="en-US" altLang="ko-KR" sz="1200" dirty="0"/>
              <a:t>, </a:t>
            </a:r>
            <a:r>
              <a:rPr lang="ko-KR" altLang="en-US" sz="1200" dirty="0"/>
              <a:t>로열티에서 어떤 품목이 변경됐는지 확인 불가★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③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주문</a:t>
            </a:r>
            <a:r>
              <a:rPr lang="en-US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 </a:t>
            </a:r>
            <a:r>
              <a:rPr lang="ko-KR" altLang="en-US" sz="1200" b="1" dirty="0" err="1">
                <a:latin typeface="Noto Sans KR" panose="020B0200000000000000" pitchFamily="50" charset="-127"/>
                <a:ea typeface="나눔스퀘어" panose="020B0600000101010101" pitchFamily="50" charset="-127"/>
              </a:rPr>
              <a:t>상태값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해당 주문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 건의 상태 표시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(※ </a:t>
            </a:r>
            <a:r>
              <a:rPr lang="ko-KR" altLang="en-US" sz="1200" dirty="0"/>
              <a:t>슬라이드 </a:t>
            </a:r>
            <a:r>
              <a:rPr lang="en-US" altLang="ko-KR" sz="1200" dirty="0"/>
              <a:t>31 </a:t>
            </a:r>
            <a:r>
              <a:rPr lang="ko-KR" altLang="en-US" sz="1200" dirty="0"/>
              <a:t>참고하시길 바랍니다</a:t>
            </a:r>
            <a:r>
              <a:rPr lang="en-US" altLang="ko-KR" sz="1200" dirty="0"/>
              <a:t>.)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752A07-A014-5C97-92F6-CC0FC17D2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39" y="1803657"/>
            <a:ext cx="6102220" cy="139349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82D7390-DACD-5665-6F91-4140CB7961BD}"/>
              </a:ext>
            </a:extLst>
          </p:cNvPr>
          <p:cNvSpPr/>
          <p:nvPr/>
        </p:nvSpPr>
        <p:spPr>
          <a:xfrm>
            <a:off x="744998" y="2359230"/>
            <a:ext cx="645264" cy="86705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05A8763-C12B-6855-D9C7-03FDF2F8AB3C}"/>
              </a:ext>
            </a:extLst>
          </p:cNvPr>
          <p:cNvSpPr/>
          <p:nvPr/>
        </p:nvSpPr>
        <p:spPr>
          <a:xfrm>
            <a:off x="483769" y="228726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9D8C74-7DFD-D3AF-7A87-887379E05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337" y="3523451"/>
            <a:ext cx="6235372" cy="287735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5F60564-F56C-B0F9-7DD1-77CE491B792C}"/>
              </a:ext>
            </a:extLst>
          </p:cNvPr>
          <p:cNvSpPr/>
          <p:nvPr/>
        </p:nvSpPr>
        <p:spPr>
          <a:xfrm>
            <a:off x="1462336" y="3523450"/>
            <a:ext cx="6235371" cy="2877349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5F67CC2-E53B-3A08-BD8D-03FA3D07E318}"/>
              </a:ext>
            </a:extLst>
          </p:cNvPr>
          <p:cNvCxnSpPr>
            <a:endCxn id="8" idx="1"/>
          </p:cNvCxnSpPr>
          <p:nvPr/>
        </p:nvCxnSpPr>
        <p:spPr>
          <a:xfrm>
            <a:off x="1054359" y="3226286"/>
            <a:ext cx="407977" cy="1735839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9AA684-AB4C-A9F1-3609-5907ED367524}"/>
              </a:ext>
            </a:extLst>
          </p:cNvPr>
          <p:cNvSpPr/>
          <p:nvPr/>
        </p:nvSpPr>
        <p:spPr>
          <a:xfrm>
            <a:off x="1838279" y="3523448"/>
            <a:ext cx="233117" cy="13740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D251F4-047A-E971-6C23-8B3DC9CB1832}"/>
              </a:ext>
            </a:extLst>
          </p:cNvPr>
          <p:cNvSpPr/>
          <p:nvPr/>
        </p:nvSpPr>
        <p:spPr>
          <a:xfrm>
            <a:off x="1847610" y="4487610"/>
            <a:ext cx="233117" cy="13740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CDF875-B1A4-2A28-825E-D586DE5363EF}"/>
              </a:ext>
            </a:extLst>
          </p:cNvPr>
          <p:cNvSpPr/>
          <p:nvPr/>
        </p:nvSpPr>
        <p:spPr>
          <a:xfrm>
            <a:off x="1856941" y="5511138"/>
            <a:ext cx="233117" cy="13740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FCE1A4C-C315-693C-32BC-A405EA4294E2}"/>
              </a:ext>
            </a:extLst>
          </p:cNvPr>
          <p:cNvSpPr/>
          <p:nvPr/>
        </p:nvSpPr>
        <p:spPr>
          <a:xfrm>
            <a:off x="1856941" y="326686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4527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4E51-AF6D-9113-8696-426B0F92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A246E24C-D1FF-AA68-2877-320E6ED56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7534D-64E6-F85A-6D34-255D1930FADF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주문과 판매에 대한 주요 정보</a:t>
            </a:r>
            <a:r>
              <a:rPr lang="en-US" altLang="ko-KR" sz="1400" dirty="0"/>
              <a:t>(</a:t>
            </a:r>
            <a:r>
              <a:rPr lang="ko-KR" altLang="en-US" sz="1400" dirty="0"/>
              <a:t>주문 상태</a:t>
            </a:r>
            <a:r>
              <a:rPr lang="en-US" altLang="ko-KR" sz="1400" dirty="0"/>
              <a:t>, </a:t>
            </a:r>
            <a:r>
              <a:rPr lang="ko-KR" altLang="en-US" sz="1400" dirty="0"/>
              <a:t>판매 내역</a:t>
            </a:r>
            <a:r>
              <a:rPr lang="en-US" altLang="ko-KR" sz="1400" dirty="0"/>
              <a:t>, </a:t>
            </a:r>
            <a:r>
              <a:rPr lang="ko-KR" altLang="en-US" sz="1400" dirty="0"/>
              <a:t>결제 금액</a:t>
            </a:r>
            <a:r>
              <a:rPr lang="en-US" altLang="ko-KR" sz="1400" dirty="0"/>
              <a:t>, </a:t>
            </a:r>
            <a:r>
              <a:rPr lang="ko-KR" altLang="en-US" sz="1400" dirty="0"/>
              <a:t>고객 정보 등</a:t>
            </a:r>
            <a:r>
              <a:rPr lang="en-US" altLang="ko-KR" sz="1400" dirty="0"/>
              <a:t>)</a:t>
            </a:r>
            <a:r>
              <a:rPr lang="ko-KR" altLang="en-US" sz="1400" dirty="0"/>
              <a:t>를 통합하여 다양한 요약 이력을 확인할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EE1AA-EBB4-DEF4-40F3-42DD801D567C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④ 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주문 요약의 모두 보기</a:t>
            </a:r>
            <a:endParaRPr lang="en-US" altLang="ko-KR" sz="1200" b="1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하나의 판매 번호에 여러 주문 번호가 연결된 경우</a:t>
            </a:r>
            <a:r>
              <a:rPr lang="en-US" altLang="ko-KR" sz="1200" dirty="0"/>
              <a:t>, </a:t>
            </a:r>
            <a:r>
              <a:rPr lang="ko-KR" altLang="en-US" sz="1200" dirty="0"/>
              <a:t>주문 요약의 모두 보기를 통해 전체 주문 내역을 확인할 수 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주문 요약 영역에는 연결된 주문 건 중 가장 최신 주문 건이 대표로 표시됩니다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⑤ 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 요약의 모두 보기</a:t>
            </a:r>
            <a:endParaRPr lang="en-US" altLang="ko-KR" sz="1200" b="1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하나의 주문 번호에 여러 판매 번호가 연결된 경우</a:t>
            </a:r>
            <a:r>
              <a:rPr lang="en-US" altLang="ko-KR" sz="1200" dirty="0"/>
              <a:t>, </a:t>
            </a:r>
            <a:r>
              <a:rPr lang="ko-KR" altLang="en-US" sz="1200" dirty="0"/>
              <a:t>판매 요약의 모두 보기를 통해 전체 판매 내역을 확인하실 수 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판매 요약 영역에는 연결된 판매 건 중 가장 최신 판매 건이 대표로 표시됩니다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br>
              <a:rPr lang="en-US" altLang="ko-KR" sz="1200" dirty="0"/>
            </a:br>
            <a:r>
              <a:rPr lang="en-US" altLang="ko-KR" sz="1200" b="1" dirty="0"/>
              <a:t>※ </a:t>
            </a:r>
            <a:r>
              <a:rPr lang="ko-KR" altLang="en-US" sz="1200" b="1" dirty="0"/>
              <a:t>주문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판매 번호로 해당 페이지 이동 가능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DD0E9A-6EF1-4891-70F7-B63D6159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59" y="1913726"/>
            <a:ext cx="6235372" cy="287735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EFEF7C-8A09-F328-8320-5F94F6D1F718}"/>
              </a:ext>
            </a:extLst>
          </p:cNvPr>
          <p:cNvSpPr/>
          <p:nvPr/>
        </p:nvSpPr>
        <p:spPr>
          <a:xfrm>
            <a:off x="1679401" y="2101145"/>
            <a:ext cx="233117" cy="13740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5988C2-CB73-18A2-C253-811185DA3B09}"/>
              </a:ext>
            </a:extLst>
          </p:cNvPr>
          <p:cNvSpPr/>
          <p:nvPr/>
        </p:nvSpPr>
        <p:spPr>
          <a:xfrm>
            <a:off x="1451155" y="3073659"/>
            <a:ext cx="233117" cy="13740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530A54B-9804-EF2D-6CA4-B1A9DDE42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494" y="2485207"/>
            <a:ext cx="6815680" cy="128896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B14B825-CB54-ACFA-36E3-26AA75AA4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496" y="4372793"/>
            <a:ext cx="6815679" cy="1323910"/>
          </a:xfrm>
          <a:prstGeom prst="rect">
            <a:avLst/>
          </a:prstGeom>
          <a:ln w="6350" cap="sq">
            <a:solidFill>
              <a:srgbClr val="000000"/>
            </a:solidFill>
            <a:prstDash val="sysDot"/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34E2F36-F8FB-43B3-06D0-0FAE9C68C85B}"/>
              </a:ext>
            </a:extLst>
          </p:cNvPr>
          <p:cNvSpPr/>
          <p:nvPr/>
        </p:nvSpPr>
        <p:spPr>
          <a:xfrm>
            <a:off x="2076494" y="2464129"/>
            <a:ext cx="6815679" cy="128896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580E5E-8681-78E5-9D97-8EC8A87E1EDE}"/>
              </a:ext>
            </a:extLst>
          </p:cNvPr>
          <p:cNvSpPr/>
          <p:nvPr/>
        </p:nvSpPr>
        <p:spPr>
          <a:xfrm>
            <a:off x="2076495" y="4355173"/>
            <a:ext cx="6815679" cy="134153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8203CFE-6B0F-4E0D-D98A-5A9DADB658A3}"/>
              </a:ext>
            </a:extLst>
          </p:cNvPr>
          <p:cNvCxnSpPr>
            <a:cxnSpLocks/>
            <a:stCxn id="11" idx="3"/>
            <a:endCxn id="3" idx="0"/>
          </p:cNvCxnSpPr>
          <p:nvPr/>
        </p:nvCxnSpPr>
        <p:spPr>
          <a:xfrm>
            <a:off x="1912518" y="2169845"/>
            <a:ext cx="3571816" cy="294284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83AE492-D905-118B-7E66-FB27C29D8E2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684272" y="3142359"/>
            <a:ext cx="3800061" cy="1198355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5AC29AFF-5C59-07AB-3203-3C1A23688641}"/>
              </a:ext>
            </a:extLst>
          </p:cNvPr>
          <p:cNvSpPr/>
          <p:nvPr/>
        </p:nvSpPr>
        <p:spPr>
          <a:xfrm>
            <a:off x="5484333" y="409790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5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434FD95-9A7A-7C54-F81A-659A3D79EFE0}"/>
              </a:ext>
            </a:extLst>
          </p:cNvPr>
          <p:cNvSpPr/>
          <p:nvPr/>
        </p:nvSpPr>
        <p:spPr>
          <a:xfrm>
            <a:off x="5462063" y="221534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6030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8B84D-7E35-2BD1-FF2E-B68B8FEE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55FFD824-2083-6FD3-112A-64B22D49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64E90F-6E0B-A94A-C6C5-39527D7BD4D5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판매 요약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상세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번호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매장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상태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일자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정보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금액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상품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수량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수단별 판매 입금 금액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적립 포인트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진행 상태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미진행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진입 전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진행중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진행 시작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진행 완료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완료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진행 취소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판매 취소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②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 반품 요약 </a:t>
            </a:r>
            <a:endParaRPr lang="en-US" altLang="ko-KR" sz="1200" b="1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상세 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번호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매장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상태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일자 조회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정보 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상품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수량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환불 금액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복원 포인트 조회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진행 상태 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 err="1">
                <a:latin typeface="Noto Sans KR" panose="020B0200000000000000" pitchFamily="50" charset="-127"/>
                <a:ea typeface="나눔스퀘어" panose="020B0600000101010101" pitchFamily="50" charset="-127"/>
              </a:rPr>
              <a:t>미진행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진입 전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진행중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진행 시작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진행 완료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완료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진행 취소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반품 취소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)</a:t>
            </a: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E8631756-C4BA-8A2F-5525-E3D05A867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986859"/>
              </p:ext>
            </p:extLst>
          </p:nvPr>
        </p:nvGraphicFramePr>
        <p:xfrm>
          <a:off x="370009" y="1699019"/>
          <a:ext cx="8204824" cy="456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844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구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상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태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값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설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844">
                <a:tc rowSpan="4"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주문</a:t>
                      </a: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나눔스퀘어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요약</a:t>
                      </a:r>
                      <a:endParaRPr sz="1000" b="1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미진행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주문이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생성되지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않은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상태</a:t>
                      </a:r>
                      <a:endParaRPr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4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진행중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접수, 진열승인, 제작의뢰, 제작완료, 본사납품, 출고예정, 본사출고, 인도예정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84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인도완료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인도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84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주문 취소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주문 취소 상태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844">
                <a:tc rowSpan="5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B2B2B"/>
                          </a:solidFill>
                          <a:latin typeface="나눔스퀘어"/>
                        </a:rPr>
                        <a:t>판매 요약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미진행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판매 건이 생성되지 않은 상태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84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판매 완료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판매 완료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84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판매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입금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취소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상태</a:t>
                      </a:r>
                      <a:endParaRPr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84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부분 판매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일부만 판매처리 되었을 때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84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판매 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판매 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844">
                <a:tc rowSpan="4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B2B2B"/>
                          </a:solidFill>
                          <a:latin typeface="나눔스퀘어"/>
                        </a:rPr>
                        <a:t>반품요약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미진행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반품이 생성되지 않은 상태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84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반품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반품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84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부분 반품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일부만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반품처리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되었을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때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84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나눔스퀘어"/>
                        </a:rPr>
                        <a:t>반품 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반품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나눔스퀘어"/>
                        </a:rPr>
                        <a:t>삭제</a:t>
                      </a:r>
                      <a:endParaRPr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415659A-8969-E9FD-D056-6C673027384D}"/>
              </a:ext>
            </a:extLst>
          </p:cNvPr>
          <p:cNvSpPr txBox="1"/>
          <p:nvPr/>
        </p:nvSpPr>
        <p:spPr>
          <a:xfrm>
            <a:off x="370009" y="1201305"/>
            <a:ext cx="11274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latin typeface="맑은 고딕"/>
              </a:rPr>
              <a:t>▼ </a:t>
            </a:r>
            <a:r>
              <a:rPr sz="1400" dirty="0" err="1">
                <a:solidFill>
                  <a:srgbClr val="2B2B2B"/>
                </a:solidFill>
                <a:latin typeface="맑은 고딕"/>
              </a:rPr>
              <a:t>주문</a:t>
            </a:r>
            <a:r>
              <a:rPr sz="1400" dirty="0">
                <a:solidFill>
                  <a:srgbClr val="2B2B2B"/>
                </a:solidFill>
                <a:latin typeface="맑은 고딕"/>
              </a:rPr>
              <a:t>/</a:t>
            </a:r>
            <a:r>
              <a:rPr sz="1400" dirty="0" err="1">
                <a:solidFill>
                  <a:srgbClr val="2B2B2B"/>
                </a:solidFill>
                <a:latin typeface="맑은 고딕"/>
              </a:rPr>
              <a:t>판매</a:t>
            </a:r>
            <a:r>
              <a:rPr sz="1400" dirty="0">
                <a:solidFill>
                  <a:srgbClr val="2B2B2B"/>
                </a:solidFill>
                <a:latin typeface="맑은 고딕"/>
              </a:rPr>
              <a:t>/</a:t>
            </a:r>
            <a:r>
              <a:rPr sz="1400" dirty="0" err="1">
                <a:solidFill>
                  <a:srgbClr val="2B2B2B"/>
                </a:solidFill>
                <a:latin typeface="맑은 고딕"/>
              </a:rPr>
              <a:t>반품</a:t>
            </a:r>
            <a:r>
              <a:rPr sz="1400" dirty="0">
                <a:solidFill>
                  <a:srgbClr val="2B2B2B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2B2B2B"/>
                </a:solidFill>
                <a:latin typeface="맑은 고딕"/>
              </a:rPr>
              <a:t>상태값</a:t>
            </a:r>
            <a:r>
              <a:rPr lang="en-US" sz="1400" dirty="0">
                <a:solidFill>
                  <a:srgbClr val="2B2B2B"/>
                </a:solidFill>
                <a:latin typeface="맑은 고딕"/>
              </a:rPr>
              <a:t> </a:t>
            </a:r>
            <a:r>
              <a:rPr lang="ko-KR" altLang="en-US" sz="1400" dirty="0">
                <a:solidFill>
                  <a:srgbClr val="2B2B2B"/>
                </a:solidFill>
                <a:latin typeface="맑은 고딕"/>
              </a:rPr>
              <a:t>요약표</a:t>
            </a:r>
            <a:endParaRPr sz="1400" dirty="0">
              <a:solidFill>
                <a:srgbClr val="2B2B2B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075055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D00D5-3204-1FE0-A3B5-6C413431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B91DF2A8-DDA3-FB34-A807-2C6AC7D65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하단 탭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 이력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33FE4-456B-052B-57B2-C6656D35CFA8}"/>
              </a:ext>
            </a:extLst>
          </p:cNvPr>
          <p:cNvSpPr txBox="1"/>
          <p:nvPr/>
        </p:nvSpPr>
        <p:spPr>
          <a:xfrm>
            <a:off x="370009" y="900317"/>
            <a:ext cx="8596708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각 페이지에서는 해당 건과 연결된 주문 내역을 확인할 수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주문페이지에서는 해당 주문 건의 주문 내역을</a:t>
            </a:r>
            <a:r>
              <a:rPr lang="en-US" altLang="ko-KR" sz="1400" dirty="0"/>
              <a:t>, </a:t>
            </a:r>
            <a:r>
              <a:rPr lang="ko-KR" altLang="en-US" sz="1400" dirty="0"/>
              <a:t>판매페이지에서는 해당 판매 건의 판매 내역</a:t>
            </a:r>
            <a:r>
              <a:rPr lang="en-US" altLang="ko-KR" sz="1400" dirty="0"/>
              <a:t>, </a:t>
            </a:r>
            <a:r>
              <a:rPr lang="ko-KR" altLang="en-US" sz="1400" dirty="0"/>
              <a:t>반품페이지에서는 해당 반품 건의 반품 내역에 대한 히스토리를 확인할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E4D930-F173-EEE4-992A-236CE6EC2857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각 페이지 검색 및 목록은 주문 번호 및 판매 번호로 조회하실 수 있습니다</a:t>
            </a:r>
            <a:r>
              <a:rPr lang="en-US" altLang="ko-KR" sz="1200" dirty="0"/>
              <a:t>. 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★ </a:t>
            </a:r>
            <a:r>
              <a:rPr lang="ko-KR" altLang="en-US" sz="1200" dirty="0"/>
              <a:t>사용자 컬럼은 </a:t>
            </a:r>
            <a:r>
              <a:rPr lang="en-US" altLang="ko-KR" sz="1200" dirty="0"/>
              <a:t>milvus</a:t>
            </a:r>
            <a:r>
              <a:rPr lang="ko-KR" altLang="en-US" sz="1200" dirty="0"/>
              <a:t>로 표시됩니다</a:t>
            </a:r>
            <a:r>
              <a:rPr lang="en-US" altLang="ko-KR" sz="1200" dirty="0"/>
              <a:t>. </a:t>
            </a:r>
            <a:r>
              <a:rPr lang="ko-KR" altLang="en-US" sz="1200" dirty="0"/>
              <a:t>이 값은 실제 업무 사용자가 아니라</a:t>
            </a:r>
            <a:r>
              <a:rPr lang="en-US" altLang="ko-KR" sz="1200" dirty="0"/>
              <a:t>, </a:t>
            </a:r>
            <a:r>
              <a:rPr lang="ko-KR" altLang="en-US" sz="1200" dirty="0"/>
              <a:t>주문에 대한 변경 사항을 </a:t>
            </a:r>
            <a:r>
              <a:rPr lang="en-US" altLang="ko-KR" sz="1200" dirty="0"/>
              <a:t>Salesforce</a:t>
            </a:r>
            <a:r>
              <a:rPr lang="ko-KR" altLang="en-US" sz="1200" dirty="0"/>
              <a:t>에 반영한 계정을 기준으로 노출됩니다</a:t>
            </a:r>
            <a:r>
              <a:rPr lang="en-US" altLang="ko-KR" sz="1200" dirty="0"/>
              <a:t>. </a:t>
            </a:r>
            <a:r>
              <a:rPr lang="ko-KR" altLang="en-US" sz="1200" dirty="0"/>
              <a:t>현재는 해당 이력이 로열티</a:t>
            </a:r>
            <a:r>
              <a:rPr lang="en-US" altLang="ko-KR" sz="1200" dirty="0"/>
              <a:t>(Milvus) </a:t>
            </a:r>
            <a:r>
              <a:rPr lang="ko-KR" altLang="en-US" sz="1200" dirty="0"/>
              <a:t>연동 계정을 통해 저장되고 있어 </a:t>
            </a:r>
            <a:r>
              <a:rPr lang="en-US" altLang="ko-KR" sz="1200" dirty="0"/>
              <a:t>milvus</a:t>
            </a:r>
            <a:r>
              <a:rPr lang="ko-KR" altLang="en-US" sz="1200" dirty="0"/>
              <a:t>로 표시되고 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참고 부탁드립니다</a:t>
            </a:r>
            <a:r>
              <a:rPr lang="en-US" altLang="ko-KR" sz="1200" dirty="0"/>
              <a:t>.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★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2E202-8D27-AD11-5D86-77116D04838E}"/>
              </a:ext>
            </a:extLst>
          </p:cNvPr>
          <p:cNvSpPr txBox="1"/>
          <p:nvPr/>
        </p:nvSpPr>
        <p:spPr>
          <a:xfrm>
            <a:off x="370009" y="4935371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▼반품페이지의 주문 내역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CEE83-8EB3-91DD-4AE5-258ADA6A3A51}"/>
              </a:ext>
            </a:extLst>
          </p:cNvPr>
          <p:cNvSpPr txBox="1"/>
          <p:nvPr/>
        </p:nvSpPr>
        <p:spPr>
          <a:xfrm>
            <a:off x="370009" y="3412044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▼판매페이지의 주문 내역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3EB9F6-0C0D-A5E1-BFCA-60EFB34DB3C3}"/>
              </a:ext>
            </a:extLst>
          </p:cNvPr>
          <p:cNvSpPr txBox="1"/>
          <p:nvPr/>
        </p:nvSpPr>
        <p:spPr>
          <a:xfrm>
            <a:off x="370009" y="1920533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▼주문페이지의 주문 내역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E24CDC3-F41E-1887-2CF5-3D6A6AC79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31" y="2238875"/>
            <a:ext cx="7489932" cy="109944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E161719-0E22-E275-1394-F5D420E6E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1" y="3748418"/>
            <a:ext cx="7166158" cy="1120792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78418B7-A5C6-1068-AE63-61114E3F7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31" y="5265198"/>
            <a:ext cx="7166158" cy="106721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0" name="별: 꼭짓점 5개 29">
            <a:extLst>
              <a:ext uri="{FF2B5EF4-FFF2-40B4-BE49-F238E27FC236}">
                <a16:creationId xmlns:a16="http://schemas.microsoft.com/office/drawing/2014/main" id="{955D6B93-6D90-3648-D567-BD9A26DBC951}"/>
              </a:ext>
            </a:extLst>
          </p:cNvPr>
          <p:cNvSpPr/>
          <p:nvPr/>
        </p:nvSpPr>
        <p:spPr>
          <a:xfrm>
            <a:off x="3045486" y="2800057"/>
            <a:ext cx="234871" cy="215999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7ABF40-B401-4DCC-43C4-FE45E2126024}"/>
              </a:ext>
            </a:extLst>
          </p:cNvPr>
          <p:cNvSpPr/>
          <p:nvPr/>
        </p:nvSpPr>
        <p:spPr>
          <a:xfrm>
            <a:off x="3345558" y="2624298"/>
            <a:ext cx="445392" cy="59989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B96EB16-902B-2586-D02D-E9A0A66A975F}"/>
              </a:ext>
            </a:extLst>
          </p:cNvPr>
          <p:cNvSpPr/>
          <p:nvPr/>
        </p:nvSpPr>
        <p:spPr>
          <a:xfrm>
            <a:off x="3232246" y="4151962"/>
            <a:ext cx="445392" cy="58196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EFC0697-F706-3E97-C282-963C420980DB}"/>
              </a:ext>
            </a:extLst>
          </p:cNvPr>
          <p:cNvSpPr/>
          <p:nvPr/>
        </p:nvSpPr>
        <p:spPr>
          <a:xfrm>
            <a:off x="3232246" y="5620086"/>
            <a:ext cx="445392" cy="58068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90896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9F88-2B96-F088-B74A-B8F5342A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AA90B483-0F20-8DF6-8C78-06E258EE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하단 탭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 이력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CC456-3278-F4DB-D5FC-E1B4E3DEFC70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주문과 판매에 대한 주요 정보</a:t>
            </a:r>
            <a:r>
              <a:rPr lang="en-US" altLang="ko-KR" sz="1400" dirty="0"/>
              <a:t>(</a:t>
            </a:r>
            <a:r>
              <a:rPr lang="ko-KR" altLang="en-US" sz="1400" dirty="0"/>
              <a:t>주문 상태</a:t>
            </a:r>
            <a:r>
              <a:rPr lang="en-US" altLang="ko-KR" sz="1400" dirty="0"/>
              <a:t>, </a:t>
            </a:r>
            <a:r>
              <a:rPr lang="ko-KR" altLang="en-US" sz="1400" dirty="0"/>
              <a:t>판매 내역</a:t>
            </a:r>
            <a:r>
              <a:rPr lang="en-US" altLang="ko-KR" sz="1400" dirty="0"/>
              <a:t>, </a:t>
            </a:r>
            <a:r>
              <a:rPr lang="ko-KR" altLang="en-US" sz="1400" dirty="0"/>
              <a:t>결제 금액</a:t>
            </a:r>
            <a:r>
              <a:rPr lang="en-US" altLang="ko-KR" sz="1400" dirty="0"/>
              <a:t>, </a:t>
            </a:r>
            <a:r>
              <a:rPr lang="ko-KR" altLang="en-US" sz="1400" dirty="0"/>
              <a:t>고객 정보 등</a:t>
            </a:r>
            <a:r>
              <a:rPr lang="en-US" altLang="ko-KR" sz="1400" dirty="0"/>
              <a:t>)</a:t>
            </a:r>
            <a:r>
              <a:rPr lang="ko-KR" altLang="en-US" sz="1400" dirty="0"/>
              <a:t>를 통합하여 다양한 상세 이력을 확인할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253B1B-1047-73D3-7018-C8E46EBDF483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주문 내역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해당 주문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판매 에 대한 데이터 항목의 상세 정보 조회 가능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※  </a:t>
            </a:r>
            <a:r>
              <a:rPr lang="ko-KR" altLang="en-US" sz="1200" dirty="0"/>
              <a:t>주문 내역 </a:t>
            </a:r>
            <a:r>
              <a:rPr lang="en-US" altLang="ko-KR" sz="1200" dirty="0"/>
              <a:t>– </a:t>
            </a:r>
            <a:r>
              <a:rPr lang="ko-KR" altLang="en-US" sz="1200" dirty="0"/>
              <a:t>필드 항목에 대한 자세한 설명은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– </a:t>
            </a:r>
            <a:r>
              <a:rPr lang="ko-KR" altLang="en-US" sz="1200" dirty="0">
                <a:latin typeface="맑은 고딕" panose="020B0503020000020004" pitchFamily="50" charset="-127"/>
              </a:rPr>
              <a:t>주문 내역에서 조회되는 카테고리 항목을 요약표를 참고하시길 바랍니다</a:t>
            </a:r>
            <a:r>
              <a:rPr lang="en-US" altLang="ko-KR" sz="1200" dirty="0">
                <a:latin typeface="맑은 고딕" panose="020B0503020000020004" pitchFamily="50" charset="-127"/>
              </a:rPr>
              <a:t>.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5B63D-C26A-02EB-EA51-CB98F4372617}"/>
              </a:ext>
            </a:extLst>
          </p:cNvPr>
          <p:cNvSpPr txBox="1"/>
          <p:nvPr/>
        </p:nvSpPr>
        <p:spPr>
          <a:xfrm>
            <a:off x="370010" y="1874038"/>
            <a:ext cx="7978285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▶ 케이스 </a:t>
            </a:r>
            <a:r>
              <a:rPr lang="en-US" altLang="ko-KR" sz="1200" b="1" dirty="0">
                <a:solidFill>
                  <a:srgbClr val="2B2B2B"/>
                </a:solidFill>
                <a:latin typeface="나눔스퀘어"/>
              </a:rPr>
              <a:t>1 : </a:t>
            </a:r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주문 생성 → 판매 완료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3A3311A-15B3-D9E3-6C04-DDEDCCD4E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836788"/>
              </p:ext>
            </p:extLst>
          </p:nvPr>
        </p:nvGraphicFramePr>
        <p:xfrm>
          <a:off x="439300" y="2133971"/>
          <a:ext cx="797827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49">
                  <a:extLst>
                    <a:ext uri="{9D8B030D-6E8A-4147-A177-3AD203B41FA5}">
                      <a16:colId xmlns:a16="http://schemas.microsoft.com/office/drawing/2014/main" val="3823665161"/>
                    </a:ext>
                  </a:extLst>
                </a:gridCol>
                <a:gridCol w="1617655">
                  <a:extLst>
                    <a:ext uri="{9D8B030D-6E8A-4147-A177-3AD203B41FA5}">
                      <a16:colId xmlns:a16="http://schemas.microsoft.com/office/drawing/2014/main" val="3452798009"/>
                    </a:ext>
                  </a:extLst>
                </a:gridCol>
                <a:gridCol w="1423539">
                  <a:extLst>
                    <a:ext uri="{9D8B030D-6E8A-4147-A177-3AD203B41FA5}">
                      <a16:colId xmlns:a16="http://schemas.microsoft.com/office/drawing/2014/main" val="2902695832"/>
                    </a:ext>
                  </a:extLst>
                </a:gridCol>
                <a:gridCol w="1617655">
                  <a:extLst>
                    <a:ext uri="{9D8B030D-6E8A-4147-A177-3AD203B41FA5}">
                      <a16:colId xmlns:a16="http://schemas.microsoft.com/office/drawing/2014/main" val="3013263762"/>
                    </a:ext>
                  </a:extLst>
                </a:gridCol>
                <a:gridCol w="2801781">
                  <a:extLst>
                    <a:ext uri="{9D8B030D-6E8A-4147-A177-3AD203B41FA5}">
                      <a16:colId xmlns:a16="http://schemas.microsoft.com/office/drawing/2014/main" val="2412782021"/>
                    </a:ext>
                  </a:extLst>
                </a:gridCol>
              </a:tblGrid>
              <a:tr h="2002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나눔스퀘어"/>
                        </a:rPr>
                        <a:t>순서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나눔스퀘어"/>
                        </a:rPr>
                        <a:t>변경 필드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나눔스퀘어"/>
                        </a:rPr>
                        <a:t>변경 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나눔스퀘어"/>
                        </a:rPr>
                        <a:t>변경 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나눔스퀘어"/>
                        </a:rPr>
                        <a:t>설명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37350"/>
                  </a:ext>
                </a:extLst>
              </a:tr>
              <a:tr h="185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1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작성됨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-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자동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주문 내역 최초 기록 시 자동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013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2</a:t>
                      </a:r>
                      <a:endParaRPr lang="ko-KR" altLang="en-US" sz="1000" b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주문 금액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₩</a:t>
                      </a:r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0</a:t>
                      </a:r>
                      <a:endParaRPr lang="ko-KR" altLang="en-US" sz="1000" b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₩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5,788,000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주문 금액 설정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220365"/>
                  </a:ext>
                </a:extLst>
              </a:tr>
              <a:tr h="185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3</a:t>
                      </a:r>
                      <a:endParaRPr lang="ko-KR" altLang="en-US" sz="1000" b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진행 상태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주문 승인중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판매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주문에서 판매 완료로 처리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783762"/>
                  </a:ext>
                </a:extLst>
              </a:tr>
              <a:tr h="185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4</a:t>
                      </a:r>
                      <a:endParaRPr lang="ko-KR" altLang="en-US" sz="1000" b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판매 구분 코드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주문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판매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주문에서 판매로 구분 변경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7327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AAB0977-AFD5-25A6-5DAA-DB84FCCEE706}"/>
              </a:ext>
            </a:extLst>
          </p:cNvPr>
          <p:cNvSpPr txBox="1"/>
          <p:nvPr/>
        </p:nvSpPr>
        <p:spPr>
          <a:xfrm>
            <a:off x="370007" y="5016764"/>
            <a:ext cx="7978285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▶ 케이스 </a:t>
            </a:r>
            <a:r>
              <a:rPr lang="en-US" altLang="ko-KR" sz="1200" b="1" dirty="0">
                <a:solidFill>
                  <a:srgbClr val="2B2B2B"/>
                </a:solidFill>
                <a:latin typeface="나눔스퀘어"/>
              </a:rPr>
              <a:t>3 : </a:t>
            </a:r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판매 삭제 </a:t>
            </a:r>
            <a:r>
              <a:rPr lang="en-US" altLang="ko-KR" sz="1200" b="1" dirty="0">
                <a:solidFill>
                  <a:srgbClr val="2B2B2B"/>
                </a:solidFill>
                <a:latin typeface="나눔스퀘어"/>
              </a:rPr>
              <a:t>/ </a:t>
            </a:r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반품 삭제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61A832C-7589-D2FB-2CF7-FD1CD200C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715376"/>
              </p:ext>
            </p:extLst>
          </p:nvPr>
        </p:nvGraphicFramePr>
        <p:xfrm>
          <a:off x="439297" y="5285225"/>
          <a:ext cx="7978279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49">
                  <a:extLst>
                    <a:ext uri="{9D8B030D-6E8A-4147-A177-3AD203B41FA5}">
                      <a16:colId xmlns:a16="http://schemas.microsoft.com/office/drawing/2014/main" val="1227447837"/>
                    </a:ext>
                  </a:extLst>
                </a:gridCol>
                <a:gridCol w="1617655">
                  <a:extLst>
                    <a:ext uri="{9D8B030D-6E8A-4147-A177-3AD203B41FA5}">
                      <a16:colId xmlns:a16="http://schemas.microsoft.com/office/drawing/2014/main" val="1202705837"/>
                    </a:ext>
                  </a:extLst>
                </a:gridCol>
                <a:gridCol w="1423539">
                  <a:extLst>
                    <a:ext uri="{9D8B030D-6E8A-4147-A177-3AD203B41FA5}">
                      <a16:colId xmlns:a16="http://schemas.microsoft.com/office/drawing/2014/main" val="4243793354"/>
                    </a:ext>
                  </a:extLst>
                </a:gridCol>
                <a:gridCol w="1617655">
                  <a:extLst>
                    <a:ext uri="{9D8B030D-6E8A-4147-A177-3AD203B41FA5}">
                      <a16:colId xmlns:a16="http://schemas.microsoft.com/office/drawing/2014/main" val="998603695"/>
                    </a:ext>
                  </a:extLst>
                </a:gridCol>
                <a:gridCol w="2801781">
                  <a:extLst>
                    <a:ext uri="{9D8B030D-6E8A-4147-A177-3AD203B41FA5}">
                      <a16:colId xmlns:a16="http://schemas.microsoft.com/office/drawing/2014/main" val="1836054083"/>
                    </a:ext>
                  </a:extLst>
                </a:gridCol>
              </a:tblGrid>
              <a:tr h="2002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순서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변경 필드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변경 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변경 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나눔스퀘어"/>
                        </a:rPr>
                        <a:t>설명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215620"/>
                  </a:ext>
                </a:extLst>
              </a:tr>
              <a:tr h="185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1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진행 상태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판매 완료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판매 삭제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판매 삭제 처리 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반품 삭제도 동일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)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545759"/>
                  </a:ext>
                </a:extLst>
              </a:tr>
              <a:tr h="185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2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삭제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□ </a:t>
                      </a:r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미체크</a:t>
                      </a:r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)</a:t>
                      </a:r>
                      <a:endParaRPr lang="ko-KR" altLang="en-US" sz="1000" b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☑ </a:t>
                      </a:r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체크</a:t>
                      </a:r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)</a:t>
                      </a:r>
                      <a:endParaRPr lang="ko-KR" altLang="en-US" sz="1000" b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삭제 여부 변경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353644"/>
                  </a:ext>
                </a:extLst>
              </a:tr>
              <a:tr h="185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3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삭제 일시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-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삭제 시점 자동 기록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삭제 일시 자동 기록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34084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BDE95CD-ECAA-65EF-A0FD-84297AD20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785599"/>
              </p:ext>
            </p:extLst>
          </p:nvPr>
        </p:nvGraphicFramePr>
        <p:xfrm>
          <a:off x="439297" y="3849565"/>
          <a:ext cx="7978279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49">
                  <a:extLst>
                    <a:ext uri="{9D8B030D-6E8A-4147-A177-3AD203B41FA5}">
                      <a16:colId xmlns:a16="http://schemas.microsoft.com/office/drawing/2014/main" val="1227447837"/>
                    </a:ext>
                  </a:extLst>
                </a:gridCol>
                <a:gridCol w="1617655">
                  <a:extLst>
                    <a:ext uri="{9D8B030D-6E8A-4147-A177-3AD203B41FA5}">
                      <a16:colId xmlns:a16="http://schemas.microsoft.com/office/drawing/2014/main" val="1202705837"/>
                    </a:ext>
                  </a:extLst>
                </a:gridCol>
                <a:gridCol w="1423539">
                  <a:extLst>
                    <a:ext uri="{9D8B030D-6E8A-4147-A177-3AD203B41FA5}">
                      <a16:colId xmlns:a16="http://schemas.microsoft.com/office/drawing/2014/main" val="4243793354"/>
                    </a:ext>
                  </a:extLst>
                </a:gridCol>
                <a:gridCol w="1617655">
                  <a:extLst>
                    <a:ext uri="{9D8B030D-6E8A-4147-A177-3AD203B41FA5}">
                      <a16:colId xmlns:a16="http://schemas.microsoft.com/office/drawing/2014/main" val="998603695"/>
                    </a:ext>
                  </a:extLst>
                </a:gridCol>
                <a:gridCol w="2801781">
                  <a:extLst>
                    <a:ext uri="{9D8B030D-6E8A-4147-A177-3AD203B41FA5}">
                      <a16:colId xmlns:a16="http://schemas.microsoft.com/office/drawing/2014/main" val="1836054083"/>
                    </a:ext>
                  </a:extLst>
                </a:gridCol>
              </a:tblGrid>
              <a:tr h="234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순서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변경 필드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변경 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나눔스퀘어"/>
                        </a:rPr>
                        <a:t>변경 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나눔스퀘어"/>
                        </a:rPr>
                        <a:t>설명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215620"/>
                  </a:ext>
                </a:extLst>
              </a:tr>
              <a:tr h="185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1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작성됨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-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자동 생성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주문 내역 최초 기록 시 자동 생성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545759"/>
                  </a:ext>
                </a:extLst>
              </a:tr>
              <a:tr h="185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2</a:t>
                      </a:r>
                      <a:endParaRPr lang="ko-KR" altLang="en-US" sz="1000" b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주문 금액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₩</a:t>
                      </a:r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0</a:t>
                      </a:r>
                      <a:endParaRPr lang="ko-KR" altLang="en-US" sz="1000" b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₩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5,788,000</a:t>
                      </a:r>
                      <a:endParaRPr lang="ko-KR" altLang="en-US" sz="1000" b="0" dirty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주문 금액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353644"/>
                  </a:ext>
                </a:extLst>
              </a:tr>
              <a:tr h="185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3</a:t>
                      </a:r>
                      <a:endParaRPr lang="ko-KR" altLang="en-US" sz="1000" b="0">
                        <a:solidFill>
                          <a:srgbClr val="2B2B2B"/>
                        </a:solidFill>
                        <a:latin typeface="나눔스퀘어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진행 상태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rgbClr val="2B2B2B"/>
                          </a:solidFill>
                          <a:latin typeface="나눔스퀘어"/>
                        </a:rPr>
                        <a:t>주문 승인중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반품 완료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주문 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-&gt; </a:t>
                      </a:r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판매 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-&gt;</a:t>
                      </a:r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나눔스퀘어"/>
                        </a:rPr>
                        <a:t> 반품 완료로 처리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3408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E8E1FFE-5243-8782-1A53-0F1C863E70A4}"/>
              </a:ext>
            </a:extLst>
          </p:cNvPr>
          <p:cNvSpPr txBox="1"/>
          <p:nvPr/>
        </p:nvSpPr>
        <p:spPr>
          <a:xfrm>
            <a:off x="370008" y="3572566"/>
            <a:ext cx="7978285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▶ 케이스 </a:t>
            </a:r>
            <a:r>
              <a:rPr lang="en-US" altLang="ko-KR" sz="1200" b="1" dirty="0">
                <a:solidFill>
                  <a:srgbClr val="2B2B2B"/>
                </a:solidFill>
                <a:latin typeface="나눔스퀘어"/>
              </a:rPr>
              <a:t>2 : </a:t>
            </a:r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주문 생성 → 판매 완료 </a:t>
            </a:r>
            <a:r>
              <a:rPr lang="en-US" altLang="ko-KR" sz="1200" b="1" dirty="0">
                <a:solidFill>
                  <a:srgbClr val="2B2B2B"/>
                </a:solidFill>
                <a:latin typeface="나눔스퀘어"/>
              </a:rPr>
              <a:t>-&gt; </a:t>
            </a:r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반품 완료</a:t>
            </a:r>
          </a:p>
        </p:txBody>
      </p:sp>
    </p:spTree>
    <p:extLst>
      <p:ext uri="{BB962C8B-B14F-4D97-AF65-F5344CB8AC3E}">
        <p14:creationId xmlns:p14="http://schemas.microsoft.com/office/powerpoint/2010/main" val="3534916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6FBDC-52EF-535D-EAB6-F13B829A3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4F32BBA1-5439-A166-75D1-BDF7C6FC7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하단 탭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 목록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12F36-18CE-A666-FAFE-833169D9B980}"/>
              </a:ext>
            </a:extLst>
          </p:cNvPr>
          <p:cNvSpPr txBox="1"/>
          <p:nvPr/>
        </p:nvSpPr>
        <p:spPr>
          <a:xfrm>
            <a:off x="370009" y="900317"/>
            <a:ext cx="8596708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각 페이지에서는 해당 건과 연결된 주문 목록을 확인할 수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주문페이지에서는 해당 주문 건의 주문 제품을</a:t>
            </a:r>
            <a:r>
              <a:rPr lang="en-US" altLang="ko-KR" sz="1400" dirty="0"/>
              <a:t>, </a:t>
            </a:r>
            <a:r>
              <a:rPr lang="ko-KR" altLang="en-US" sz="1400" dirty="0"/>
              <a:t>판매페이지에서는 해당 판매 건의 판매 제품을</a:t>
            </a:r>
            <a:r>
              <a:rPr lang="en-US" altLang="ko-KR" sz="1400" dirty="0"/>
              <a:t>, </a:t>
            </a:r>
            <a:r>
              <a:rPr lang="ko-KR" altLang="en-US" sz="1400" dirty="0"/>
              <a:t>반품페이지에서는 해당 반품 건의 반품할 제품을 확인할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B87108-0BE9-57A2-457B-84E3C68EC695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각 페이지 검색 및 목록은 주문 번호 및 판매 번호로 조회하실 수 있습니다</a:t>
            </a:r>
            <a:r>
              <a:rPr lang="en-US" altLang="ko-KR" sz="1200" dirty="0"/>
              <a:t>. 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※ ▼</a:t>
            </a:r>
            <a:r>
              <a:rPr lang="ko-KR" altLang="en-US" sz="1200" dirty="0"/>
              <a:t>를 통해 수정 및 삭제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85CAE-2472-A019-05B0-2C1E3996AE43}"/>
              </a:ext>
            </a:extLst>
          </p:cNvPr>
          <p:cNvSpPr txBox="1"/>
          <p:nvPr/>
        </p:nvSpPr>
        <p:spPr>
          <a:xfrm>
            <a:off x="370009" y="4897808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▼반품페이지의 주문 목록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DA6435-33B9-70B1-DA15-957C7D2E4DBE}"/>
              </a:ext>
            </a:extLst>
          </p:cNvPr>
          <p:cNvSpPr txBox="1"/>
          <p:nvPr/>
        </p:nvSpPr>
        <p:spPr>
          <a:xfrm>
            <a:off x="370009" y="3412044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▼판매페이지의 주문 목록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A49629-AD90-A572-BE63-76E819D15A60}"/>
              </a:ext>
            </a:extLst>
          </p:cNvPr>
          <p:cNvSpPr txBox="1"/>
          <p:nvPr/>
        </p:nvSpPr>
        <p:spPr>
          <a:xfrm>
            <a:off x="370009" y="1920533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▼주문페이지의 주문 목록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3AF9DE7-8EB6-D607-E9A6-2211E0300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61" y="2292300"/>
            <a:ext cx="7875037" cy="89422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F13EB2C-B1FE-0D80-0B04-F8E43A98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61" y="3752692"/>
            <a:ext cx="7845515" cy="89422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18B5A78-9AE4-41CE-636D-89722515D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61" y="5279278"/>
            <a:ext cx="7623111" cy="79900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91098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28B92-2387-98EE-EBEF-D453A970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F9F9FA15-76CA-82D1-D0BD-2A8E3A41D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하단 탭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입금 내역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921BD-6BA6-F48F-4076-B1AD99AD3A36}"/>
              </a:ext>
            </a:extLst>
          </p:cNvPr>
          <p:cNvSpPr txBox="1"/>
          <p:nvPr/>
        </p:nvSpPr>
        <p:spPr>
          <a:xfrm>
            <a:off x="370009" y="900317"/>
            <a:ext cx="8596708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각 페이지에서는 해당 건과 연결된 입금 내역을 확인할 수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주문페이지에서는 해당 주문 건의 입금 내역을</a:t>
            </a:r>
            <a:r>
              <a:rPr lang="en-US" altLang="ko-KR" sz="1400" dirty="0"/>
              <a:t>, </a:t>
            </a:r>
            <a:r>
              <a:rPr lang="ko-KR" altLang="en-US" sz="1400" dirty="0"/>
              <a:t>판매페이지에서는 해당 판매 건의 입금 내역을</a:t>
            </a:r>
            <a:r>
              <a:rPr lang="en-US" altLang="ko-KR" sz="1400" dirty="0"/>
              <a:t>, </a:t>
            </a:r>
            <a:r>
              <a:rPr lang="ko-KR" altLang="en-US" sz="1400" dirty="0"/>
              <a:t>반품페이지에서는 해당 반품 건의 입금 내역을 확인할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0C62B9-6FF9-BB4B-5B25-615704E97DC1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상세 입금 내역 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저널 번호로 상세한 각 페이지의 입금 내역에 대한 상세 정보 조회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각 페이지 검색 및 목록은 주문 번호 및 판매 번호로 조회하실 수 있습니다</a:t>
            </a:r>
            <a:r>
              <a:rPr lang="en-US" altLang="ko-KR" sz="1200" dirty="0"/>
              <a:t>. 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하위 데이터 항목과 값에 대한 자세한 사항은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: </a:t>
            </a:r>
            <a:r>
              <a:rPr lang="ko-KR" altLang="en-US" sz="1200" dirty="0"/>
              <a:t>회원</a:t>
            </a:r>
            <a:r>
              <a:rPr lang="en-US" altLang="ko-KR" sz="1200" dirty="0"/>
              <a:t>360, </a:t>
            </a: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</a:t>
            </a:r>
            <a:r>
              <a:rPr lang="en-US" altLang="ko-KR" sz="1200" dirty="0"/>
              <a:t>– </a:t>
            </a:r>
            <a:r>
              <a:rPr lang="ko-KR" altLang="en-US" sz="1200" dirty="0"/>
              <a:t>입금</a:t>
            </a:r>
            <a:r>
              <a:rPr lang="en-US" altLang="ko-KR" sz="1200" dirty="0"/>
              <a:t>, </a:t>
            </a:r>
            <a:r>
              <a:rPr lang="ko-KR" altLang="en-US" sz="1200" dirty="0"/>
              <a:t>쿠폰</a:t>
            </a:r>
            <a:r>
              <a:rPr lang="en-US" altLang="ko-KR" sz="1200" dirty="0"/>
              <a:t>, </a:t>
            </a:r>
            <a:r>
              <a:rPr lang="ko-KR" altLang="en-US" sz="1200" dirty="0"/>
              <a:t>포인트 이력 요약표</a:t>
            </a:r>
            <a:r>
              <a:rPr lang="en-US" altLang="ko-KR" sz="1200" dirty="0"/>
              <a:t> </a:t>
            </a:r>
            <a:r>
              <a:rPr lang="ko-KR" altLang="en-US" sz="1200" dirty="0"/>
              <a:t>참고하시길 바랍니다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93EB7-EEA1-F397-CA71-8AF4F77E0B2F}"/>
              </a:ext>
            </a:extLst>
          </p:cNvPr>
          <p:cNvSpPr txBox="1"/>
          <p:nvPr/>
        </p:nvSpPr>
        <p:spPr>
          <a:xfrm>
            <a:off x="370009" y="4897808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▼반품페이지의 주문 목록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AEFC1-C6BB-976D-E820-193B993F39A1}"/>
              </a:ext>
            </a:extLst>
          </p:cNvPr>
          <p:cNvSpPr txBox="1"/>
          <p:nvPr/>
        </p:nvSpPr>
        <p:spPr>
          <a:xfrm>
            <a:off x="370009" y="3412044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▼판매페이지의 주문 목록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4A5DC-4186-DE24-2351-E2E394C6D732}"/>
              </a:ext>
            </a:extLst>
          </p:cNvPr>
          <p:cNvSpPr txBox="1"/>
          <p:nvPr/>
        </p:nvSpPr>
        <p:spPr>
          <a:xfrm>
            <a:off x="370009" y="1920533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▼주문페이지의 주문 목록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137575-D7F8-5BCA-CCD1-C72DB6E77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46" y="2255405"/>
            <a:ext cx="7529804" cy="93568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C3D1391-AEC7-D53C-B880-865530C28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46" y="3746052"/>
            <a:ext cx="7054460" cy="930797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DD3C720-9FD1-3967-6C63-0F66B0D91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00" y="5205585"/>
            <a:ext cx="8443725" cy="105150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5BA6DF-19BC-2D41-9AF3-A6E4ED7F2B2E}"/>
              </a:ext>
            </a:extLst>
          </p:cNvPr>
          <p:cNvSpPr/>
          <p:nvPr/>
        </p:nvSpPr>
        <p:spPr>
          <a:xfrm>
            <a:off x="824204" y="2896106"/>
            <a:ext cx="1032588" cy="15897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4D658B9-9527-3D83-70C4-CA4D40DE199A}"/>
              </a:ext>
            </a:extLst>
          </p:cNvPr>
          <p:cNvSpPr/>
          <p:nvPr/>
        </p:nvSpPr>
        <p:spPr>
          <a:xfrm>
            <a:off x="824204" y="4369072"/>
            <a:ext cx="1032588" cy="15897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A7C1E4-625A-6E5A-1ECD-6DCD679F8061}"/>
              </a:ext>
            </a:extLst>
          </p:cNvPr>
          <p:cNvSpPr/>
          <p:nvPr/>
        </p:nvSpPr>
        <p:spPr>
          <a:xfrm>
            <a:off x="824204" y="5957683"/>
            <a:ext cx="1032588" cy="15897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0A3FD77-FDF2-33EF-C02D-7EB536486B03}"/>
              </a:ext>
            </a:extLst>
          </p:cNvPr>
          <p:cNvCxnSpPr>
            <a:stCxn id="18" idx="3"/>
          </p:cNvCxnSpPr>
          <p:nvPr/>
        </p:nvCxnSpPr>
        <p:spPr>
          <a:xfrm>
            <a:off x="1856792" y="2975591"/>
            <a:ext cx="1904336" cy="1235859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473A176-4EFA-E244-1084-26B323011282}"/>
              </a:ext>
            </a:extLst>
          </p:cNvPr>
          <p:cNvCxnSpPr>
            <a:cxnSpLocks/>
          </p:cNvCxnSpPr>
          <p:nvPr/>
        </p:nvCxnSpPr>
        <p:spPr>
          <a:xfrm flipV="1">
            <a:off x="1876904" y="4237681"/>
            <a:ext cx="1884224" cy="221330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1A299A3-216D-512D-08F9-5D3EC6FCDA19}"/>
              </a:ext>
            </a:extLst>
          </p:cNvPr>
          <p:cNvCxnSpPr>
            <a:cxnSpLocks/>
          </p:cNvCxnSpPr>
          <p:nvPr/>
        </p:nvCxnSpPr>
        <p:spPr>
          <a:xfrm flipV="1">
            <a:off x="1876904" y="4248371"/>
            <a:ext cx="1884224" cy="1788797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79AF3EC2-3BBE-E476-C719-2439EB8B2733}"/>
              </a:ext>
            </a:extLst>
          </p:cNvPr>
          <p:cNvSpPr/>
          <p:nvPr/>
        </p:nvSpPr>
        <p:spPr>
          <a:xfrm>
            <a:off x="3675530" y="293610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DF366DE2-8607-A25A-74EA-AB3A34E94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348" y="3195265"/>
            <a:ext cx="4865680" cy="184326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AAB2738-25E6-53B1-55D2-6290D720A0A3}"/>
              </a:ext>
            </a:extLst>
          </p:cNvPr>
          <p:cNvSpPr/>
          <p:nvPr/>
        </p:nvSpPr>
        <p:spPr>
          <a:xfrm>
            <a:off x="3781240" y="3173896"/>
            <a:ext cx="4865681" cy="1864635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6184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48747-4F39-4653-8364-CAE6BF19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0062F2E3-EB5F-A818-4205-8AF8B0D1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하단 탭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쿠폰 이력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EDC676-5CFC-F129-4282-B3919F64D198}"/>
              </a:ext>
            </a:extLst>
          </p:cNvPr>
          <p:cNvSpPr txBox="1"/>
          <p:nvPr/>
        </p:nvSpPr>
        <p:spPr>
          <a:xfrm>
            <a:off x="370009" y="900317"/>
            <a:ext cx="8596708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각 페이지에서는 해당 건과 연결된 쿠폰 이력을 확인할 수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주문페이지에서는 해당 주문 건에 사용된 쿠폰을</a:t>
            </a:r>
            <a:r>
              <a:rPr lang="en-US" altLang="ko-KR" sz="1400" dirty="0"/>
              <a:t>, </a:t>
            </a:r>
            <a:r>
              <a:rPr lang="ko-KR" altLang="en-US" sz="1400" dirty="0"/>
              <a:t>판매페이지에서는 해당 판매에 사용된 쿠폰을</a:t>
            </a:r>
            <a:r>
              <a:rPr lang="en-US" altLang="ko-KR" sz="1400" dirty="0"/>
              <a:t>, </a:t>
            </a:r>
            <a:r>
              <a:rPr lang="ko-KR" altLang="en-US" sz="1400" dirty="0"/>
              <a:t>반품페이지에서는 해당 반품으로 취소된 쿠폰을 확인할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8DE898-6371-8233-4CF2-DFC017621FC7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각 페이지 검색 및 목록은 주문 번호 및 판매 번호로 조회하실 수 있습니다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하위 데이터 항목과 값에 대한 자세한 사항은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: </a:t>
            </a:r>
            <a:r>
              <a:rPr lang="ko-KR" altLang="en-US" sz="1200" dirty="0"/>
              <a:t>회원</a:t>
            </a:r>
            <a:r>
              <a:rPr lang="en-US" altLang="ko-KR" sz="1200" dirty="0"/>
              <a:t>360, </a:t>
            </a: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</a:t>
            </a:r>
            <a:r>
              <a:rPr lang="en-US" altLang="ko-KR" sz="1200" dirty="0"/>
              <a:t>– </a:t>
            </a:r>
            <a:r>
              <a:rPr lang="ko-KR" altLang="en-US" sz="1200" dirty="0"/>
              <a:t>입금</a:t>
            </a:r>
            <a:r>
              <a:rPr lang="en-US" altLang="ko-KR" sz="1200" dirty="0"/>
              <a:t>, </a:t>
            </a:r>
            <a:r>
              <a:rPr lang="ko-KR" altLang="en-US" sz="1200" dirty="0"/>
              <a:t>쿠폰</a:t>
            </a:r>
            <a:r>
              <a:rPr lang="en-US" altLang="ko-KR" sz="1200" dirty="0"/>
              <a:t>, </a:t>
            </a:r>
            <a:r>
              <a:rPr lang="ko-KR" altLang="en-US" sz="1200" dirty="0"/>
              <a:t>포인트 이력 요약표</a:t>
            </a:r>
            <a:r>
              <a:rPr lang="en-US" altLang="ko-KR" sz="1200" dirty="0"/>
              <a:t> </a:t>
            </a:r>
            <a:r>
              <a:rPr lang="ko-KR" altLang="en-US" sz="1200" dirty="0"/>
              <a:t>참고하시길 바랍니다</a:t>
            </a:r>
            <a:r>
              <a:rPr lang="en-US" altLang="ko-KR" sz="1200" dirty="0"/>
              <a:t>.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8F63B-B8D1-4E8A-AB26-8638E6883521}"/>
              </a:ext>
            </a:extLst>
          </p:cNvPr>
          <p:cNvSpPr txBox="1"/>
          <p:nvPr/>
        </p:nvSpPr>
        <p:spPr>
          <a:xfrm>
            <a:off x="370009" y="4573940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▼반품페이지의 쿠폰 이력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955D9-2B3A-DD36-F537-FDAA8501579B}"/>
              </a:ext>
            </a:extLst>
          </p:cNvPr>
          <p:cNvSpPr txBox="1"/>
          <p:nvPr/>
        </p:nvSpPr>
        <p:spPr>
          <a:xfrm>
            <a:off x="370009" y="3088176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▼판매페이지의 쿠폰 이력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71C2AD-BC48-B884-4A63-67B8516EE49C}"/>
              </a:ext>
            </a:extLst>
          </p:cNvPr>
          <p:cNvSpPr txBox="1"/>
          <p:nvPr/>
        </p:nvSpPr>
        <p:spPr>
          <a:xfrm>
            <a:off x="370009" y="2021269"/>
            <a:ext cx="458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▼주문페이지의 쿠폰 이력 </a:t>
            </a:r>
            <a:r>
              <a:rPr lang="en-US" altLang="ko-KR" sz="1400" dirty="0"/>
              <a:t>(</a:t>
            </a:r>
            <a:r>
              <a:rPr lang="ko-KR" altLang="en-US" sz="1400" dirty="0"/>
              <a:t>사용되지 않은 경우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78A1EE-0A29-6740-BB9F-DAF6B23E5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9" y="2353973"/>
            <a:ext cx="8141238" cy="545075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8285F6B-2E8D-BC4B-67AF-D3FF38EFC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9" y="3429000"/>
            <a:ext cx="7621270" cy="991052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CDF69FA-8557-E860-8B3E-6BBA84EEF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09" y="4881717"/>
            <a:ext cx="7240661" cy="95455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48F1BC-C98A-F914-8393-6B79C74B1530}"/>
              </a:ext>
            </a:extLst>
          </p:cNvPr>
          <p:cNvSpPr/>
          <p:nvPr/>
        </p:nvSpPr>
        <p:spPr>
          <a:xfrm>
            <a:off x="2298440" y="5507406"/>
            <a:ext cx="1508450" cy="14694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56057E-ABBC-8E43-0264-2AD9D9BFA8E0}"/>
              </a:ext>
            </a:extLst>
          </p:cNvPr>
          <p:cNvSpPr txBox="1"/>
          <p:nvPr/>
        </p:nvSpPr>
        <p:spPr>
          <a:xfrm>
            <a:off x="1996756" y="5138074"/>
            <a:ext cx="4581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</a:rPr>
              <a:t>주문 </a:t>
            </a:r>
            <a:r>
              <a:rPr lang="en-US" altLang="ko-KR" sz="1200" dirty="0">
                <a:solidFill>
                  <a:srgbClr val="C00000"/>
                </a:solidFill>
              </a:rPr>
              <a:t>ID  </a:t>
            </a:r>
            <a:r>
              <a:rPr lang="ko-KR" altLang="en-US" sz="1200" dirty="0">
                <a:solidFill>
                  <a:srgbClr val="C00000"/>
                </a:solidFill>
              </a:rPr>
              <a:t>클릭 시</a:t>
            </a:r>
            <a:r>
              <a:rPr lang="en-US" altLang="ko-KR" sz="1200" dirty="0">
                <a:solidFill>
                  <a:srgbClr val="C00000"/>
                </a:solidFill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</a:rPr>
              <a:t>원 주문 페이지 조회 가능</a:t>
            </a:r>
          </a:p>
        </p:txBody>
      </p:sp>
    </p:spTree>
    <p:extLst>
      <p:ext uri="{BB962C8B-B14F-4D97-AF65-F5344CB8AC3E}">
        <p14:creationId xmlns:p14="http://schemas.microsoft.com/office/powerpoint/2010/main" val="8277435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E1B9-54C0-5D94-6B04-38493BCDC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6CEDD58A-EB20-1034-D916-394B028F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하단 탭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포인트 이력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24840D-54B4-E559-2A13-B26F046D3206}"/>
              </a:ext>
            </a:extLst>
          </p:cNvPr>
          <p:cNvSpPr txBox="1"/>
          <p:nvPr/>
        </p:nvSpPr>
        <p:spPr>
          <a:xfrm>
            <a:off x="370009" y="900317"/>
            <a:ext cx="8596708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각 페이지에서는 해당 건과 연결된 포인트 이력을 확인할 수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주문페이지에서는 해당 주문 건에 사용된 포인트를</a:t>
            </a:r>
            <a:r>
              <a:rPr lang="en-US" altLang="ko-KR" sz="1400" dirty="0"/>
              <a:t>, </a:t>
            </a:r>
            <a:r>
              <a:rPr lang="ko-KR" altLang="en-US" sz="1400" dirty="0"/>
              <a:t>판매페이지에서는 해당 판매에 사용된 포인트를</a:t>
            </a:r>
            <a:r>
              <a:rPr lang="en-US" altLang="ko-KR" sz="1400" dirty="0"/>
              <a:t>, </a:t>
            </a:r>
            <a:r>
              <a:rPr lang="ko-KR" altLang="en-US" sz="1400" dirty="0"/>
              <a:t>반품페이지에서는 해당 반품으로 취소된 포인트를 확인할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B69B45-0E5F-5083-DEC4-BC7B42E0FDC1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/>
              <a:t>상세 포인트 이력 조회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해당 포인트 사용 및 취소에 대한 조회 가능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포인트 거래 이력 </a:t>
            </a:r>
            <a:r>
              <a:rPr lang="en-US" altLang="ko-KR" sz="1200" dirty="0"/>
              <a:t>– </a:t>
            </a:r>
            <a:r>
              <a:rPr lang="ko-KR" altLang="en-US" sz="1200" dirty="0"/>
              <a:t>이름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해당 포인트에 대한 상세 정보 조회 가능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각 페이지 검색 및 목록은 주문 번호 및 판매 번호로 조회하실 수 있습니다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하위 데이터 항목과 값에 대한 자세한 사항은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: </a:t>
            </a:r>
            <a:r>
              <a:rPr lang="ko-KR" altLang="en-US" sz="1200" dirty="0"/>
              <a:t>회원</a:t>
            </a:r>
            <a:r>
              <a:rPr lang="en-US" altLang="ko-KR" sz="1200" dirty="0"/>
              <a:t>360, </a:t>
            </a: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</a:t>
            </a:r>
            <a:r>
              <a:rPr lang="en-US" altLang="ko-KR" sz="1200" dirty="0"/>
              <a:t>– </a:t>
            </a:r>
            <a:r>
              <a:rPr lang="ko-KR" altLang="en-US" sz="1200" dirty="0"/>
              <a:t>입금</a:t>
            </a:r>
            <a:r>
              <a:rPr lang="en-US" altLang="ko-KR" sz="1200" dirty="0"/>
              <a:t>, </a:t>
            </a:r>
            <a:r>
              <a:rPr lang="ko-KR" altLang="en-US" sz="1200" dirty="0"/>
              <a:t>쿠폰</a:t>
            </a:r>
            <a:r>
              <a:rPr lang="en-US" altLang="ko-KR" sz="1200" dirty="0"/>
              <a:t>, </a:t>
            </a:r>
            <a:r>
              <a:rPr lang="ko-KR" altLang="en-US" sz="1200" dirty="0"/>
              <a:t>포인트 이력 요약표</a:t>
            </a:r>
            <a:r>
              <a:rPr lang="en-US" altLang="ko-KR" sz="1200" dirty="0"/>
              <a:t> </a:t>
            </a:r>
            <a:r>
              <a:rPr lang="ko-KR" altLang="en-US" sz="1200" dirty="0"/>
              <a:t>참고하시길 바랍니다</a:t>
            </a:r>
            <a:r>
              <a:rPr lang="en-US" altLang="ko-KR" sz="1200" dirty="0"/>
              <a:t>.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 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B9CCC7-7FA9-D393-63A3-4D49CDFF7D9A}"/>
              </a:ext>
            </a:extLst>
          </p:cNvPr>
          <p:cNvSpPr txBox="1"/>
          <p:nvPr/>
        </p:nvSpPr>
        <p:spPr>
          <a:xfrm>
            <a:off x="370009" y="5216312"/>
            <a:ext cx="3327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▼반품페이지의 포인트 이력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3E68F-EE88-4837-0BC9-1F471E81CC14}"/>
              </a:ext>
            </a:extLst>
          </p:cNvPr>
          <p:cNvSpPr txBox="1"/>
          <p:nvPr/>
        </p:nvSpPr>
        <p:spPr>
          <a:xfrm>
            <a:off x="370009" y="3400769"/>
            <a:ext cx="3327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▼판매페이지의 포인트 이력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9234F-AC02-1962-F638-4103EED0C7F2}"/>
              </a:ext>
            </a:extLst>
          </p:cNvPr>
          <p:cNvSpPr txBox="1"/>
          <p:nvPr/>
        </p:nvSpPr>
        <p:spPr>
          <a:xfrm>
            <a:off x="370009" y="2021270"/>
            <a:ext cx="3327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▼주문페이지의 포인트 이력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35B7FD-461F-57D6-A565-142925A9F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2329046"/>
            <a:ext cx="6211014" cy="79670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2EAD96-44A7-36AD-D93B-1DDEAD1E8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3736077"/>
            <a:ext cx="7023127" cy="117365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189CA1D-8A68-D5C5-F35F-9DA00729F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5524089"/>
            <a:ext cx="5133396" cy="66717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B6A935D-6EAC-3BFF-FCFD-43EE8697F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682" y="4836920"/>
            <a:ext cx="4315623" cy="155956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273561-D049-138F-F36E-9354D564AC0E}"/>
              </a:ext>
            </a:extLst>
          </p:cNvPr>
          <p:cNvSpPr/>
          <p:nvPr/>
        </p:nvSpPr>
        <p:spPr>
          <a:xfrm>
            <a:off x="661406" y="4323575"/>
            <a:ext cx="881039" cy="46626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7872A6A-4782-9C5B-1AEF-2A1877556D37}"/>
              </a:ext>
            </a:extLst>
          </p:cNvPr>
          <p:cNvSpPr/>
          <p:nvPr/>
        </p:nvSpPr>
        <p:spPr>
          <a:xfrm>
            <a:off x="731437" y="2873805"/>
            <a:ext cx="811008" cy="13507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2657146-C16C-BF72-319F-517B13E68131}"/>
              </a:ext>
            </a:extLst>
          </p:cNvPr>
          <p:cNvSpPr/>
          <p:nvPr/>
        </p:nvSpPr>
        <p:spPr>
          <a:xfrm>
            <a:off x="504767" y="5957683"/>
            <a:ext cx="695795" cy="10573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073E9D-C927-D085-BC72-3A5223E81AE8}"/>
              </a:ext>
            </a:extLst>
          </p:cNvPr>
          <p:cNvSpPr/>
          <p:nvPr/>
        </p:nvSpPr>
        <p:spPr>
          <a:xfrm>
            <a:off x="4899577" y="4823818"/>
            <a:ext cx="4315623" cy="1559561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9A7511D-561E-32FB-0237-810EF2A01A58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542445" y="2941342"/>
            <a:ext cx="3349237" cy="2675359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207CB89-3B86-EF3C-5B88-9048133ADC7E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1542445" y="4556705"/>
            <a:ext cx="3349237" cy="1059996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95CAB83-0077-5994-2CC8-34E3A7A716DF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1200562" y="5634914"/>
            <a:ext cx="3683225" cy="375635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FAEE6B34-CFAE-8673-7DA6-BBB7CB98B0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3787" y="2947860"/>
            <a:ext cx="3760237" cy="1446093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097FB49B-3B24-5BA6-343B-A994A168BF48}"/>
              </a:ext>
            </a:extLst>
          </p:cNvPr>
          <p:cNvSpPr/>
          <p:nvPr/>
        </p:nvSpPr>
        <p:spPr>
          <a:xfrm>
            <a:off x="7084160" y="5471180"/>
            <a:ext cx="304586" cy="6753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B71E2BB-62B2-3A47-4C53-83A5C0260AE8}"/>
              </a:ext>
            </a:extLst>
          </p:cNvPr>
          <p:cNvSpPr/>
          <p:nvPr/>
        </p:nvSpPr>
        <p:spPr>
          <a:xfrm>
            <a:off x="4883787" y="2947860"/>
            <a:ext cx="3760237" cy="1446093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70EF5DE-404A-4E79-A882-168D53F166C1}"/>
              </a:ext>
            </a:extLst>
          </p:cNvPr>
          <p:cNvCxnSpPr>
            <a:cxnSpLocks/>
            <a:stCxn id="44" idx="0"/>
            <a:endCxn id="37" idx="2"/>
          </p:cNvCxnSpPr>
          <p:nvPr/>
        </p:nvCxnSpPr>
        <p:spPr>
          <a:xfrm flipH="1" flipV="1">
            <a:off x="6763906" y="4393953"/>
            <a:ext cx="472547" cy="1077227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1D1D26E5-325A-9289-CA2D-1A460EE94BD6}"/>
              </a:ext>
            </a:extLst>
          </p:cNvPr>
          <p:cNvSpPr/>
          <p:nvPr/>
        </p:nvSpPr>
        <p:spPr>
          <a:xfrm>
            <a:off x="4627953" y="483692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BFAA330-F4F1-2E22-E920-1A281FAE46A0}"/>
              </a:ext>
            </a:extLst>
          </p:cNvPr>
          <p:cNvSpPr/>
          <p:nvPr/>
        </p:nvSpPr>
        <p:spPr>
          <a:xfrm>
            <a:off x="4624191" y="299411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9384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14096-9A9F-4476-4026-4D4EBCABC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9D381DA0-7254-FA08-4CA3-9834F202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주문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하단 탭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반품 이력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70A120-ED00-3C7F-1C00-E7C4CEDE34FE}"/>
              </a:ext>
            </a:extLst>
          </p:cNvPr>
          <p:cNvSpPr txBox="1"/>
          <p:nvPr/>
        </p:nvSpPr>
        <p:spPr>
          <a:xfrm>
            <a:off x="343366" y="1032834"/>
            <a:ext cx="859670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반품 이력에서는 해당 건과 연결된 반품 처리 내역을 확인할 수 있습니다</a:t>
            </a:r>
            <a:r>
              <a:rPr lang="en-US" altLang="ko-KR" sz="1400" dirty="0"/>
              <a:t>.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EABA27-43E9-DF47-76BB-C927A5B4C9BB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판매에 대한 반품이 발생한 경우</a:t>
            </a:r>
            <a:r>
              <a:rPr lang="en-US" altLang="ko-KR" sz="1200" dirty="0"/>
              <a:t>, </a:t>
            </a:r>
            <a:r>
              <a:rPr lang="ko-KR" altLang="en-US" sz="1200" dirty="0"/>
              <a:t>반품 이력에서 확인 가능</a:t>
            </a:r>
            <a:r>
              <a:rPr lang="en-US" altLang="ko-KR" sz="1200" dirty="0"/>
              <a:t>, </a:t>
            </a: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자동 번호로 해당 반품 페이지 이동 가능 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반품에 대한 반품이 발생한 경우</a:t>
            </a:r>
            <a:r>
              <a:rPr lang="en-US" altLang="ko-KR" sz="1200" dirty="0"/>
              <a:t>, </a:t>
            </a:r>
            <a:r>
              <a:rPr lang="ko-KR" altLang="en-US" sz="1200" dirty="0"/>
              <a:t>반품 이력에서 해당 건에 대해 조회 가능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A53F6F-2BEB-8DD0-E049-32BADCA0B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1700660"/>
            <a:ext cx="8623351" cy="139041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F6C3BB0-FE9A-AACC-C960-BA33BD184F04}"/>
              </a:ext>
            </a:extLst>
          </p:cNvPr>
          <p:cNvSpPr/>
          <p:nvPr/>
        </p:nvSpPr>
        <p:spPr>
          <a:xfrm>
            <a:off x="774092" y="2645074"/>
            <a:ext cx="1979047" cy="19751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4628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34469-1915-6523-66F2-0AB7235C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24AAA91C-F024-A4E6-0E9F-D1486152B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③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멤버십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1AF8B7-B5C8-5987-24D7-C2914893035D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멤버십 목록에서 등급별 정보</a:t>
            </a:r>
            <a:r>
              <a:rPr lang="en-US" altLang="ko-KR" sz="1400" dirty="0"/>
              <a:t>, </a:t>
            </a:r>
            <a:r>
              <a:rPr lang="ko-KR" altLang="en-US" sz="1400" dirty="0"/>
              <a:t>회원 수</a:t>
            </a:r>
            <a:r>
              <a:rPr lang="en-US" altLang="ko-KR" sz="1400" dirty="0"/>
              <a:t>, </a:t>
            </a:r>
            <a:r>
              <a:rPr lang="ko-KR" altLang="en-US" sz="1400" dirty="0"/>
              <a:t>보상</a:t>
            </a:r>
            <a:r>
              <a:rPr lang="en-US" altLang="ko-KR" sz="1400" dirty="0"/>
              <a:t>/</a:t>
            </a:r>
            <a:r>
              <a:rPr lang="ko-KR" altLang="en-US" sz="1400" dirty="0"/>
              <a:t>혜택을 한눈에 확인할 수 있습니다</a:t>
            </a:r>
            <a:r>
              <a:rPr lang="en-US" altLang="ko-KR" sz="1400" dirty="0"/>
              <a:t>.</a:t>
            </a:r>
            <a:br>
              <a:rPr lang="ko-KR" altLang="en-US" sz="1400" dirty="0"/>
            </a:br>
            <a:r>
              <a:rPr lang="ko-KR" altLang="en-US" sz="1400" dirty="0"/>
              <a:t>특정 멤버십을 선택하면 해당 멤버십의 상세 내역과 운영 현황을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7EB12D-66D7-B2E3-819F-49909DA1BDC7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멤버십 정보 검색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등급명으로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목록에서 검색 및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등급명으로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상세 정보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200" dirty="0"/>
              <a:t>※ </a:t>
            </a:r>
            <a:r>
              <a:rPr lang="ko-KR" altLang="en-US" sz="1200" dirty="0" err="1"/>
              <a:t>리스트뷰</a:t>
            </a:r>
            <a:r>
              <a:rPr lang="ko-KR" altLang="en-US" sz="1200" dirty="0"/>
              <a:t> 생성은 슬라이드 </a:t>
            </a:r>
            <a:r>
              <a:rPr lang="en-US" altLang="ko-KR" sz="1200" dirty="0"/>
              <a:t>5 </a:t>
            </a:r>
            <a:r>
              <a:rPr lang="ko-KR" altLang="en-US" sz="1200" dirty="0"/>
              <a:t>참고하시길 바랍니다</a:t>
            </a:r>
            <a:r>
              <a:rPr lang="en-US" altLang="ko-KR" sz="1200" dirty="0"/>
              <a:t>.)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sz="1200" b="1" dirty="0">
                <a:latin typeface="맑은 고딕" panose="020B0503020000020004" pitchFamily="50" charset="-127"/>
                <a:ea typeface="나눔스퀘어" panose="020B0600000101010101"/>
              </a:rPr>
              <a:t> 등급 정보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회원 등급과 해당 등급에 속한 멤버 수 조회 가능</a:t>
            </a:r>
            <a:endParaRPr lang="en-US" altLang="ko-KR" sz="1200" dirty="0">
              <a:solidFill>
                <a:srgbClr val="2B2B2B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맑은 고딕" panose="020B0503020000020004" pitchFamily="50" charset="-127"/>
                <a:ea typeface="나눔스퀘어" panose="020B0600000101010101"/>
              </a:rPr>
              <a:t>등급 쿠폰 지급 </a:t>
            </a:r>
            <a:r>
              <a:rPr lang="en-US" altLang="ko-KR" sz="1200" dirty="0">
                <a:latin typeface="맑은 고딕" panose="020B0503020000020004" pitchFamily="50" charset="-127"/>
                <a:ea typeface="나눔스퀘어" panose="020B0600000101010101"/>
              </a:rPr>
              <a:t>: </a:t>
            </a: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해당 등급의 전체 회원에게 특정 쿠폰 일괄 지급 가능</a:t>
            </a:r>
          </a:p>
          <a:p>
            <a:pPr>
              <a:lnSpc>
                <a:spcPct val="150000"/>
              </a:lnSpc>
            </a:pPr>
            <a:endParaRPr lang="ko-KR" altLang="en-US" sz="1200" dirty="0">
              <a:solidFill>
                <a:srgbClr val="595959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ko-KR" sz="1200" b="1" dirty="0">
                <a:latin typeface="맑은 고딕" panose="020B0503020000020004" pitchFamily="50" charset="-127"/>
                <a:ea typeface="나눔스퀘어" panose="020B0600000101010101"/>
              </a:rPr>
              <a:t>③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나눔스퀘어" panose="020B0600000101010101"/>
              </a:rPr>
              <a:t>회원 혜택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해당 등급에 설정된 보상 항목 조회 가능</a:t>
            </a:r>
            <a:endParaRPr lang="en-US" altLang="ko-KR" sz="1200" dirty="0">
              <a:solidFill>
                <a:srgbClr val="2B2B2B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solidFill>
                <a:srgbClr val="2B2B2B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④</a:t>
            </a:r>
            <a:r>
              <a:rPr lang="en-US" altLang="ko-KR" sz="1200" b="1" dirty="0">
                <a:latin typeface="맑은 고딕" panose="020B0503020000020004" pitchFamily="50" charset="-127"/>
                <a:ea typeface="나눔스퀘어" panose="020B0600000101010101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나눔스퀘어" panose="020B0600000101010101"/>
              </a:rPr>
              <a:t>등급 설명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1) </a:t>
            </a: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등급에 대한 간단한 설명 조회 가능</a:t>
            </a:r>
            <a:endParaRPr lang="en-US" altLang="ko-KR" sz="1200" dirty="0">
              <a:solidFill>
                <a:srgbClr val="2B2B2B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5706CE-7B5D-7E1A-E7A2-96D545FD5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32" y="3764356"/>
            <a:ext cx="8657071" cy="250073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C60F640-0B5D-84B7-DBB2-DCA946F06666}"/>
              </a:ext>
            </a:extLst>
          </p:cNvPr>
          <p:cNvSpPr/>
          <p:nvPr/>
        </p:nvSpPr>
        <p:spPr>
          <a:xfrm>
            <a:off x="291115" y="4100040"/>
            <a:ext cx="2797318" cy="59750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B541AD-0FEF-AED7-7384-2809D18DD3AA}"/>
              </a:ext>
            </a:extLst>
          </p:cNvPr>
          <p:cNvSpPr/>
          <p:nvPr/>
        </p:nvSpPr>
        <p:spPr>
          <a:xfrm>
            <a:off x="3174208" y="4100040"/>
            <a:ext cx="2797318" cy="59750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2E3DCE-74BD-0C93-6FF7-A21D953778F1}"/>
              </a:ext>
            </a:extLst>
          </p:cNvPr>
          <p:cNvSpPr/>
          <p:nvPr/>
        </p:nvSpPr>
        <p:spPr>
          <a:xfrm>
            <a:off x="6071186" y="4100040"/>
            <a:ext cx="2797318" cy="59750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09DB8BD-69B1-A7BD-1834-18D6899193B8}"/>
              </a:ext>
            </a:extLst>
          </p:cNvPr>
          <p:cNvSpPr/>
          <p:nvPr/>
        </p:nvSpPr>
        <p:spPr>
          <a:xfrm>
            <a:off x="3065266" y="386795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AD3DAB5-CD10-E3DF-EE36-B72720B1B3D9}"/>
              </a:ext>
            </a:extLst>
          </p:cNvPr>
          <p:cNvSpPr/>
          <p:nvPr/>
        </p:nvSpPr>
        <p:spPr>
          <a:xfrm>
            <a:off x="5911679" y="386795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03C639A-2765-AACD-95C4-B9FD4A06A578}"/>
              </a:ext>
            </a:extLst>
          </p:cNvPr>
          <p:cNvSpPr/>
          <p:nvPr/>
        </p:nvSpPr>
        <p:spPr>
          <a:xfrm>
            <a:off x="110853" y="388404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97D4B6-BE0A-F0F6-35F6-3F845FFE6146}"/>
              </a:ext>
            </a:extLst>
          </p:cNvPr>
          <p:cNvSpPr/>
          <p:nvPr/>
        </p:nvSpPr>
        <p:spPr>
          <a:xfrm>
            <a:off x="2500604" y="4178219"/>
            <a:ext cx="573944" cy="12173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137C567-E234-4892-A88E-E65A5C6D8CB2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1490870" y="3292545"/>
            <a:ext cx="3081998" cy="471811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B280EBDA-7D40-7639-5C7B-D2DA3CD66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33" y="1824048"/>
            <a:ext cx="5685183" cy="1468497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5E7D0E30-7F9B-6034-EA0A-BD2B6A0F8094}"/>
              </a:ext>
            </a:extLst>
          </p:cNvPr>
          <p:cNvSpPr/>
          <p:nvPr/>
        </p:nvSpPr>
        <p:spPr>
          <a:xfrm>
            <a:off x="4252029" y="2085194"/>
            <a:ext cx="1032588" cy="15897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5D37C71-9865-054A-3BBB-94D920AFD117}"/>
              </a:ext>
            </a:extLst>
          </p:cNvPr>
          <p:cNvSpPr/>
          <p:nvPr/>
        </p:nvSpPr>
        <p:spPr>
          <a:xfrm>
            <a:off x="4036029" y="189420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6572D9-4592-FD0D-4312-979D227FFCFB}"/>
              </a:ext>
            </a:extLst>
          </p:cNvPr>
          <p:cNvSpPr/>
          <p:nvPr/>
        </p:nvSpPr>
        <p:spPr>
          <a:xfrm>
            <a:off x="985828" y="2425994"/>
            <a:ext cx="1514775" cy="86655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3774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6B50F-BDC2-33AD-8A5C-D8A69EFA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CF59AF39-19A2-6A48-20FD-0E29B120A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③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멤버십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26BA8-8474-D1F0-3430-0036F1864CA5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멤버십 목록에서 등급별 정보</a:t>
            </a:r>
            <a:r>
              <a:rPr lang="en-US" altLang="ko-KR" sz="1400" dirty="0"/>
              <a:t>, </a:t>
            </a:r>
            <a:r>
              <a:rPr lang="ko-KR" altLang="en-US" sz="1400" dirty="0"/>
              <a:t>회원 수</a:t>
            </a:r>
            <a:r>
              <a:rPr lang="en-US" altLang="ko-KR" sz="1400" dirty="0"/>
              <a:t>, </a:t>
            </a:r>
            <a:r>
              <a:rPr lang="ko-KR" altLang="en-US" sz="1400" dirty="0"/>
              <a:t>보상</a:t>
            </a:r>
            <a:r>
              <a:rPr lang="en-US" altLang="ko-KR" sz="1400" dirty="0"/>
              <a:t>/</a:t>
            </a:r>
            <a:r>
              <a:rPr lang="ko-KR" altLang="en-US" sz="1400" dirty="0"/>
              <a:t>혜택을 한눈에 확인할 수 있습니다</a:t>
            </a:r>
            <a:r>
              <a:rPr lang="en-US" altLang="ko-KR" sz="1400" dirty="0"/>
              <a:t>.</a:t>
            </a:r>
            <a:br>
              <a:rPr lang="ko-KR" altLang="en-US" sz="1400" dirty="0"/>
            </a:br>
            <a:r>
              <a:rPr lang="ko-KR" altLang="en-US" sz="1400" dirty="0"/>
              <a:t>특정 멤버십을 선택하면 해당 멤버십의 상세 내역과 운영 현황을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758426-005E-791B-3597-0053B45A5127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⑤ 새 멤버십 등록 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등급명과 회원 등급 코드 일치 필수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등급 그룹은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Golden Dew Tier Group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지정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등급 순서는 기존 등급 순서와 중복되지 않게 작성 희망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등급 순서를 사용하고 싶은 경우는 해당 멤버십의 등급 순서 수정 후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(*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필수 항목입니다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BE41BC8-F54F-0BF5-9296-9D1E1DFC4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33" y="1824048"/>
            <a:ext cx="5685183" cy="1468497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44560AB-19C1-9DCF-F38A-1025FBEC2E78}"/>
              </a:ext>
            </a:extLst>
          </p:cNvPr>
          <p:cNvSpPr/>
          <p:nvPr/>
        </p:nvSpPr>
        <p:spPr>
          <a:xfrm>
            <a:off x="5834270" y="1916229"/>
            <a:ext cx="524746" cy="14117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59CE463-BE95-38B4-3655-57BA72A27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843" y="3949419"/>
            <a:ext cx="5967376" cy="2566867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6C8EC18-90EA-7DCB-B45E-3686D688B8AF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277018" y="3292545"/>
            <a:ext cx="1541513" cy="656874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65161B0-DE97-2D2C-FF33-1212BD24BBFB}"/>
              </a:ext>
            </a:extLst>
          </p:cNvPr>
          <p:cNvSpPr/>
          <p:nvPr/>
        </p:nvSpPr>
        <p:spPr>
          <a:xfrm>
            <a:off x="2219740" y="4871464"/>
            <a:ext cx="524746" cy="14117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7B035A-369D-3E02-0994-35399F4F7118}"/>
              </a:ext>
            </a:extLst>
          </p:cNvPr>
          <p:cNvSpPr/>
          <p:nvPr/>
        </p:nvSpPr>
        <p:spPr>
          <a:xfrm>
            <a:off x="2232991" y="5528338"/>
            <a:ext cx="679173" cy="14117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BB47EB-FC86-01C3-272D-DCF3A3A676AA}"/>
              </a:ext>
            </a:extLst>
          </p:cNvPr>
          <p:cNvSpPr txBox="1"/>
          <p:nvPr/>
        </p:nvSpPr>
        <p:spPr>
          <a:xfrm>
            <a:off x="2540734" y="5048186"/>
            <a:ext cx="407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〓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D2D9280-65B4-F294-226D-42CF4F5C320A}"/>
              </a:ext>
            </a:extLst>
          </p:cNvPr>
          <p:cNvSpPr/>
          <p:nvPr/>
        </p:nvSpPr>
        <p:spPr>
          <a:xfrm>
            <a:off x="4818531" y="366654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5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13169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0C84-498B-031F-A0F5-AA34C9E2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0A75B679-ACE1-0368-12DD-9E633029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>
                <a:solidFill>
                  <a:srgbClr val="C9A9D0"/>
                </a:solidFill>
              </a:rPr>
              <a:t>4. ③ </a:t>
            </a:r>
            <a:r>
              <a:rPr lang="ko-KR" altLang="en-US">
                <a:solidFill>
                  <a:srgbClr val="C9A9D0"/>
                </a:solidFill>
              </a:rPr>
              <a:t>설정 </a:t>
            </a:r>
            <a:r>
              <a:rPr lang="en-US" altLang="ko-KR">
                <a:solidFill>
                  <a:srgbClr val="C9A9D0"/>
                </a:solidFill>
              </a:rPr>
              <a:t>– </a:t>
            </a:r>
            <a:r>
              <a:rPr lang="ko-KR" altLang="en-US">
                <a:solidFill>
                  <a:srgbClr val="C9A9D0"/>
                </a:solidFill>
              </a:rPr>
              <a:t>멤버십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03B1C-7390-AD05-F7DC-C72ED9EE2A83}"/>
              </a:ext>
            </a:extLst>
          </p:cNvPr>
          <p:cNvSpPr txBox="1"/>
          <p:nvPr/>
        </p:nvSpPr>
        <p:spPr>
          <a:xfrm>
            <a:off x="365760" y="960120"/>
            <a:ext cx="8686800" cy="6970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2B2B2B"/>
                </a:solidFill>
                <a:latin typeface="맑은 고딕" panose="020B0503020000020004" pitchFamily="50" charset="-127"/>
              </a:rPr>
              <a:t>등급명 클릭 시 나타나는 회원 등급 상세 페이지 입니다</a:t>
            </a:r>
            <a:r>
              <a:rPr lang="en-US" altLang="ko-KR" sz="1400">
                <a:solidFill>
                  <a:srgbClr val="2B2B2B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2B2B2B"/>
                </a:solidFill>
                <a:latin typeface="맑은 고딕" panose="020B0503020000020004" pitchFamily="50" charset="-127"/>
              </a:rPr>
              <a:t>등급 정보</a:t>
            </a:r>
            <a:r>
              <a:rPr lang="en-US" altLang="ko-KR" sz="140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2B2B2B"/>
                </a:solidFill>
                <a:latin typeface="맑은 고딕" panose="020B0503020000020004" pitchFamily="50" charset="-127"/>
              </a:rPr>
              <a:t>회원 혜택</a:t>
            </a:r>
            <a:r>
              <a:rPr lang="en-US" altLang="ko-KR" sz="140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2B2B2B"/>
                </a:solidFill>
                <a:latin typeface="맑은 고딕" panose="020B0503020000020004" pitchFamily="50" charset="-127"/>
              </a:rPr>
              <a:t>등급 설명을 한눈에 확인하고 해당 등급의 회원에게 쿠폰을 일괄 지급할 수 있습니다</a:t>
            </a:r>
            <a:r>
              <a:rPr lang="en-US" altLang="ko-KR" sz="1400">
                <a:solidFill>
                  <a:srgbClr val="2B2B2B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2B2B2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92E13B-FB57-B5AD-3ECA-9EB9DDCF2212}"/>
              </a:ext>
            </a:extLst>
          </p:cNvPr>
          <p:cNvSpPr txBox="1"/>
          <p:nvPr/>
        </p:nvSpPr>
        <p:spPr>
          <a:xfrm>
            <a:off x="91035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solidFill>
                <a:srgbClr val="2B2B2B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⑥</a:t>
            </a:r>
            <a:r>
              <a:rPr lang="en-US" altLang="ko-KR" sz="1200" b="1" dirty="0">
                <a:latin typeface="맑은 고딕" panose="020B0503020000020004" pitchFamily="50" charset="-127"/>
                <a:ea typeface="나눔스퀘어" panose="020B0600000101010101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나눔스퀘어" panose="020B0600000101010101"/>
              </a:rPr>
              <a:t>설정 </a:t>
            </a:r>
            <a:r>
              <a:rPr lang="en-US" altLang="ko-KR" sz="1200" b="1" dirty="0">
                <a:latin typeface="맑은 고딕" panose="020B0503020000020004" pitchFamily="50" charset="-127"/>
                <a:ea typeface="나눔스퀘어" panose="020B0600000101010101"/>
              </a:rPr>
              <a:t>– </a:t>
            </a:r>
            <a:r>
              <a:rPr lang="ko-KR" altLang="en-US" sz="1200" b="1" dirty="0">
                <a:latin typeface="맑은 고딕" panose="020B0503020000020004" pitchFamily="50" charset="-127"/>
                <a:ea typeface="나눔스퀘어" panose="020B0600000101010101"/>
              </a:rPr>
              <a:t>멤버십 세부 사항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 err="1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등급명</a:t>
            </a:r>
            <a:r>
              <a:rPr lang="en-US" altLang="ko-KR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, </a:t>
            </a: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설명</a:t>
            </a:r>
            <a:r>
              <a:rPr lang="en-US" altLang="ko-KR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, </a:t>
            </a: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회원 등급 코드</a:t>
            </a:r>
            <a:r>
              <a:rPr lang="en-US" altLang="ko-KR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, </a:t>
            </a: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회원 등급 그룹</a:t>
            </a:r>
            <a:r>
              <a:rPr lang="en-US" altLang="ko-KR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, </a:t>
            </a: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등급 순서 등 조회</a:t>
            </a:r>
            <a:r>
              <a:rPr lang="en-US" altLang="ko-KR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/</a:t>
            </a: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편집 가능</a:t>
            </a:r>
            <a:endParaRPr lang="en-US" altLang="ko-KR" sz="1200" dirty="0">
              <a:solidFill>
                <a:srgbClr val="2B2B2B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연필 아이콘 클릭 시 해당 필드 인라인 편집 모드 진입</a:t>
            </a:r>
            <a:endParaRPr lang="en-US" altLang="ko-KR" sz="1200" dirty="0">
              <a:solidFill>
                <a:srgbClr val="595959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회원 등급 그룹 링크 클릭 시 해당 그룹 상세 페이지 이동</a:t>
            </a:r>
            <a:endParaRPr lang="en-US" altLang="ko-KR" sz="1200" dirty="0">
              <a:solidFill>
                <a:srgbClr val="595959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>
              <a:lnSpc>
                <a:spcPct val="150000"/>
              </a:lnSpc>
            </a:pPr>
            <a:endParaRPr lang="ko-KR" altLang="en-US" sz="1200" dirty="0">
              <a:solidFill>
                <a:srgbClr val="595959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⑦</a:t>
            </a:r>
            <a:r>
              <a:rPr lang="ko-KR" altLang="en-US" sz="1200" b="1" dirty="0">
                <a:latin typeface="맑은 고딕" panose="020B0503020000020004" pitchFamily="50" charset="-127"/>
                <a:ea typeface="나눔스퀘어" panose="020B0600000101010101"/>
              </a:rPr>
              <a:t> 보상 이력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  <a:ea typeface="나눔스퀘어" panose="020B0600000101010101"/>
              </a:rPr>
              <a:t>해당 등급에 적용되는 보상 이력 조회 가능</a:t>
            </a:r>
            <a:endParaRPr lang="en-US" altLang="ko-KR" sz="1200" dirty="0">
              <a:solidFill>
                <a:srgbClr val="2B2B2B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[</a:t>
            </a: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보상 정의 추가</a:t>
            </a:r>
            <a:r>
              <a:rPr lang="en-US" altLang="ko-KR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] </a:t>
            </a: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버튼으로 새 보상 등록 가능</a:t>
            </a:r>
            <a:r>
              <a:rPr lang="ko-KR" altLang="en-US" sz="1200" dirty="0"/>
              <a:t> </a:t>
            </a:r>
            <a:endParaRPr lang="en-US" altLang="ko-KR" sz="1200" dirty="0">
              <a:solidFill>
                <a:srgbClr val="595959"/>
              </a:solidFill>
              <a:latin typeface="맑은 고딕" panose="020B0503020000020004" pitchFamily="50" charset="-127"/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테이블 행의 ▼ 아이콘으로 편집</a:t>
            </a:r>
            <a:r>
              <a:rPr lang="en-US" altLang="ko-KR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/</a:t>
            </a: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삭제 가능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3DF46B-7A86-A4BF-4A47-593649F85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77" y="1819343"/>
            <a:ext cx="8657071" cy="250073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335FD10-48F2-EBFF-BBE8-40C9830E93B2}"/>
              </a:ext>
            </a:extLst>
          </p:cNvPr>
          <p:cNvSpPr/>
          <p:nvPr/>
        </p:nvSpPr>
        <p:spPr>
          <a:xfrm>
            <a:off x="318976" y="2831497"/>
            <a:ext cx="8657072" cy="80744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DD207E-BE02-A6B2-5763-9FDF170B3491}"/>
              </a:ext>
            </a:extLst>
          </p:cNvPr>
          <p:cNvSpPr/>
          <p:nvPr/>
        </p:nvSpPr>
        <p:spPr>
          <a:xfrm>
            <a:off x="318976" y="3843651"/>
            <a:ext cx="8657071" cy="47642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FF93089-6009-B66A-6A72-B1133C7706B3}"/>
              </a:ext>
            </a:extLst>
          </p:cNvPr>
          <p:cNvSpPr/>
          <p:nvPr/>
        </p:nvSpPr>
        <p:spPr>
          <a:xfrm>
            <a:off x="77497" y="272349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42A041B-A8AD-CEF8-CFDC-B5D1B8F44A04}"/>
              </a:ext>
            </a:extLst>
          </p:cNvPr>
          <p:cNvSpPr/>
          <p:nvPr/>
        </p:nvSpPr>
        <p:spPr>
          <a:xfrm>
            <a:off x="77497" y="373154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7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864AEB-BF8D-83ED-5589-4AF65CAEBD6D}"/>
              </a:ext>
            </a:extLst>
          </p:cNvPr>
          <p:cNvSpPr/>
          <p:nvPr/>
        </p:nvSpPr>
        <p:spPr>
          <a:xfrm>
            <a:off x="8402103" y="3703554"/>
            <a:ext cx="573944" cy="13076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4278A5B-3E38-F0CC-D9FA-C8C8C2F12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861" y="4524785"/>
            <a:ext cx="4693299" cy="209435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4F7A07E-BAB0-22BB-E959-104CCBDCF879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4647511" y="3839547"/>
            <a:ext cx="4039289" cy="6852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59A3266-CDE9-CBF0-8359-0F0BFDD153D2}"/>
              </a:ext>
            </a:extLst>
          </p:cNvPr>
          <p:cNvSpPr/>
          <p:nvPr/>
        </p:nvSpPr>
        <p:spPr>
          <a:xfrm>
            <a:off x="2300861" y="4517050"/>
            <a:ext cx="4693299" cy="210208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84425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44DC-8465-821E-EEA5-3743785D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2F13C459-E593-50DB-E6CC-24DC7E84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④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프로모션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CDF0F0-4E8A-11D1-5332-BC0CCB4889D5}"/>
              </a:ext>
            </a:extLst>
          </p:cNvPr>
          <p:cNvSpPr txBox="1"/>
          <p:nvPr/>
        </p:nvSpPr>
        <p:spPr>
          <a:xfrm>
            <a:off x="370010" y="1077475"/>
            <a:ext cx="7999549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프로모션 목록에서 프로모션 번호</a:t>
            </a:r>
            <a:r>
              <a:rPr lang="en-US" altLang="ko-KR" sz="1400" dirty="0"/>
              <a:t>/</a:t>
            </a:r>
            <a:r>
              <a:rPr lang="ko-KR" altLang="en-US" sz="1400" dirty="0"/>
              <a:t>이름</a:t>
            </a:r>
            <a:r>
              <a:rPr lang="en-US" altLang="ko-KR" sz="1400" dirty="0"/>
              <a:t>/</a:t>
            </a:r>
            <a:r>
              <a:rPr lang="ko-KR" altLang="en-US" sz="1400" dirty="0"/>
              <a:t>구분 코드</a:t>
            </a:r>
            <a:r>
              <a:rPr lang="en-US" altLang="ko-KR" sz="1400" dirty="0"/>
              <a:t>/</a:t>
            </a:r>
            <a:r>
              <a:rPr lang="ko-KR" altLang="en-US" sz="1400" dirty="0"/>
              <a:t>상태 코드</a:t>
            </a:r>
            <a:r>
              <a:rPr lang="en-US" altLang="ko-KR" sz="1400" dirty="0"/>
              <a:t>, </a:t>
            </a:r>
            <a:r>
              <a:rPr lang="ko-KR" altLang="en-US" sz="1400" dirty="0"/>
              <a:t>게시 시작</a:t>
            </a:r>
            <a:r>
              <a:rPr lang="en-US" altLang="ko-KR" sz="1400" dirty="0"/>
              <a:t>/</a:t>
            </a:r>
            <a:r>
              <a:rPr lang="ko-KR" altLang="en-US" sz="1400" dirty="0"/>
              <a:t>종료 날짜</a:t>
            </a:r>
            <a:r>
              <a:rPr lang="en-US" altLang="ko-KR" sz="1400" dirty="0"/>
              <a:t>, </a:t>
            </a:r>
            <a:r>
              <a:rPr lang="ko-KR" altLang="en-US" sz="1400" dirty="0"/>
              <a:t>시작</a:t>
            </a:r>
            <a:r>
              <a:rPr lang="en-US" altLang="ko-KR" sz="1400" dirty="0"/>
              <a:t>/</a:t>
            </a:r>
            <a:r>
              <a:rPr lang="ko-KR" altLang="en-US" sz="1400" dirty="0"/>
              <a:t>종료</a:t>
            </a:r>
            <a:r>
              <a:rPr lang="en-US" altLang="ko-KR" sz="1400" dirty="0"/>
              <a:t> </a:t>
            </a:r>
            <a:r>
              <a:rPr lang="ko-KR" altLang="en-US" sz="1400" dirty="0"/>
              <a:t>일자</a:t>
            </a:r>
            <a:r>
              <a:rPr lang="en-US" altLang="ko-KR" sz="1400" dirty="0"/>
              <a:t>, </a:t>
            </a:r>
            <a:r>
              <a:rPr lang="ko-KR" altLang="en-US" sz="1400" dirty="0"/>
              <a:t>할인율</a:t>
            </a:r>
            <a:r>
              <a:rPr lang="en-US" altLang="ko-KR" sz="1400" dirty="0"/>
              <a:t>, </a:t>
            </a:r>
            <a:r>
              <a:rPr lang="ko-KR" altLang="en-US" sz="1400" dirty="0"/>
              <a:t>활성화 여부를 한눈에 확인할 수 있습니다</a:t>
            </a:r>
            <a:r>
              <a:rPr lang="en-US" altLang="ko-KR" sz="1400" dirty="0"/>
              <a:t>.</a:t>
            </a:r>
            <a:br>
              <a:rPr lang="ko-KR" altLang="en-US" sz="1400" dirty="0"/>
            </a:br>
            <a:r>
              <a:rPr lang="ko-KR" altLang="en-US" sz="1400" dirty="0"/>
              <a:t>특정 프로모션을 선택하면 해당 프로모션의 상세 내역과 운영 현황을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920F21-367B-373F-1AF5-DDDCD9FA0438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프로모션 정보 검색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번호</a:t>
            </a:r>
            <a:r>
              <a:rPr lang="en-US" altLang="ko-KR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이름</a:t>
            </a:r>
            <a:r>
              <a:rPr lang="en-US" altLang="ko-KR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구분 코드</a:t>
            </a:r>
            <a:r>
              <a:rPr lang="en-US" altLang="ko-KR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상태 코드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목록에서 조회 및 검색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이름으로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특정 프로모션의 상세 정보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200" dirty="0"/>
              <a:t>※ </a:t>
            </a:r>
            <a:r>
              <a:rPr lang="ko-KR" altLang="en-US" sz="1200" dirty="0" err="1"/>
              <a:t>리스트뷰</a:t>
            </a:r>
            <a:r>
              <a:rPr lang="ko-KR" altLang="en-US" sz="1200" dirty="0"/>
              <a:t> 생성은 슬라이드 </a:t>
            </a:r>
            <a:r>
              <a:rPr lang="en-US" altLang="ko-KR" sz="1200" dirty="0"/>
              <a:t>5 </a:t>
            </a:r>
            <a:r>
              <a:rPr lang="ko-KR" altLang="en-US" sz="1200" dirty="0"/>
              <a:t>참고하시길 바랍니다</a:t>
            </a:r>
            <a:r>
              <a:rPr lang="en-US" altLang="ko-KR" sz="1200" dirty="0"/>
              <a:t>.)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D9CA48-FB1A-9004-CA6D-44C77159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9" y="2207328"/>
            <a:ext cx="8500188" cy="1632217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05FA5C1-ED4D-1B5F-E395-910493A97BA0}"/>
              </a:ext>
            </a:extLst>
          </p:cNvPr>
          <p:cNvSpPr/>
          <p:nvPr/>
        </p:nvSpPr>
        <p:spPr>
          <a:xfrm>
            <a:off x="1660745" y="2817845"/>
            <a:ext cx="1502333" cy="102169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CEB0A1-0A72-C6FF-3130-8CD57D314BA1}"/>
              </a:ext>
            </a:extLst>
          </p:cNvPr>
          <p:cNvSpPr/>
          <p:nvPr/>
        </p:nvSpPr>
        <p:spPr>
          <a:xfrm>
            <a:off x="6444343" y="2601856"/>
            <a:ext cx="1104123" cy="14134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84CABB8-42DF-572D-0628-06FCADD0A443}"/>
              </a:ext>
            </a:extLst>
          </p:cNvPr>
          <p:cNvSpPr/>
          <p:nvPr/>
        </p:nvSpPr>
        <p:spPr>
          <a:xfrm>
            <a:off x="6245413" y="238585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D764168-AC6C-8EAF-958A-99FC78B85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107" y="3949182"/>
            <a:ext cx="7526817" cy="2427618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282278-6D49-6D8D-EEAF-04087D551E83}"/>
              </a:ext>
            </a:extLst>
          </p:cNvPr>
          <p:cNvSpPr/>
          <p:nvPr/>
        </p:nvSpPr>
        <p:spPr>
          <a:xfrm>
            <a:off x="1138107" y="3949181"/>
            <a:ext cx="7526817" cy="242761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E7B4D13-05ED-3D99-4398-E82CD252DA0D}"/>
              </a:ext>
            </a:extLst>
          </p:cNvPr>
          <p:cNvCxnSpPr>
            <a:stCxn id="9" idx="3"/>
            <a:endCxn id="17" idx="0"/>
          </p:cNvCxnSpPr>
          <p:nvPr/>
        </p:nvCxnSpPr>
        <p:spPr>
          <a:xfrm>
            <a:off x="3163078" y="3328695"/>
            <a:ext cx="1738438" cy="620486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8511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B8B32-FB45-B239-132A-632EA366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8CDDE9B9-D88D-B6A5-3ED3-4993D3FA0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④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프로모션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D2579-FBBE-5648-6EB5-1E87B0F4E871}"/>
              </a:ext>
            </a:extLst>
          </p:cNvPr>
          <p:cNvSpPr txBox="1"/>
          <p:nvPr/>
        </p:nvSpPr>
        <p:spPr>
          <a:xfrm>
            <a:off x="509158" y="1013391"/>
            <a:ext cx="7999549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프로모션 목록에서 프로모션 번호</a:t>
            </a:r>
            <a:r>
              <a:rPr lang="en-US" altLang="ko-KR" sz="1400" dirty="0"/>
              <a:t>/</a:t>
            </a:r>
            <a:r>
              <a:rPr lang="ko-KR" altLang="en-US" sz="1400" dirty="0"/>
              <a:t>이름</a:t>
            </a:r>
            <a:r>
              <a:rPr lang="en-US" altLang="ko-KR" sz="1400" dirty="0"/>
              <a:t>/</a:t>
            </a:r>
            <a:r>
              <a:rPr lang="ko-KR" altLang="en-US" sz="1400" dirty="0"/>
              <a:t>구분 코드</a:t>
            </a:r>
            <a:r>
              <a:rPr lang="en-US" altLang="ko-KR" sz="1400" dirty="0"/>
              <a:t>/</a:t>
            </a:r>
            <a:r>
              <a:rPr lang="ko-KR" altLang="en-US" sz="1400" dirty="0"/>
              <a:t>상태 코드</a:t>
            </a:r>
            <a:r>
              <a:rPr lang="en-US" altLang="ko-KR" sz="1400" dirty="0"/>
              <a:t>, </a:t>
            </a:r>
            <a:r>
              <a:rPr lang="ko-KR" altLang="en-US" sz="1400" dirty="0"/>
              <a:t>게시 시작</a:t>
            </a:r>
            <a:r>
              <a:rPr lang="en-US" altLang="ko-KR" sz="1400" dirty="0"/>
              <a:t>/</a:t>
            </a:r>
            <a:r>
              <a:rPr lang="ko-KR" altLang="en-US" sz="1400" dirty="0"/>
              <a:t>종료 날짜</a:t>
            </a:r>
            <a:r>
              <a:rPr lang="en-US" altLang="ko-KR" sz="1400" dirty="0"/>
              <a:t>, </a:t>
            </a:r>
            <a:r>
              <a:rPr lang="ko-KR" altLang="en-US" sz="1400" dirty="0"/>
              <a:t>시작</a:t>
            </a:r>
            <a:r>
              <a:rPr lang="en-US" altLang="ko-KR" sz="1400" dirty="0"/>
              <a:t>/</a:t>
            </a:r>
            <a:r>
              <a:rPr lang="ko-KR" altLang="en-US" sz="1400" dirty="0"/>
              <a:t>종료</a:t>
            </a:r>
            <a:r>
              <a:rPr lang="en-US" altLang="ko-KR" sz="1400" dirty="0"/>
              <a:t> </a:t>
            </a:r>
            <a:r>
              <a:rPr lang="ko-KR" altLang="en-US" sz="1400" dirty="0"/>
              <a:t>일자</a:t>
            </a:r>
            <a:r>
              <a:rPr lang="en-US" altLang="ko-KR" sz="1400" dirty="0"/>
              <a:t>, </a:t>
            </a:r>
            <a:r>
              <a:rPr lang="ko-KR" altLang="en-US" sz="1400" dirty="0"/>
              <a:t>할인율</a:t>
            </a:r>
            <a:r>
              <a:rPr lang="en-US" altLang="ko-KR" sz="1400" dirty="0"/>
              <a:t>, </a:t>
            </a:r>
            <a:r>
              <a:rPr lang="ko-KR" altLang="en-US" sz="1400" dirty="0"/>
              <a:t>활성화 여부를 한눈에 확인할 수 있습니다</a:t>
            </a:r>
            <a:r>
              <a:rPr lang="en-US" altLang="ko-KR" sz="1400" dirty="0"/>
              <a:t>.</a:t>
            </a:r>
            <a:br>
              <a:rPr lang="ko-KR" altLang="en-US" sz="1400" dirty="0"/>
            </a:br>
            <a:r>
              <a:rPr lang="ko-KR" altLang="en-US" sz="1400" dirty="0"/>
              <a:t>특정 프로모션을 선택하면 해당 프로모션의 상세 내역과 운영 현황을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38486F-A262-D695-A187-8C9DED90DB04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새 프로모션 등록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프로모션 세부 사항</a:t>
            </a:r>
            <a:r>
              <a:rPr lang="en-US" altLang="ko-KR" sz="1200" dirty="0"/>
              <a:t>: </a:t>
            </a:r>
            <a:r>
              <a:rPr lang="ko-KR" altLang="en-US" sz="1200" dirty="0"/>
              <a:t>시작</a:t>
            </a:r>
            <a:r>
              <a:rPr lang="en-US" altLang="ko-KR" sz="1200" dirty="0"/>
              <a:t>/</a:t>
            </a:r>
            <a:r>
              <a:rPr lang="ko-KR" altLang="en-US" sz="1200" dirty="0"/>
              <a:t>종료 일자</a:t>
            </a:r>
            <a:r>
              <a:rPr lang="en-US" altLang="ko-KR" sz="1200" dirty="0"/>
              <a:t>, </a:t>
            </a:r>
            <a:r>
              <a:rPr lang="ko-KR" altLang="en-US" sz="1200" dirty="0"/>
              <a:t>구분</a:t>
            </a:r>
            <a:r>
              <a:rPr lang="en-US" altLang="ko-KR" sz="1200" dirty="0"/>
              <a:t>·</a:t>
            </a:r>
            <a:r>
              <a:rPr lang="ko-KR" altLang="en-US" sz="1200" dirty="0"/>
              <a:t>상태 코드</a:t>
            </a:r>
            <a:r>
              <a:rPr lang="en-US" altLang="ko-KR" sz="1200" dirty="0"/>
              <a:t>, </a:t>
            </a:r>
            <a:r>
              <a:rPr lang="ko-KR" altLang="en-US" sz="1200" dirty="0"/>
              <a:t>담당자</a:t>
            </a:r>
            <a:r>
              <a:rPr lang="en-US" altLang="ko-KR" sz="1200" dirty="0"/>
              <a:t>·</a:t>
            </a:r>
            <a:r>
              <a:rPr lang="ko-KR" altLang="en-US" sz="1200" dirty="0"/>
              <a:t>담당 부서 등 기본 정보 추가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프로모션 설정</a:t>
            </a:r>
            <a:r>
              <a:rPr lang="en-US" altLang="ko-KR" sz="1200" dirty="0"/>
              <a:t>: </a:t>
            </a:r>
            <a:r>
              <a:rPr lang="ko-KR" altLang="en-US" sz="1200" dirty="0"/>
              <a:t>쿠폰</a:t>
            </a:r>
            <a:r>
              <a:rPr lang="en-US" altLang="ko-KR" sz="1200" dirty="0"/>
              <a:t>(</a:t>
            </a:r>
            <a:r>
              <a:rPr lang="ko-KR" altLang="en-US" sz="1200" dirty="0"/>
              <a:t>전체</a:t>
            </a:r>
            <a:r>
              <a:rPr lang="en-US" altLang="ko-KR" sz="1200" dirty="0"/>
              <a:t>·</a:t>
            </a:r>
            <a:r>
              <a:rPr lang="ko-KR" altLang="en-US" sz="1200" dirty="0"/>
              <a:t>정률</a:t>
            </a:r>
            <a:r>
              <a:rPr lang="en-US" altLang="ko-KR" sz="1200" dirty="0"/>
              <a:t>·</a:t>
            </a:r>
            <a:r>
              <a:rPr lang="ko-KR" altLang="en-US" sz="1200" dirty="0"/>
              <a:t>정액</a:t>
            </a:r>
            <a:r>
              <a:rPr lang="en-US" altLang="ko-KR" sz="1200" dirty="0"/>
              <a:t>·</a:t>
            </a:r>
            <a:r>
              <a:rPr lang="ko-KR" altLang="en-US" sz="1200" dirty="0"/>
              <a:t>특정</a:t>
            </a:r>
            <a:r>
              <a:rPr lang="en-US" altLang="ko-KR" sz="1200" dirty="0"/>
              <a:t>), </a:t>
            </a:r>
            <a:r>
              <a:rPr lang="ko-KR" altLang="en-US" sz="1200" dirty="0"/>
              <a:t>품목</a:t>
            </a:r>
            <a:r>
              <a:rPr lang="en-US" altLang="ko-KR" sz="1200" dirty="0"/>
              <a:t>(</a:t>
            </a:r>
            <a:r>
              <a:rPr lang="ko-KR" altLang="en-US" sz="1200" dirty="0"/>
              <a:t>전체</a:t>
            </a:r>
            <a:r>
              <a:rPr lang="en-US" altLang="ko-KR" sz="1200" dirty="0"/>
              <a:t>·</a:t>
            </a:r>
            <a:r>
              <a:rPr lang="ko-KR" altLang="en-US" sz="1200" dirty="0"/>
              <a:t>대상</a:t>
            </a:r>
            <a:r>
              <a:rPr lang="en-US" altLang="ko-KR" sz="1200" dirty="0"/>
              <a:t>), </a:t>
            </a:r>
            <a:r>
              <a:rPr lang="ko-KR" altLang="en-US" sz="1200" dirty="0"/>
              <a:t>할인율</a:t>
            </a:r>
            <a:r>
              <a:rPr lang="en-US" altLang="ko-KR" sz="1200" dirty="0"/>
              <a:t>, </a:t>
            </a:r>
            <a:r>
              <a:rPr lang="ko-KR" altLang="en-US" sz="1200" dirty="0"/>
              <a:t>포인트 사용 여부 지정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적용 가능 매장</a:t>
            </a:r>
            <a:r>
              <a:rPr lang="en-US" altLang="ko-KR" sz="1200" dirty="0"/>
              <a:t>: </a:t>
            </a:r>
            <a:r>
              <a:rPr lang="ko-KR" altLang="en-US" sz="1200" dirty="0"/>
              <a:t>좌측 사용 가능 매장 목록에서 선택하여 우측 선택됨 영역으로 이동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0BCB88B-AC7B-7D63-CF2B-B869D2EF2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9" y="2133651"/>
            <a:ext cx="5725991" cy="946193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E01B6B-DC2C-34DF-31F0-F85099FC6818}"/>
              </a:ext>
            </a:extLst>
          </p:cNvPr>
          <p:cNvSpPr/>
          <p:nvPr/>
        </p:nvSpPr>
        <p:spPr>
          <a:xfrm>
            <a:off x="1007567" y="3307895"/>
            <a:ext cx="7833412" cy="322260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BA0EDA-DE51-B9B7-8D2F-1CAD4A922BC7}"/>
              </a:ext>
            </a:extLst>
          </p:cNvPr>
          <p:cNvSpPr/>
          <p:nvPr/>
        </p:nvSpPr>
        <p:spPr>
          <a:xfrm>
            <a:off x="5516217" y="2261659"/>
            <a:ext cx="605907" cy="12549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F6F13DE-50A7-1A06-A75F-C1E8AC736D28}"/>
              </a:ext>
            </a:extLst>
          </p:cNvPr>
          <p:cNvCxnSpPr>
            <a:cxnSpLocks/>
          </p:cNvCxnSpPr>
          <p:nvPr/>
        </p:nvCxnSpPr>
        <p:spPr>
          <a:xfrm flipH="1">
            <a:off x="4750904" y="2387151"/>
            <a:ext cx="1064289" cy="869176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0EF11DF5-2723-68F8-2F12-ACE8E8209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204" y="3642771"/>
            <a:ext cx="4431775" cy="2302823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B76DCC5F-4C2D-9195-A93E-85A2CE0DD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567" y="3320216"/>
            <a:ext cx="3401637" cy="196349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5025E7D-F532-AE34-D133-490218D2DC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567" y="5283715"/>
            <a:ext cx="3401637" cy="1213495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9132C89-4E5C-5A89-6BC5-830FE9D07FAC}"/>
              </a:ext>
            </a:extLst>
          </p:cNvPr>
          <p:cNvSpPr/>
          <p:nvPr/>
        </p:nvSpPr>
        <p:spPr>
          <a:xfrm>
            <a:off x="4521842" y="303165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56223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154E-042F-473A-39EE-E2D8394C1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C8144F0F-249D-BD86-3653-49C2407A2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④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프로모션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4902-0166-CDE7-81B1-B9630D009188}"/>
              </a:ext>
            </a:extLst>
          </p:cNvPr>
          <p:cNvSpPr txBox="1"/>
          <p:nvPr/>
        </p:nvSpPr>
        <p:spPr>
          <a:xfrm>
            <a:off x="370010" y="1077475"/>
            <a:ext cx="7700970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프로모션에 설정된 항목 값을 직접 수정할 수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각 프로모션별 적용 대상 데이터도 함께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B17EFD-B396-0012-38EA-E4F9B504423A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프로모션 관련됨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적용 가능 쿠폰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해당 프로모션에 적용된 쿠폰 조회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[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쿠폰 설정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]/[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새로 만들기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 프로모션 쿠폰 등록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적용 가능 제품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프로모션 적용 대상 제품 조회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엑셀 일괄 업로드 포함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), [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추가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 개별 제품 등록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적용 가능 포인트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프로모션 적용 포인트 정책 조회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[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새로 만들기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 포인트 유형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값 설정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적용 가능 매장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프로모션에 개별 등록된 매장 조회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엑셀 일괄 업로드 포함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), [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새로 만들기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 개별 매장 등록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CSV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업로드 가능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각 하위 항목의 테이블 행의 ▼ 아이콘으로 편집</a:t>
            </a:r>
            <a:r>
              <a:rPr lang="en-US" altLang="ko-KR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/</a:t>
            </a: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삭제 가능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※       </a:t>
            </a:r>
            <a:r>
              <a:rPr lang="ko-KR" altLang="en-US" sz="1200" dirty="0"/>
              <a:t>아이콘으로 적용 데이터 수정 및 삭제 가능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F4327D-25D6-6096-E609-CA8C41D3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81" y="2003127"/>
            <a:ext cx="7057959" cy="3218698"/>
          </a:xfrm>
          <a:prstGeom prst="rect">
            <a:avLst/>
          </a:prstGeom>
          <a:ln w="952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82C9BC1-1F54-CCBB-7044-7FFC0D9BD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418" y="6115838"/>
            <a:ext cx="205758" cy="20575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96A90C3-FBD1-5076-79F2-1C36B06A75C8}"/>
              </a:ext>
            </a:extLst>
          </p:cNvPr>
          <p:cNvSpPr/>
          <p:nvPr/>
        </p:nvSpPr>
        <p:spPr>
          <a:xfrm>
            <a:off x="631374" y="2188644"/>
            <a:ext cx="721565" cy="153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A77E1A-B1F0-A6F6-BE4D-95DF32F0A7CB}"/>
              </a:ext>
            </a:extLst>
          </p:cNvPr>
          <p:cNvSpPr/>
          <p:nvPr/>
        </p:nvSpPr>
        <p:spPr>
          <a:xfrm>
            <a:off x="640706" y="2887274"/>
            <a:ext cx="712234" cy="16383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6D0897-4663-AE74-7F93-1A002CAD4FAC}"/>
              </a:ext>
            </a:extLst>
          </p:cNvPr>
          <p:cNvSpPr/>
          <p:nvPr/>
        </p:nvSpPr>
        <p:spPr>
          <a:xfrm>
            <a:off x="636038" y="4073211"/>
            <a:ext cx="800875" cy="16383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21F9E7-AE9A-D86E-FA48-D481EC782DB9}"/>
              </a:ext>
            </a:extLst>
          </p:cNvPr>
          <p:cNvSpPr/>
          <p:nvPr/>
        </p:nvSpPr>
        <p:spPr>
          <a:xfrm>
            <a:off x="622043" y="4700419"/>
            <a:ext cx="730895" cy="153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F11FC5C-20F0-7AD5-A9B2-AFEAAB29D63B}"/>
              </a:ext>
            </a:extLst>
          </p:cNvPr>
          <p:cNvSpPr/>
          <p:nvPr/>
        </p:nvSpPr>
        <p:spPr>
          <a:xfrm>
            <a:off x="356284" y="179645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4155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2D47-1BC5-805B-FBC4-AB9BE522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D03102FA-AB9A-241D-EE93-2ED2AA4E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④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프로모션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BBACD6-2C7A-8FCA-51D5-4AD207C80C8E}"/>
              </a:ext>
            </a:extLst>
          </p:cNvPr>
          <p:cNvSpPr txBox="1"/>
          <p:nvPr/>
        </p:nvSpPr>
        <p:spPr>
          <a:xfrm>
            <a:off x="370010" y="1077475"/>
            <a:ext cx="7700970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프로모션에 설정된 항목 값을 직접 수정할 수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각 프로모션별 적용 대상 데이터도 함께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C717E0-7DC3-E775-1148-6DEB70297549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맑은 고딕" panose="020B0503020000020004" pitchFamily="50" charset="-127"/>
                <a:ea typeface="나눔스퀘어" panose="020B0600000101010101"/>
              </a:rPr>
              <a:t>③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프로모션 세부사항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 아이콘으로 해당 항목 값의 데이터 수정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연필 표시된 필드들은 수정 가능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 코드 수정 불가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프로모션 세부 사항</a:t>
            </a:r>
            <a:r>
              <a:rPr lang="en-US" altLang="ko-KR" sz="1200" dirty="0"/>
              <a:t>, </a:t>
            </a:r>
            <a:r>
              <a:rPr lang="ko-KR" altLang="en-US" sz="1200" dirty="0"/>
              <a:t>프로모션 설정 하위 항목에 대한 자세한 설명은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</a:t>
            </a:r>
            <a:r>
              <a:rPr lang="ko-KR" altLang="en-US" sz="1200" dirty="0"/>
              <a:t>설정 </a:t>
            </a:r>
            <a:r>
              <a:rPr lang="en-US" altLang="ko-KR" sz="1200" dirty="0"/>
              <a:t>– </a:t>
            </a:r>
            <a:r>
              <a:rPr lang="ko-KR" altLang="en-US" sz="1200" dirty="0"/>
              <a:t>프로모션 세부 사항 필드 요약표 </a:t>
            </a:r>
            <a:r>
              <a:rPr lang="en-US" altLang="ko-KR" sz="1200" dirty="0"/>
              <a:t>1, 2</a:t>
            </a:r>
            <a:r>
              <a:rPr lang="ko-KR" altLang="en-US" sz="1200" dirty="0"/>
              <a:t>를 참고해주시길 바랍니다</a:t>
            </a:r>
            <a:r>
              <a:rPr lang="en-US" altLang="ko-KR" sz="1200" dirty="0"/>
              <a:t>.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F15D70-3CE1-6F39-E9CD-96C879D9C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60" y="1919922"/>
            <a:ext cx="7781699" cy="3018155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B03AE79-5DDE-0ABF-AA9F-9BAF2523F441}"/>
              </a:ext>
            </a:extLst>
          </p:cNvPr>
          <p:cNvSpPr/>
          <p:nvPr/>
        </p:nvSpPr>
        <p:spPr>
          <a:xfrm>
            <a:off x="4056411" y="2282625"/>
            <a:ext cx="209226" cy="266587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99A99CC-FB51-B8AE-51F2-398ECF70337A}"/>
              </a:ext>
            </a:extLst>
          </p:cNvPr>
          <p:cNvSpPr/>
          <p:nvPr/>
        </p:nvSpPr>
        <p:spPr>
          <a:xfrm>
            <a:off x="7821752" y="2272207"/>
            <a:ext cx="209226" cy="266587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3147732-5C95-8E16-2843-0AC7FFCDA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22" y="1455881"/>
            <a:ext cx="205758" cy="20575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7689641A-60F0-8F86-7724-C6C8728A4D05}"/>
              </a:ext>
            </a:extLst>
          </p:cNvPr>
          <p:cNvSpPr/>
          <p:nvPr/>
        </p:nvSpPr>
        <p:spPr>
          <a:xfrm>
            <a:off x="262891" y="171762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49287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11669-A38C-C716-969F-ABA2D837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DF3DBDB8-02E5-4FC8-3F4F-A5D2260A3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⑤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쿠폰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EFD726-09D7-0C0C-A843-184D0706FCBE}"/>
              </a:ext>
            </a:extLst>
          </p:cNvPr>
          <p:cNvSpPr txBox="1"/>
          <p:nvPr/>
        </p:nvSpPr>
        <p:spPr>
          <a:xfrm>
            <a:off x="370010" y="1077475"/>
            <a:ext cx="7999549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쿠폰 목록에서 이름</a:t>
            </a:r>
            <a:r>
              <a:rPr lang="en-US" altLang="ko-KR" sz="1400" dirty="0"/>
              <a:t>, </a:t>
            </a:r>
            <a:r>
              <a:rPr lang="ko-KR" altLang="en-US" sz="1400" dirty="0"/>
              <a:t>유형</a:t>
            </a:r>
            <a:r>
              <a:rPr lang="en-US" altLang="ko-KR" sz="1400" dirty="0"/>
              <a:t>, </a:t>
            </a:r>
            <a:r>
              <a:rPr lang="ko-KR" altLang="en-US" sz="1400" dirty="0"/>
              <a:t>유효</a:t>
            </a:r>
            <a:r>
              <a:rPr lang="en-US" altLang="ko-KR" sz="1400" dirty="0"/>
              <a:t>/</a:t>
            </a:r>
            <a:r>
              <a:rPr lang="ko-KR" altLang="en-US" sz="1400" dirty="0"/>
              <a:t>만료 날짜</a:t>
            </a:r>
            <a:r>
              <a:rPr lang="en-US" altLang="ko-KR" sz="1400" dirty="0"/>
              <a:t>, </a:t>
            </a:r>
            <a:r>
              <a:rPr lang="ko-KR" altLang="en-US" sz="1400" dirty="0"/>
              <a:t>할인율</a:t>
            </a:r>
            <a:r>
              <a:rPr lang="en-US" altLang="ko-KR" sz="1400" dirty="0"/>
              <a:t>, </a:t>
            </a:r>
            <a:r>
              <a:rPr lang="ko-KR" altLang="en-US" sz="1400" dirty="0"/>
              <a:t>액면가</a:t>
            </a:r>
            <a:r>
              <a:rPr lang="en-US" altLang="ko-KR" sz="1400" dirty="0"/>
              <a:t>, </a:t>
            </a:r>
            <a:r>
              <a:rPr lang="ko-KR" altLang="en-US" sz="1400" dirty="0"/>
              <a:t>파트너</a:t>
            </a:r>
            <a:r>
              <a:rPr lang="en-US" altLang="ko-KR" sz="1400" dirty="0"/>
              <a:t>, </a:t>
            </a:r>
            <a:r>
              <a:rPr lang="ko-KR" altLang="en-US" sz="1400" dirty="0"/>
              <a:t>제품</a:t>
            </a:r>
            <a:r>
              <a:rPr lang="en-US" altLang="ko-KR" sz="1400" dirty="0"/>
              <a:t>, </a:t>
            </a:r>
            <a:r>
              <a:rPr lang="ko-KR" altLang="en-US" sz="1400" dirty="0"/>
              <a:t>제품 범주</a:t>
            </a:r>
            <a:r>
              <a:rPr lang="en-US" altLang="ko-KR" sz="1400" dirty="0"/>
              <a:t>, </a:t>
            </a:r>
            <a:r>
              <a:rPr lang="ko-KR" altLang="en-US" sz="1400" dirty="0"/>
              <a:t>회원 프로그램 한눈에 확인할 수 있습니다</a:t>
            </a:r>
            <a:r>
              <a:rPr lang="en-US" altLang="ko-KR" sz="1400" dirty="0"/>
              <a:t>.</a:t>
            </a:r>
            <a:br>
              <a:rPr lang="ko-KR" altLang="en-US" sz="1400" dirty="0"/>
            </a:br>
            <a:r>
              <a:rPr lang="ko-KR" altLang="en-US" sz="1400" dirty="0"/>
              <a:t>특정 쿠폰을 선택하면 해당 쿠폰의 상세 내역과 운영 현황을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5313A7-9D5D-DB5C-0F7A-444BD6F2A5DB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쿠폰 정보 검색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쿠폰 이름으로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목록에서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쿠폰 이름으로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특정 쿠폰의 상세 정보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200" dirty="0"/>
              <a:t>※ </a:t>
            </a:r>
            <a:r>
              <a:rPr lang="ko-KR" altLang="en-US" sz="1200" dirty="0" err="1"/>
              <a:t>리스트뷰</a:t>
            </a:r>
            <a:r>
              <a:rPr lang="ko-KR" altLang="en-US" sz="1200" dirty="0"/>
              <a:t> 생성은 슬라이드 </a:t>
            </a:r>
            <a:r>
              <a:rPr lang="en-US" altLang="ko-KR" sz="1200" dirty="0"/>
              <a:t>5 </a:t>
            </a:r>
            <a:r>
              <a:rPr lang="ko-KR" altLang="en-US" sz="1200" dirty="0"/>
              <a:t>참고하시길 바랍니다</a:t>
            </a:r>
            <a:r>
              <a:rPr lang="en-US" altLang="ko-KR" sz="1200" dirty="0"/>
              <a:t>.)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9DA96F-2C0C-F4C3-D9CC-6718F18D5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10" y="2331362"/>
            <a:ext cx="7999549" cy="1522113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4A21DAE-CB0C-544D-329A-36AA3CC79363}"/>
              </a:ext>
            </a:extLst>
          </p:cNvPr>
          <p:cNvSpPr/>
          <p:nvPr/>
        </p:nvSpPr>
        <p:spPr>
          <a:xfrm>
            <a:off x="733798" y="2904931"/>
            <a:ext cx="2037394" cy="94854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DE366B-AA78-2A7E-1F89-AC648F7B4531}"/>
              </a:ext>
            </a:extLst>
          </p:cNvPr>
          <p:cNvSpPr/>
          <p:nvPr/>
        </p:nvSpPr>
        <p:spPr>
          <a:xfrm>
            <a:off x="6043871" y="2704936"/>
            <a:ext cx="1101012" cy="153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EBCC788-16D0-7FE8-64FE-677793416984}"/>
              </a:ext>
            </a:extLst>
          </p:cNvPr>
          <p:cNvSpPr/>
          <p:nvPr/>
        </p:nvSpPr>
        <p:spPr>
          <a:xfrm>
            <a:off x="5788832" y="265494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C06D3F4-FC79-B6A4-1246-9799E1D7F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85" y="4427044"/>
            <a:ext cx="7825206" cy="192088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EC0F19-16F1-11F5-A75E-06FC2F4DDDF8}"/>
              </a:ext>
            </a:extLst>
          </p:cNvPr>
          <p:cNvSpPr/>
          <p:nvPr/>
        </p:nvSpPr>
        <p:spPr>
          <a:xfrm>
            <a:off x="605585" y="4427044"/>
            <a:ext cx="7825206" cy="192088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E8C01F0-80FF-BED2-87E3-8D446576B757}"/>
              </a:ext>
            </a:extLst>
          </p:cNvPr>
          <p:cNvCxnSpPr>
            <a:endCxn id="15" idx="0"/>
          </p:cNvCxnSpPr>
          <p:nvPr/>
        </p:nvCxnSpPr>
        <p:spPr>
          <a:xfrm>
            <a:off x="1688841" y="3853475"/>
            <a:ext cx="2829347" cy="573569"/>
          </a:xfrm>
          <a:prstGeom prst="straightConnector1">
            <a:avLst/>
          </a:prstGeom>
          <a:ln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1874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09AD0-4D97-E3F1-F03B-6597D955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C57AC09F-779E-8523-8092-F694CEE79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⑤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쿠폰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9CAFB3-B7E0-BF5C-6F13-6E546AFA7A66}"/>
              </a:ext>
            </a:extLst>
          </p:cNvPr>
          <p:cNvSpPr txBox="1"/>
          <p:nvPr/>
        </p:nvSpPr>
        <p:spPr>
          <a:xfrm>
            <a:off x="370010" y="1077475"/>
            <a:ext cx="7999549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쿠폰 목록에서 이름</a:t>
            </a:r>
            <a:r>
              <a:rPr lang="en-US" altLang="ko-KR" sz="1400" dirty="0"/>
              <a:t>, </a:t>
            </a:r>
            <a:r>
              <a:rPr lang="ko-KR" altLang="en-US" sz="1400" dirty="0"/>
              <a:t>유형</a:t>
            </a:r>
            <a:r>
              <a:rPr lang="en-US" altLang="ko-KR" sz="1400" dirty="0"/>
              <a:t>, </a:t>
            </a:r>
            <a:r>
              <a:rPr lang="ko-KR" altLang="en-US" sz="1400" dirty="0"/>
              <a:t>유효</a:t>
            </a:r>
            <a:r>
              <a:rPr lang="en-US" altLang="ko-KR" sz="1400" dirty="0"/>
              <a:t>/</a:t>
            </a:r>
            <a:r>
              <a:rPr lang="ko-KR" altLang="en-US" sz="1400" dirty="0"/>
              <a:t>만료 날짜</a:t>
            </a:r>
            <a:r>
              <a:rPr lang="en-US" altLang="ko-KR" sz="1400" dirty="0"/>
              <a:t>, </a:t>
            </a:r>
            <a:r>
              <a:rPr lang="ko-KR" altLang="en-US" sz="1400" dirty="0"/>
              <a:t>할인율</a:t>
            </a:r>
            <a:r>
              <a:rPr lang="en-US" altLang="ko-KR" sz="1400" dirty="0"/>
              <a:t>, </a:t>
            </a:r>
            <a:r>
              <a:rPr lang="ko-KR" altLang="en-US" sz="1400" dirty="0"/>
              <a:t>액면가</a:t>
            </a:r>
            <a:r>
              <a:rPr lang="en-US" altLang="ko-KR" sz="1400" dirty="0"/>
              <a:t>, </a:t>
            </a:r>
            <a:r>
              <a:rPr lang="ko-KR" altLang="en-US" sz="1400" dirty="0"/>
              <a:t>파트너</a:t>
            </a:r>
            <a:r>
              <a:rPr lang="en-US" altLang="ko-KR" sz="1400" dirty="0"/>
              <a:t>, </a:t>
            </a:r>
            <a:r>
              <a:rPr lang="ko-KR" altLang="en-US" sz="1400" dirty="0"/>
              <a:t>제품</a:t>
            </a:r>
            <a:r>
              <a:rPr lang="en-US" altLang="ko-KR" sz="1400" dirty="0"/>
              <a:t>, </a:t>
            </a:r>
            <a:r>
              <a:rPr lang="ko-KR" altLang="en-US" sz="1400" dirty="0"/>
              <a:t>제품 범주</a:t>
            </a:r>
            <a:r>
              <a:rPr lang="en-US" altLang="ko-KR" sz="1400" dirty="0"/>
              <a:t>, </a:t>
            </a:r>
            <a:r>
              <a:rPr lang="ko-KR" altLang="en-US" sz="1400" dirty="0"/>
              <a:t>회원 프로그램 한눈에 확인할 수 있습니다</a:t>
            </a:r>
            <a:r>
              <a:rPr lang="en-US" altLang="ko-KR" sz="1400" dirty="0"/>
              <a:t>.</a:t>
            </a:r>
            <a:br>
              <a:rPr lang="ko-KR" altLang="en-US" sz="1400" dirty="0"/>
            </a:br>
            <a:r>
              <a:rPr lang="ko-KR" altLang="en-US" sz="1400" dirty="0"/>
              <a:t>특정 쿠폰을 선택하면 해당 쿠폰의 상세 내역과 운영 현황을 조회할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F341D-8481-F4C7-320E-EB9A222506DE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</a:rPr>
              <a:t>② 새 쿠폰 생성</a:t>
            </a:r>
            <a:endParaRPr lang="en-US" altLang="ko-KR" sz="1200" b="1" dirty="0"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 </a:t>
            </a:r>
            <a:r>
              <a:rPr lang="en-US" altLang="ko-KR" sz="1200" dirty="0"/>
              <a:t>[</a:t>
            </a:r>
            <a:r>
              <a:rPr lang="ko-KR" altLang="en-US" sz="1200" dirty="0"/>
              <a:t>새로 만들기</a:t>
            </a:r>
            <a:r>
              <a:rPr lang="en-US" altLang="ko-KR" sz="1200" dirty="0"/>
              <a:t>]</a:t>
            </a:r>
            <a:r>
              <a:rPr lang="ko-KR" altLang="en-US" sz="1200" dirty="0"/>
              <a:t> 버튼을 클릭하여 신규 쿠폰 생성</a:t>
            </a:r>
            <a:r>
              <a:rPr lang="ko-KR" altLang="en-US" sz="1200" dirty="0">
                <a:latin typeface="맑은 고딕" panose="020B0503020000020004" pitchFamily="50" charset="-127"/>
              </a:rPr>
              <a:t> 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 err="1"/>
              <a:t>쿠폰명</a:t>
            </a:r>
            <a:r>
              <a:rPr lang="en-US" altLang="ko-KR" sz="1200" dirty="0"/>
              <a:t>, </a:t>
            </a:r>
            <a:r>
              <a:rPr lang="ko-KR" altLang="en-US" sz="1200" dirty="0"/>
              <a:t>유형</a:t>
            </a:r>
            <a:r>
              <a:rPr lang="en-US" altLang="ko-KR" sz="1200" dirty="0"/>
              <a:t>, </a:t>
            </a:r>
            <a:r>
              <a:rPr lang="ko-KR" altLang="en-US" sz="1200" dirty="0"/>
              <a:t>쿠폰 종류</a:t>
            </a:r>
            <a:r>
              <a:rPr lang="en-US" altLang="ko-KR" sz="1200" dirty="0"/>
              <a:t>,</a:t>
            </a:r>
            <a:r>
              <a:rPr lang="ko-KR" altLang="en-US" sz="1200" dirty="0"/>
              <a:t> 만료 유형</a:t>
            </a:r>
            <a:r>
              <a:rPr lang="en-US" altLang="ko-KR" sz="1200" dirty="0"/>
              <a:t>, </a:t>
            </a:r>
            <a:r>
              <a:rPr lang="ko-KR" altLang="en-US" sz="1200" dirty="0"/>
              <a:t>만료 기간 단위</a:t>
            </a:r>
            <a:r>
              <a:rPr lang="en-US" altLang="ko-KR" sz="1200" dirty="0"/>
              <a:t>, </a:t>
            </a:r>
            <a:r>
              <a:rPr lang="ko-KR" altLang="en-US" sz="1200" dirty="0"/>
              <a:t>유효 </a:t>
            </a:r>
            <a:r>
              <a:rPr lang="ko-KR" altLang="en-US" sz="1200" dirty="0" err="1"/>
              <a:t>날짜등</a:t>
            </a:r>
            <a:r>
              <a:rPr lang="ko-KR" altLang="en-US" sz="1200" dirty="0"/>
              <a:t> 필수 정보를 입력한 후 저장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담당자</a:t>
            </a:r>
            <a:r>
              <a:rPr lang="en-US" altLang="ko-KR" sz="1200" dirty="0"/>
              <a:t>, </a:t>
            </a:r>
            <a:r>
              <a:rPr lang="ko-KR" altLang="en-US" sz="1200" dirty="0"/>
              <a:t>회사</a:t>
            </a:r>
            <a:r>
              <a:rPr lang="en-US" altLang="ko-KR" sz="1200" dirty="0"/>
              <a:t>, </a:t>
            </a:r>
            <a:r>
              <a:rPr lang="ko-KR" altLang="en-US" sz="1200" dirty="0"/>
              <a:t>담당 부서</a:t>
            </a:r>
            <a:r>
              <a:rPr lang="en-US" altLang="ko-KR" sz="1200" dirty="0"/>
              <a:t>, </a:t>
            </a:r>
            <a:r>
              <a:rPr lang="ko-KR" altLang="en-US" sz="1200" dirty="0"/>
              <a:t>회원 프로그램은 </a:t>
            </a:r>
            <a:r>
              <a:rPr lang="ko-KR" altLang="en-US" sz="1200" dirty="0" err="1"/>
              <a:t>골든듀로</a:t>
            </a:r>
            <a:r>
              <a:rPr lang="ko-KR" altLang="en-US" sz="1200" dirty="0"/>
              <a:t> 지정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유형에서는 고정 값</a:t>
            </a:r>
            <a:r>
              <a:rPr lang="en-US" altLang="ko-KR" sz="1200" dirty="0"/>
              <a:t>, </a:t>
            </a:r>
            <a:r>
              <a:rPr lang="ko-KR" altLang="en-US" sz="1200" dirty="0"/>
              <a:t>할인율 중 설정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고정 값 </a:t>
            </a:r>
            <a:r>
              <a:rPr lang="en-US" altLang="ko-KR" sz="1200" dirty="0"/>
              <a:t>: </a:t>
            </a:r>
            <a:r>
              <a:rPr lang="ko-KR" altLang="en-US" sz="1200" dirty="0"/>
              <a:t>쿠폰 금액 설정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할인율 </a:t>
            </a:r>
            <a:r>
              <a:rPr lang="en-US" altLang="ko-KR" sz="1200" dirty="0"/>
              <a:t>: </a:t>
            </a:r>
            <a:r>
              <a:rPr lang="ko-KR" altLang="en-US" sz="1200" dirty="0"/>
              <a:t>쿠폰 할인 적용 비율 설정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쿠폰 유형 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고정 날짜 </a:t>
            </a:r>
            <a:r>
              <a:rPr lang="en-US" altLang="ko-KR" sz="1200" dirty="0"/>
              <a:t>: </a:t>
            </a:r>
            <a:r>
              <a:rPr lang="ko-KR" altLang="en-US" sz="1200" dirty="0"/>
              <a:t>만료 날짜 설정 필수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기간 </a:t>
            </a:r>
            <a:r>
              <a:rPr lang="en-US" altLang="ko-KR" sz="1200" dirty="0"/>
              <a:t>: </a:t>
            </a:r>
            <a:r>
              <a:rPr lang="ko-KR" altLang="en-US" sz="1200" dirty="0"/>
              <a:t>만료 기간</a:t>
            </a:r>
            <a:r>
              <a:rPr lang="en-US" altLang="ko-KR" sz="1200" dirty="0"/>
              <a:t>, </a:t>
            </a:r>
            <a:r>
              <a:rPr lang="ko-KR" altLang="en-US" sz="1200" dirty="0"/>
              <a:t>만료 기간 단위 설정 필수 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업그레이드 쿠폰으로 설정 시</a:t>
            </a:r>
            <a:r>
              <a:rPr lang="en-US" altLang="ko-KR" sz="1200" dirty="0"/>
              <a:t>,</a:t>
            </a:r>
            <a:r>
              <a:rPr lang="ko-KR" altLang="en-US" sz="1200" dirty="0"/>
              <a:t> 업그레이드 여부를 체크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사용 제한 없는 쿠폰으로 설정 시</a:t>
            </a:r>
            <a:r>
              <a:rPr lang="en-US" altLang="ko-KR" sz="1200" dirty="0"/>
              <a:t>, </a:t>
            </a:r>
            <a:r>
              <a:rPr lang="ko-KR" altLang="en-US" sz="1200" dirty="0"/>
              <a:t>무제한 사용 여부를 체크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04C7CD-1D7B-0178-90DC-960839ED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10" y="2167085"/>
            <a:ext cx="7999549" cy="1522113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E52D44B-D29C-14EB-E742-723EE165A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88" y="3948721"/>
            <a:ext cx="3123780" cy="217564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0F6C8B-E5C7-A5F5-49C9-35FA6E2F6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652" y="3948721"/>
            <a:ext cx="3165580" cy="178697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BCC77F1-5BF6-D465-C4E9-BF7896299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652" y="5735692"/>
            <a:ext cx="3163696" cy="87474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2774A6-C351-9084-6649-4DC153AE4EFC}"/>
              </a:ext>
            </a:extLst>
          </p:cNvPr>
          <p:cNvSpPr/>
          <p:nvPr/>
        </p:nvSpPr>
        <p:spPr>
          <a:xfrm>
            <a:off x="1304288" y="3948721"/>
            <a:ext cx="6435060" cy="266171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E371893-832B-3B4B-03DD-14CCD98CE25B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4575653" y="2475147"/>
            <a:ext cx="3478801" cy="1473574"/>
          </a:xfrm>
          <a:prstGeom prst="straightConnector1">
            <a:avLst/>
          </a:prstGeom>
          <a:ln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20CC26B-1687-F3DD-DA97-2E84DA337E33}"/>
              </a:ext>
            </a:extLst>
          </p:cNvPr>
          <p:cNvSpPr/>
          <p:nvPr/>
        </p:nvSpPr>
        <p:spPr>
          <a:xfrm>
            <a:off x="7739349" y="2321807"/>
            <a:ext cx="630210" cy="153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42321B1-A171-8163-AC8F-D335B5C26B2E}"/>
              </a:ext>
            </a:extLst>
          </p:cNvPr>
          <p:cNvSpPr/>
          <p:nvPr/>
        </p:nvSpPr>
        <p:spPr>
          <a:xfrm>
            <a:off x="7493531" y="229314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50717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ED042-9DA4-EB21-21A5-170658B2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FE7F159C-AB8F-13C7-87B3-202A1047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⑤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쿠폰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4C325-1A8B-8857-ED57-72EC2771A6F3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설정 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쿠폰 상세 페이지에서 쿠폰의 기본 정보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활성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업그레이드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무제한 사용 여부 설정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유효 기간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쿠폰 코드 생성 규칙을 조회 및 수정할 수 있습니다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 dirty="0">
              <a:solidFill>
                <a:srgbClr val="2B2B2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02F35-CD15-B497-8624-C0FFA3E45136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</a:t>
            </a:r>
            <a:r>
              <a:rPr lang="ko-KR" altLang="en-US" sz="1200" b="1" dirty="0">
                <a:latin typeface="맑은 고딕" panose="020B0503020000020004" pitchFamily="50" charset="-127"/>
              </a:rPr>
              <a:t>관련됨 </a:t>
            </a:r>
            <a:r>
              <a:rPr lang="en-US" altLang="ko-KR" sz="1200" b="1" dirty="0">
                <a:latin typeface="맑은 고딕" panose="020B0503020000020004" pitchFamily="50" charset="-127"/>
              </a:rPr>
              <a:t>/ </a:t>
            </a:r>
            <a:r>
              <a:rPr lang="ko-KR" altLang="en-US" sz="1200" b="1" dirty="0">
                <a:latin typeface="맑은 고딕" panose="020B0503020000020004" pitchFamily="50" charset="-127"/>
              </a:rPr>
              <a:t>세부 사항 탭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</a:rPr>
              <a:t>쿠폰과 연결된 정보를 구분해 조회</a:t>
            </a:r>
            <a:endParaRPr lang="en-US" altLang="ko-KR" sz="1200" dirty="0">
              <a:solidFill>
                <a:srgbClr val="2B2B2B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</a:rPr>
              <a:t>관련됨 </a:t>
            </a:r>
            <a:r>
              <a:rPr lang="en-US" altLang="ko-KR" sz="1200" dirty="0">
                <a:solidFill>
                  <a:srgbClr val="2B2B2B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</a:rPr>
              <a:t>쿠폰 사용 정책</a:t>
            </a:r>
            <a:r>
              <a:rPr lang="en-US" altLang="ko-KR" sz="1200" dirty="0">
                <a:solidFill>
                  <a:srgbClr val="595959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</a:rPr>
              <a:t>지급 이력 등 관련 데이터 조회 가능</a:t>
            </a:r>
            <a:endParaRPr lang="en-US" altLang="ko-KR" sz="1200" dirty="0">
              <a:solidFill>
                <a:srgbClr val="2B2B2B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rgbClr val="2B2B2B"/>
                </a:solidFill>
                <a:latin typeface="맑은 고딕" panose="020B0503020000020004" pitchFamily="50" charset="-127"/>
              </a:rPr>
              <a:t>세부 사항 </a:t>
            </a:r>
            <a:r>
              <a:rPr lang="en-US" altLang="ko-KR" sz="1200" dirty="0">
                <a:solidFill>
                  <a:srgbClr val="2B2B2B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</a:rPr>
              <a:t>쿠폰의 기본 항목 조회</a:t>
            </a:r>
            <a:r>
              <a:rPr lang="en-US" altLang="ko-KR" sz="1200" dirty="0">
                <a:solidFill>
                  <a:srgbClr val="595959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</a:rPr>
              <a:t>편집 가능</a:t>
            </a:r>
            <a:endParaRPr lang="en-US" altLang="ko-KR" sz="1200" dirty="0">
              <a:solidFill>
                <a:srgbClr val="595959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rgbClr val="595959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</a:rPr>
              <a:t>② 쿠폰 기본 정보 </a:t>
            </a:r>
            <a:endParaRPr lang="en-US" altLang="ko-KR" sz="1200" b="1" dirty="0"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이름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액면가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쿠폰 종류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본사상품권 등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),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쿠폰 유형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할인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적립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),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브랜드 코드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담당 부서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회원 프로그램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등록자 등 조회 및       아이콘으로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수정 가능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쿠폰의 주요 동작 방식을 결정하는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개의 체크박스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활성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체크 시 쿠폰을 회원에게 지급 및 사용 가능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해제 시 신규 지급 중단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업그레이드 여부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체크 시 등급 업그레이드 시점에 해당 쿠폰 자동 지급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무제한 사용 여부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체크 시 회원당 사용 횟수 제한 없이 지급</a:t>
            </a:r>
            <a:endParaRPr lang="ko-KR" altLang="en-US" sz="1200" dirty="0">
              <a:solidFill>
                <a:srgbClr val="595959"/>
              </a:solidFill>
              <a:latin typeface="맑은 고딕" panose="020B0503020000020004" pitchFamily="50" charset="-127"/>
            </a:endParaRPr>
          </a:p>
          <a:p>
            <a:endParaRPr lang="ko-KR" altLang="en-US" sz="1200" dirty="0">
              <a:latin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0EC65E-9BD5-BCD5-2743-6078961A9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9" y="1936388"/>
            <a:ext cx="8427506" cy="3423252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B5D3920-FDE2-5ABF-97E8-C0FBC79AA594}"/>
              </a:ext>
            </a:extLst>
          </p:cNvPr>
          <p:cNvSpPr/>
          <p:nvPr/>
        </p:nvSpPr>
        <p:spPr>
          <a:xfrm>
            <a:off x="370009" y="2836296"/>
            <a:ext cx="1101012" cy="153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CA3DF4-4DFD-2ACD-DCB0-02C3A4ADCF40}"/>
              </a:ext>
            </a:extLst>
          </p:cNvPr>
          <p:cNvSpPr/>
          <p:nvPr/>
        </p:nvSpPr>
        <p:spPr>
          <a:xfrm>
            <a:off x="370008" y="3078160"/>
            <a:ext cx="5725991" cy="228147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D422864-7F92-1970-345E-5E726B533CD8}"/>
              </a:ext>
            </a:extLst>
          </p:cNvPr>
          <p:cNvSpPr/>
          <p:nvPr/>
        </p:nvSpPr>
        <p:spPr>
          <a:xfrm>
            <a:off x="6137801" y="296138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5E6DDE6-2661-388A-B983-450C8C286990}"/>
              </a:ext>
            </a:extLst>
          </p:cNvPr>
          <p:cNvSpPr/>
          <p:nvPr/>
        </p:nvSpPr>
        <p:spPr>
          <a:xfrm>
            <a:off x="112207" y="269696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A128233-96C2-EA4E-730C-F4FDC4376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78" y="4209568"/>
            <a:ext cx="205758" cy="20575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83350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9F3BE-12D7-EA18-1C9A-D2D27FAC7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1F8FD04A-4A48-8A78-2968-D4C879037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⑤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쿠폰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AFA4A-C40D-CE1C-F5C4-59E4F9B34E1D}"/>
              </a:ext>
            </a:extLst>
          </p:cNvPr>
          <p:cNvSpPr txBox="1"/>
          <p:nvPr/>
        </p:nvSpPr>
        <p:spPr>
          <a:xfrm>
            <a:off x="370009" y="1047658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쿠폰 마스터는 등록 시점에 확정되는 필드와 운영 중 수정 가능한 필드로 구분됩니다</a:t>
            </a:r>
            <a:r>
              <a:rPr lang="en-US" altLang="ko-KR" sz="1400" dirty="0"/>
              <a:t>. </a:t>
            </a:r>
            <a:r>
              <a:rPr lang="ko-KR" altLang="en-US" sz="1400" dirty="0"/>
              <a:t>필드별 변경 가능 여부는 아래 표와 같습니다</a:t>
            </a:r>
            <a:r>
              <a:rPr lang="en-US" altLang="ko-KR" sz="1400" dirty="0"/>
              <a:t>.</a:t>
            </a:r>
            <a:endParaRPr lang="ko-KR" altLang="en-US" sz="1400" dirty="0">
              <a:solidFill>
                <a:srgbClr val="2B2B2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F11E90-B69F-E1F5-F894-3B8B030BAA14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sz="12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649ED81-0859-04D6-C414-1099C9B69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428722"/>
              </p:ext>
            </p:extLst>
          </p:nvPr>
        </p:nvGraphicFramePr>
        <p:xfrm>
          <a:off x="1199129" y="1908327"/>
          <a:ext cx="6772054" cy="4422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027">
                  <a:extLst>
                    <a:ext uri="{9D8B030D-6E8A-4147-A177-3AD203B41FA5}">
                      <a16:colId xmlns:a16="http://schemas.microsoft.com/office/drawing/2014/main" val="829229698"/>
                    </a:ext>
                  </a:extLst>
                </a:gridCol>
                <a:gridCol w="3386027">
                  <a:extLst>
                    <a:ext uri="{9D8B030D-6E8A-4147-A177-3AD203B41FA5}">
                      <a16:colId xmlns:a16="http://schemas.microsoft.com/office/drawing/2014/main" val="3879534498"/>
                    </a:ext>
                  </a:extLst>
                </a:gridCol>
              </a:tblGrid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쿠폰 마스터</a:t>
                      </a:r>
                    </a:p>
                  </a:txBody>
                  <a:tcPr marL="7620" marR="7620" marT="7620" marB="0"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변경 가능 여부</a:t>
                      </a:r>
                    </a:p>
                  </a:txBody>
                  <a:tcPr marL="7620" marR="7620" marT="7620" marB="0"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619908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쿠폰 관리 코드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313294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 기간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556579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쿠폰 유형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962589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혜택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D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D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470829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쿠폰명</a:t>
                      </a:r>
                      <a:endParaRPr lang="ko-KR" altLang="en-US" sz="1000" b="0" i="0" u="none" strike="noStrike" dirty="0">
                        <a:solidFill>
                          <a:srgbClr val="6B728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168756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695114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 가능 매장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295559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 가능 제품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544338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 가능 매장 구분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83796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 가능 회원 등급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115332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 가능 주문 구분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454794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 가능 판매 금액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12802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적용 가능 판매 할인율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225893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 가능 제품 분류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solidFill>
                      <a:srgbClr val="C9A9D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72455"/>
                  </a:ext>
                </a:extLst>
              </a:tr>
              <a:tr h="2764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6B728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 가능 판매 개수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5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4276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05644-D3BD-B6B3-184E-6E7370011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585CFFC8-7A0B-6EF1-040F-1A708934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⑤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쿠폰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0013F7-AC86-4F13-CDA4-21097B4BF69A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아래와 같이 설정 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쿠폰 상세 페이지에서 쿠폰의 기본 정보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활성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업그레이드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무제한 사용 여부 설정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유효 기간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쿠폰 코드 생성 규칙을 조회 및 수정할 수 있습니다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 dirty="0">
              <a:solidFill>
                <a:srgbClr val="2B2B2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890CD7-F5EC-69E6-7FC0-DC2C72D5AE02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endParaRPr lang="en-US" altLang="ko-KR" sz="12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③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/>
              </a:rPr>
              <a:t> 기간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1) </a:t>
            </a: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쿠폰의 유효 기간 설정</a:t>
            </a: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④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/>
              </a:rPr>
              <a:t> 쿠폰 코드 설정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1) </a:t>
            </a: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자동 생성되는 쿠폰 코드의 규칙 설정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595959"/>
                </a:solidFill>
                <a:latin typeface="나눔스퀘어"/>
              </a:rPr>
              <a:t>- </a:t>
            </a:r>
            <a:r>
              <a:rPr lang="ko-KR" altLang="en-US" sz="1200" dirty="0">
                <a:solidFill>
                  <a:srgbClr val="595959"/>
                </a:solidFill>
                <a:latin typeface="나눔스퀘어"/>
              </a:rPr>
              <a:t>코드 접미사 </a:t>
            </a:r>
            <a:r>
              <a:rPr lang="en-US" altLang="ko-KR" sz="1200" dirty="0">
                <a:solidFill>
                  <a:srgbClr val="595959"/>
                </a:solidFill>
                <a:latin typeface="나눔스퀘어"/>
              </a:rPr>
              <a:t>: </a:t>
            </a:r>
            <a:r>
              <a:rPr lang="ko-KR" altLang="en-US" sz="1200" dirty="0">
                <a:solidFill>
                  <a:srgbClr val="595959"/>
                </a:solidFill>
                <a:latin typeface="나눔스퀘어"/>
              </a:rPr>
              <a:t>쿠폰 코드 뒤에 붙는 고정 문자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595959"/>
                </a:solidFill>
                <a:latin typeface="나눔스퀘어"/>
              </a:rPr>
              <a:t>- </a:t>
            </a:r>
            <a:r>
              <a:rPr lang="ko-KR" altLang="en-US" sz="1200" dirty="0">
                <a:solidFill>
                  <a:srgbClr val="595959"/>
                </a:solidFill>
                <a:latin typeface="나눔스퀘어"/>
              </a:rPr>
              <a:t>코드 접두사 </a:t>
            </a:r>
            <a:r>
              <a:rPr lang="en-US" altLang="ko-KR" sz="1200" dirty="0">
                <a:solidFill>
                  <a:srgbClr val="595959"/>
                </a:solidFill>
                <a:latin typeface="나눔스퀘어"/>
              </a:rPr>
              <a:t>: </a:t>
            </a:r>
            <a:r>
              <a:rPr lang="ko-KR" altLang="en-US" sz="1200" dirty="0">
                <a:solidFill>
                  <a:srgbClr val="595959"/>
                </a:solidFill>
                <a:latin typeface="나눔스퀘어"/>
              </a:rPr>
              <a:t>쿠폰 코드 앞에 붙는 고정 문자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rgbClr val="595959"/>
                </a:solidFill>
                <a:latin typeface="나눔스퀘어"/>
              </a:rPr>
              <a:t>자동 생성 코드 길이 </a:t>
            </a:r>
            <a:r>
              <a:rPr lang="en-US" altLang="ko-KR" sz="1200" dirty="0">
                <a:solidFill>
                  <a:srgbClr val="595959"/>
                </a:solidFill>
                <a:latin typeface="나눔스퀘어"/>
              </a:rPr>
              <a:t>: </a:t>
            </a:r>
            <a:r>
              <a:rPr lang="ko-KR" altLang="en-US" sz="1200" dirty="0">
                <a:solidFill>
                  <a:srgbClr val="595959"/>
                </a:solidFill>
                <a:latin typeface="나눔스퀘어"/>
              </a:rPr>
              <a:t>무작위 생성 부분의 자릿수</a:t>
            </a:r>
            <a:endParaRPr lang="en-US" altLang="ko-KR" sz="1200" dirty="0">
              <a:solidFill>
                <a:srgbClr val="595959"/>
              </a:solidFill>
              <a:latin typeface="나눔스퀘어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rgbClr val="595959"/>
              </a:solidFill>
              <a:latin typeface="나눔스퀘어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※       </a:t>
            </a: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아이콘으로 수정 가능</a:t>
            </a:r>
            <a:r>
              <a:rPr lang="en-US" altLang="ko-KR" sz="1200" dirty="0">
                <a:solidFill>
                  <a:srgbClr val="595959"/>
                </a:solidFill>
                <a:latin typeface="맑은 고딕" panose="020B0503020000020004" pitchFamily="50" charset="-127"/>
                <a:ea typeface="나눔스퀘어" panose="020B0600000101010101"/>
              </a:rPr>
              <a:t> </a:t>
            </a:r>
            <a:endParaRPr lang="en-US" altLang="ko-KR" sz="1200" dirty="0">
              <a:solidFill>
                <a:srgbClr val="595959"/>
              </a:solidFill>
              <a:latin typeface="나눔스퀘어"/>
            </a:endParaRPr>
          </a:p>
          <a:p>
            <a:pPr>
              <a:lnSpc>
                <a:spcPct val="150000"/>
              </a:lnSpc>
            </a:pPr>
            <a:endParaRPr lang="ko-KR" altLang="en-US" sz="1200" dirty="0">
              <a:solidFill>
                <a:srgbClr val="595959"/>
              </a:solidFill>
              <a:latin typeface="나눔스퀘어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75D43B-7849-3945-E290-98A6C8FE8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79" y="1987706"/>
            <a:ext cx="8434744" cy="2583434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72E70E6-DCBC-10B2-CA91-1967557BACCD}"/>
              </a:ext>
            </a:extLst>
          </p:cNvPr>
          <p:cNvSpPr/>
          <p:nvPr/>
        </p:nvSpPr>
        <p:spPr>
          <a:xfrm>
            <a:off x="289379" y="2054052"/>
            <a:ext cx="8434744" cy="126764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9A22D8-B3BE-BB80-F189-5DEE26178428}"/>
              </a:ext>
            </a:extLst>
          </p:cNvPr>
          <p:cNvSpPr/>
          <p:nvPr/>
        </p:nvSpPr>
        <p:spPr>
          <a:xfrm>
            <a:off x="289378" y="3499382"/>
            <a:ext cx="8434743" cy="107175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BFDB526-3F24-FA77-A021-69FBCC6EB679}"/>
              </a:ext>
            </a:extLst>
          </p:cNvPr>
          <p:cNvSpPr/>
          <p:nvPr/>
        </p:nvSpPr>
        <p:spPr>
          <a:xfrm>
            <a:off x="73379" y="185721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F2F2EA0-4EE3-F386-F7EF-5E25517C25BD}"/>
              </a:ext>
            </a:extLst>
          </p:cNvPr>
          <p:cNvSpPr/>
          <p:nvPr/>
        </p:nvSpPr>
        <p:spPr>
          <a:xfrm>
            <a:off x="60937" y="332169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2DDD705-702C-876E-334F-089E2A99F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026" y="4328057"/>
            <a:ext cx="205758" cy="20575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5723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8505-21BE-2C6A-F595-97525573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3141657B-1052-3655-F121-5545DE059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⑥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설정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포인트 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6DBC9-EAFC-C8E2-75FD-5B39F841D201}"/>
              </a:ext>
            </a:extLst>
          </p:cNvPr>
          <p:cNvSpPr txBox="1"/>
          <p:nvPr/>
        </p:nvSpPr>
        <p:spPr>
          <a:xfrm>
            <a:off x="370010" y="1077475"/>
            <a:ext cx="799954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아래와 같이 설정 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쿠폰 상세 페이지에서 쿠폰의 기본 정보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활성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업그레이드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무제한 사용 여부 설정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유효 기간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쿠폰 코드 생성 규칙을 조회 및 수정할 수 있습니다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 dirty="0">
              <a:solidFill>
                <a:srgbClr val="2B2B2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6B0DE9-125C-8304-EED2-B4AB8D20281A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포인트 정보 검색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ts val="500"/>
              </a:spcBef>
              <a:buFont typeface="+mj-lt"/>
              <a:buAutoNum type="arabicParenR"/>
            </a:pP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이름으로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포인트 유형 검색 및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ts val="500"/>
              </a:spcBef>
              <a:buFont typeface="+mj-lt"/>
              <a:buAutoNum type="arabicParenR"/>
            </a:pPr>
            <a:r>
              <a:rPr lang="ko-KR" altLang="en-US" sz="12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 이름으로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포인트의 상세 정보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200" dirty="0"/>
              <a:t>※ </a:t>
            </a:r>
            <a:r>
              <a:rPr lang="ko-KR" altLang="en-US" sz="1200" dirty="0" err="1"/>
              <a:t>리스트뷰</a:t>
            </a:r>
            <a:r>
              <a:rPr lang="ko-KR" altLang="en-US" sz="1200" dirty="0"/>
              <a:t> 생성은 슬라이드 </a:t>
            </a:r>
            <a:r>
              <a:rPr lang="en-US" altLang="ko-KR" sz="1200" dirty="0"/>
              <a:t>5 </a:t>
            </a:r>
            <a:r>
              <a:rPr lang="ko-KR" altLang="en-US" sz="1200" dirty="0"/>
              <a:t>참고하시길 바랍니다</a:t>
            </a:r>
            <a:r>
              <a:rPr lang="en-US" altLang="ko-KR" sz="1200" dirty="0"/>
              <a:t>.)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9B61D5D-581E-D24F-FE33-FA2F23841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3" y="1885927"/>
            <a:ext cx="8707811" cy="216203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9ECC681-6F36-F8FB-F129-8B57575D3A7C}"/>
              </a:ext>
            </a:extLst>
          </p:cNvPr>
          <p:cNvSpPr/>
          <p:nvPr/>
        </p:nvSpPr>
        <p:spPr>
          <a:xfrm>
            <a:off x="6360262" y="2323112"/>
            <a:ext cx="1101012" cy="153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F47E24-306A-8BF2-86A8-9F95034A6774}"/>
              </a:ext>
            </a:extLst>
          </p:cNvPr>
          <p:cNvSpPr/>
          <p:nvPr/>
        </p:nvSpPr>
        <p:spPr>
          <a:xfrm>
            <a:off x="587723" y="2771193"/>
            <a:ext cx="802538" cy="127676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4BE1EE5-5693-9677-D98D-36C7A4C1F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371" y="3963983"/>
            <a:ext cx="6315415" cy="216203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EE098B6-D8AF-18B2-32CC-54CA25ABE90F}"/>
              </a:ext>
            </a:extLst>
          </p:cNvPr>
          <p:cNvCxnSpPr>
            <a:stCxn id="10" idx="2"/>
          </p:cNvCxnSpPr>
          <p:nvPr/>
        </p:nvCxnSpPr>
        <p:spPr>
          <a:xfrm>
            <a:off x="988992" y="4047961"/>
            <a:ext cx="802379" cy="887933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9AD708-94C8-F3EE-F860-C1A7FAE5EBC1}"/>
              </a:ext>
            </a:extLst>
          </p:cNvPr>
          <p:cNvSpPr/>
          <p:nvPr/>
        </p:nvSpPr>
        <p:spPr>
          <a:xfrm>
            <a:off x="1791370" y="3963983"/>
            <a:ext cx="6315415" cy="216203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868630A-97CD-6309-FEA3-B8729E5D69BB}"/>
              </a:ext>
            </a:extLst>
          </p:cNvPr>
          <p:cNvSpPr/>
          <p:nvPr/>
        </p:nvSpPr>
        <p:spPr>
          <a:xfrm>
            <a:off x="6144262" y="210711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38068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2D12-88AE-5D99-44C0-A1805E016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6A47B259-C009-4C5A-41CC-2A743F00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⑦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r>
              <a:rPr lang="ko-KR" altLang="en-US" dirty="0">
                <a:solidFill>
                  <a:srgbClr val="C9A9D0"/>
                </a:solidFill>
              </a:rPr>
              <a:t>매거진 구독 정보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03B44-4D2D-A0EE-FF7E-5B57AFC46D6E}"/>
              </a:ext>
            </a:extLst>
          </p:cNvPr>
          <p:cNvSpPr txBox="1"/>
          <p:nvPr/>
        </p:nvSpPr>
        <p:spPr>
          <a:xfrm>
            <a:off x="370009" y="1077475"/>
            <a:ext cx="7500771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목적에 맞는 조건 설정을 통해 매거진 구독 데이터를 다양하게 조회 및 활용할 수 있습니다</a:t>
            </a:r>
            <a:r>
              <a:rPr lang="en-US" altLang="ko-KR" sz="1400" dirty="0"/>
              <a:t>.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D4AD4A-297E-9D53-F8C9-F4789B6CA3BF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매거진 구독 정보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특정 회원의 매거진 구독 정보 조회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검색 조건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항목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설정하여 매거진 구독 데이터 조회 가능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CC2BBA-575A-A8AD-2D56-C4600F15B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30" y="1888068"/>
            <a:ext cx="7460012" cy="2526017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0864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E927-1168-D9A7-3889-972A837A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156265A-2762-F92C-1007-CA98BAC8CFD9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제목 5">
            <a:extLst>
              <a:ext uri="{FF2B5EF4-FFF2-40B4-BE49-F238E27FC236}">
                <a16:creationId xmlns:a16="http://schemas.microsoft.com/office/drawing/2014/main" id="{90BCE89B-FB4C-307B-263B-9754AB3F8EA6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⑧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r>
              <a:rPr lang="ko-KR" altLang="en-US" dirty="0">
                <a:solidFill>
                  <a:srgbClr val="C9A9D0"/>
                </a:solidFill>
              </a:rPr>
              <a:t>보고서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62435-2C62-F13F-40F8-B04F5F23FB05}"/>
              </a:ext>
            </a:extLst>
          </p:cNvPr>
          <p:cNvSpPr txBox="1"/>
          <p:nvPr/>
        </p:nvSpPr>
        <p:spPr>
          <a:xfrm>
            <a:off x="330252" y="2493437"/>
            <a:ext cx="9899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보고서 유형은 </a:t>
            </a:r>
            <a:r>
              <a:rPr lang="en-US" altLang="ko-KR" sz="1400" b="1" dirty="0"/>
              <a:t>"</a:t>
            </a:r>
            <a:r>
              <a:rPr lang="ko-KR" altLang="en-US" sz="1400" b="1" dirty="0"/>
              <a:t>어떤 내용을 묶어서 볼 수 있는 보고서인지 미리 정해놓는 카테고리</a:t>
            </a:r>
            <a:r>
              <a:rPr lang="en-US" altLang="ko-KR" sz="1400" b="1" dirty="0"/>
              <a:t>"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CED44-385C-9494-544A-E4EAE593CF25}"/>
              </a:ext>
            </a:extLst>
          </p:cNvPr>
          <p:cNvSpPr txBox="1"/>
          <p:nvPr/>
        </p:nvSpPr>
        <p:spPr>
          <a:xfrm>
            <a:off x="330252" y="1143118"/>
            <a:ext cx="8686800" cy="6970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보고서 유형 생성은 보고서 작성과는 별개이며</a:t>
            </a:r>
            <a:r>
              <a:rPr lang="en-US" altLang="ko-KR" sz="1400" dirty="0"/>
              <a:t>, </a:t>
            </a:r>
            <a:r>
              <a:rPr lang="ko-KR" altLang="en-US" sz="1400" dirty="0"/>
              <a:t>필수 사항은 아닙니다</a:t>
            </a:r>
            <a:r>
              <a:rPr lang="en-US" altLang="ko-KR" sz="1400" dirty="0"/>
              <a:t>. </a:t>
            </a:r>
            <a:r>
              <a:rPr lang="ko-KR" altLang="en-US" sz="1400" dirty="0"/>
              <a:t>효율적인 보고서 관리를 위해 미리 생성해두는 것을 권장합니다</a:t>
            </a:r>
            <a:r>
              <a:rPr lang="en-US" altLang="ko-KR" sz="1400" dirty="0"/>
              <a:t>. </a:t>
            </a:r>
            <a:r>
              <a:rPr lang="ko-KR" altLang="en-US" sz="1400" dirty="0"/>
              <a:t>아래의 예시를 참고하시길 바랍니다</a:t>
            </a:r>
            <a:r>
              <a:rPr lang="en-US" altLang="ko-KR" sz="1400" dirty="0"/>
              <a:t>.</a:t>
            </a:r>
            <a:endParaRPr lang="ko-KR" altLang="en-US" sz="1400" dirty="0">
              <a:solidFill>
                <a:srgbClr val="2B2B2B"/>
              </a:solidFill>
              <a:latin typeface="나눔스퀘어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F08B863-C497-1AE4-E0CE-85A338FC2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237898"/>
              </p:ext>
            </p:extLst>
          </p:nvPr>
        </p:nvGraphicFramePr>
        <p:xfrm>
          <a:off x="410547" y="2904672"/>
          <a:ext cx="812053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6535">
                  <a:extLst>
                    <a:ext uri="{9D8B030D-6E8A-4147-A177-3AD203B41FA5}">
                      <a16:colId xmlns:a16="http://schemas.microsoft.com/office/drawing/2014/main" val="8292296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11342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보고서 유형</a:t>
                      </a:r>
                    </a:p>
                  </a:txBody>
                  <a:tcPr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보고서</a:t>
                      </a:r>
                    </a:p>
                  </a:txBody>
                  <a:tcPr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619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회원 보고서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회원 정보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313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판매 보고서</a:t>
                      </a:r>
                    </a:p>
                  </a:txBody>
                  <a:tcPr>
                    <a:solidFill>
                      <a:srgbClr val="C9A9D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주문 </a:t>
                      </a:r>
                      <a:r>
                        <a:rPr lang="en-US" altLang="ko-KR" sz="1000" dirty="0"/>
                        <a:t>+ </a:t>
                      </a:r>
                      <a:r>
                        <a:rPr lang="ko-KR" altLang="en-US" sz="1000" dirty="0"/>
                        <a:t>판매</a:t>
                      </a:r>
                      <a:r>
                        <a:rPr lang="en-US" altLang="ko-KR" sz="1000" dirty="0"/>
                        <a:t> + </a:t>
                      </a:r>
                      <a:r>
                        <a:rPr lang="ko-KR" altLang="en-US" sz="1000" dirty="0"/>
                        <a:t>반품 정보</a:t>
                      </a:r>
                    </a:p>
                  </a:txBody>
                  <a:tcPr>
                    <a:solidFill>
                      <a:srgbClr val="C9A9D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556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매거진 구독 보고서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회원 정보 </a:t>
                      </a:r>
                      <a:r>
                        <a:rPr lang="en-US" altLang="ko-KR" sz="1000" dirty="0"/>
                        <a:t>+ </a:t>
                      </a:r>
                      <a:r>
                        <a:rPr lang="ko-KR" altLang="en-US" sz="1000" dirty="0"/>
                        <a:t>매거진 구독 정보 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5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8772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C9F3C-FE34-B8A2-2816-01B939AD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AE9C40-A116-BBB4-30E8-8047CE487871}"/>
              </a:ext>
            </a:extLst>
          </p:cNvPr>
          <p:cNvSpPr txBox="1"/>
          <p:nvPr/>
        </p:nvSpPr>
        <p:spPr>
          <a:xfrm>
            <a:off x="365760" y="960120"/>
            <a:ext cx="8686800" cy="6106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Salesforce </a:t>
            </a: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설정 화면에서 보고서 유형을 관리하고</a:t>
            </a: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, </a:t>
            </a: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새로운 사용자 정의 보고서 유형을 생성할 수 있습니다</a:t>
            </a: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보고서를 통해 회원</a:t>
            </a: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, </a:t>
            </a: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주문</a:t>
            </a: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, </a:t>
            </a: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프로모션 등 다양한 데이터를 분석하고 조회할 수 있습니다</a:t>
            </a: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.</a:t>
            </a:r>
            <a:endParaRPr lang="ko-KR" altLang="en-US" sz="1200" dirty="0">
              <a:solidFill>
                <a:srgbClr val="2B2B2B"/>
              </a:solidFill>
              <a:latin typeface="나눔스퀘어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74372-CE09-0805-364C-DFFF02EC9501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① 보고서 메뉴</a:t>
            </a:r>
            <a:endParaRPr lang="en-US" altLang="ko-KR" sz="1200" b="1" dirty="0">
              <a:solidFill>
                <a:srgbClr val="2B2B2B"/>
              </a:solidFill>
              <a:latin typeface="나눔스퀘어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톱니바퀴 </a:t>
            </a: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-</a:t>
            </a: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 홈 </a:t>
            </a: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– </a:t>
            </a: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돋보기 검색 기능을 통해 보고서 검색 </a:t>
            </a:r>
            <a:endParaRPr lang="en-US" altLang="ko-KR" sz="1200" dirty="0">
              <a:solidFill>
                <a:srgbClr val="2B2B2B"/>
              </a:solidFill>
              <a:latin typeface="나눔스퀘어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보고서 유형 선택</a:t>
            </a:r>
            <a:endParaRPr lang="en-US" altLang="ko-KR" sz="1200" dirty="0">
              <a:solidFill>
                <a:srgbClr val="2B2B2B"/>
              </a:solidFill>
              <a:latin typeface="나눔스퀘어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새 사용자 정의 보고서 유형 선택</a:t>
            </a:r>
            <a:endParaRPr lang="en-US" altLang="ko-KR" sz="1200" dirty="0">
              <a:solidFill>
                <a:srgbClr val="2B2B2B"/>
              </a:solidFill>
              <a:latin typeface="나눔스퀘어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sz="1200" dirty="0">
              <a:solidFill>
                <a:srgbClr val="2B2B2B"/>
              </a:solidFill>
              <a:latin typeface="나눔스퀘어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ko-KR" sz="1200" b="1" dirty="0">
                <a:solidFill>
                  <a:srgbClr val="2B2B2B"/>
                </a:solidFill>
                <a:latin typeface="나눔스퀘어"/>
              </a:rPr>
              <a:t>②</a:t>
            </a:r>
            <a:r>
              <a:rPr lang="en-US" altLang="ko-KR" sz="1200" b="1" dirty="0">
                <a:solidFill>
                  <a:srgbClr val="2B2B2B"/>
                </a:solidFill>
                <a:latin typeface="나눔스퀘어"/>
              </a:rPr>
              <a:t> </a:t>
            </a:r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새 사용자 </a:t>
            </a:r>
            <a:r>
              <a:rPr lang="ko-KR" altLang="en-US" sz="1200" b="1" dirty="0" err="1">
                <a:solidFill>
                  <a:srgbClr val="2B2B2B"/>
                </a:solidFill>
                <a:latin typeface="나눔스퀘어"/>
              </a:rPr>
              <a:t>사용자</a:t>
            </a:r>
            <a:r>
              <a:rPr lang="ko-KR" altLang="en-US" sz="1200" b="1" dirty="0">
                <a:solidFill>
                  <a:srgbClr val="2B2B2B"/>
                </a:solidFill>
                <a:latin typeface="나눔스퀘어"/>
              </a:rPr>
              <a:t> 정의 보고서 생성</a:t>
            </a:r>
            <a:endParaRPr lang="en-US" altLang="ko-KR" sz="1200" b="1" dirty="0">
              <a:solidFill>
                <a:srgbClr val="2B2B2B"/>
              </a:solidFill>
              <a:latin typeface="나눔스퀘어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기본 개체 </a:t>
            </a:r>
            <a:r>
              <a:rPr lang="en-US" altLang="ko-KR" sz="1200" dirty="0">
                <a:solidFill>
                  <a:srgbClr val="2B2B2B"/>
                </a:solidFill>
                <a:latin typeface="나눔스퀘어"/>
              </a:rPr>
              <a:t>: </a:t>
            </a:r>
            <a:r>
              <a:rPr lang="ko-KR" altLang="en-US" sz="1200" dirty="0">
                <a:solidFill>
                  <a:srgbClr val="2B2B2B"/>
                </a:solidFill>
                <a:latin typeface="나눔스퀘어"/>
              </a:rPr>
              <a:t>복수 개체일 경우 가장 부모가 되는  상위 개체를 기본 개체로 설정</a:t>
            </a:r>
            <a:endParaRPr lang="en-US" altLang="ko-KR" sz="1200" dirty="0">
              <a:solidFill>
                <a:srgbClr val="2B2B2B"/>
              </a:solidFill>
              <a:latin typeface="나눔스퀘어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200" dirty="0"/>
              <a:t>API </a:t>
            </a:r>
            <a:r>
              <a:rPr lang="ko-KR" altLang="en-US" sz="1200" dirty="0"/>
              <a:t>이름 </a:t>
            </a:r>
            <a:r>
              <a:rPr lang="en-US" altLang="ko-KR" sz="1200" dirty="0"/>
              <a:t>: </a:t>
            </a:r>
            <a:r>
              <a:rPr lang="ko-KR" altLang="en-US" sz="1200" dirty="0"/>
              <a:t>보고서 유형의 고유 식별자로</a:t>
            </a:r>
            <a:r>
              <a:rPr lang="en-US" altLang="ko-KR" sz="1200" dirty="0"/>
              <a:t>, </a:t>
            </a:r>
            <a:r>
              <a:rPr lang="ko-KR" altLang="en-US" sz="1200" dirty="0"/>
              <a:t>시스템에서 해당 유형을 구분하는 데 사용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200" dirty="0"/>
              <a:t>범주에 저장 </a:t>
            </a:r>
            <a:r>
              <a:rPr lang="en-US" altLang="ko-KR" sz="1200" dirty="0"/>
              <a:t>: </a:t>
            </a:r>
            <a:r>
              <a:rPr lang="ko-KR" altLang="en-US" sz="1200" dirty="0"/>
              <a:t>새 보고서 생성 시 해당 범주에서 이 유형을 찾을 수 있음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200" dirty="0"/>
              <a:t>가용성 설정 </a:t>
            </a:r>
            <a:r>
              <a:rPr lang="en-US" altLang="ko-KR" sz="1200" dirty="0"/>
              <a:t>: "</a:t>
            </a:r>
            <a:r>
              <a:rPr lang="ko-KR" altLang="en-US" sz="1200" dirty="0"/>
              <a:t>배포됨</a:t>
            </a:r>
            <a:r>
              <a:rPr lang="en-US" altLang="ko-KR" sz="1200" dirty="0"/>
              <a:t>" </a:t>
            </a:r>
            <a:r>
              <a:rPr lang="ko-KR" altLang="en-US" sz="1200" dirty="0"/>
              <a:t>선택 시 모든 사용자가 해당 보고서 유형을 활용 가능</a:t>
            </a:r>
            <a:endParaRPr lang="en-US" altLang="ko-KR" sz="12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ko-KR" sz="1200" dirty="0"/>
              <a:t>(*</a:t>
            </a:r>
            <a:r>
              <a:rPr lang="ko-KR" altLang="en-US" sz="1200" dirty="0"/>
              <a:t>는 필수 입력 항목입니다</a:t>
            </a:r>
            <a:r>
              <a:rPr lang="en-US" altLang="ko-KR" sz="1200" dirty="0"/>
              <a:t>.)</a:t>
            </a:r>
            <a:endParaRPr lang="ko-KR" altLang="en-US" sz="1200" dirty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sz="1200" dirty="0">
              <a:solidFill>
                <a:srgbClr val="2B2B2B"/>
              </a:solidFill>
              <a:latin typeface="나눔스퀘어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arenR"/>
            </a:pPr>
            <a:endParaRPr lang="ko-KR" altLang="en-US" sz="1200" dirty="0">
              <a:solidFill>
                <a:srgbClr val="2B2B2B"/>
              </a:solidFill>
              <a:latin typeface="나눔스퀘어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1907C4-ADAD-029F-51F0-65E261CB5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" y="1681672"/>
            <a:ext cx="6504563" cy="230250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3A462EB-8A6B-F85E-9AAF-EB76E829B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26" y="3282894"/>
            <a:ext cx="7042322" cy="3089913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CAB2241-5D5D-2047-DAB9-F2B7FC9E0A23}"/>
              </a:ext>
            </a:extLst>
          </p:cNvPr>
          <p:cNvSpPr/>
          <p:nvPr/>
        </p:nvSpPr>
        <p:spPr>
          <a:xfrm>
            <a:off x="6428791" y="1681672"/>
            <a:ext cx="208384" cy="14712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6F4A38-C29D-6AC7-039D-076535E71626}"/>
              </a:ext>
            </a:extLst>
          </p:cNvPr>
          <p:cNvSpPr/>
          <p:nvPr/>
        </p:nvSpPr>
        <p:spPr>
          <a:xfrm>
            <a:off x="365760" y="1977880"/>
            <a:ext cx="800567" cy="14016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DA1815-EF8E-3698-6A8F-202C13E63268}"/>
              </a:ext>
            </a:extLst>
          </p:cNvPr>
          <p:cNvSpPr/>
          <p:nvPr/>
        </p:nvSpPr>
        <p:spPr>
          <a:xfrm>
            <a:off x="373989" y="2840857"/>
            <a:ext cx="800567" cy="14017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B86170-9528-5212-F455-1EE5F3FAFF1B}"/>
              </a:ext>
            </a:extLst>
          </p:cNvPr>
          <p:cNvSpPr/>
          <p:nvPr/>
        </p:nvSpPr>
        <p:spPr>
          <a:xfrm>
            <a:off x="1623526" y="3288829"/>
            <a:ext cx="7042322" cy="308397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1BB1DFD-E850-9D3E-5ABF-DDC3EAA20522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5144687" y="2403802"/>
            <a:ext cx="1345597" cy="885027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31B86936-D905-0999-5C3C-3549FFB4C272}"/>
              </a:ext>
            </a:extLst>
          </p:cNvPr>
          <p:cNvSpPr/>
          <p:nvPr/>
        </p:nvSpPr>
        <p:spPr>
          <a:xfrm>
            <a:off x="6419460" y="141298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63A5D1-F05F-A684-43DF-3EA6970C7EF8}"/>
              </a:ext>
            </a:extLst>
          </p:cNvPr>
          <p:cNvSpPr/>
          <p:nvPr/>
        </p:nvSpPr>
        <p:spPr>
          <a:xfrm>
            <a:off x="6077985" y="2266190"/>
            <a:ext cx="800567" cy="14016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3053F6C-C1F4-FEA2-AC9F-EA46253164AA}"/>
              </a:ext>
            </a:extLst>
          </p:cNvPr>
          <p:cNvSpPr/>
          <p:nvPr/>
        </p:nvSpPr>
        <p:spPr>
          <a:xfrm>
            <a:off x="5014408" y="301142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제목 5">
            <a:extLst>
              <a:ext uri="{FF2B5EF4-FFF2-40B4-BE49-F238E27FC236}">
                <a16:creationId xmlns:a16="http://schemas.microsoft.com/office/drawing/2014/main" id="{E5023644-1F28-4013-EF1B-10F4A2B3E4BA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⑧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r>
              <a:rPr lang="ko-KR" altLang="en-US" dirty="0">
                <a:solidFill>
                  <a:srgbClr val="C9A9D0"/>
                </a:solidFill>
              </a:rPr>
              <a:t>보고서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524ED8-EAF5-9F21-3250-8316EF741D29}"/>
              </a:ext>
            </a:extLst>
          </p:cNvPr>
          <p:cNvSpPr/>
          <p:nvPr/>
        </p:nvSpPr>
        <p:spPr>
          <a:xfrm>
            <a:off x="1668085" y="3699378"/>
            <a:ext cx="2415385" cy="28479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89475C-6CBE-63B6-5212-5271A7378170}"/>
              </a:ext>
            </a:extLst>
          </p:cNvPr>
          <p:cNvSpPr/>
          <p:nvPr/>
        </p:nvSpPr>
        <p:spPr>
          <a:xfrm>
            <a:off x="1668085" y="5067867"/>
            <a:ext cx="2337178" cy="25184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75842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1CD0-2C23-7BBF-6E1D-848912BED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70CE5BD-1BA8-0F1B-0C7A-F2348FEBF320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BD9BFE-6C39-069D-7AF8-C4ED75E9E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02" y="1753936"/>
            <a:ext cx="7775019" cy="3835101"/>
          </a:xfrm>
          <a:prstGeom prst="rect">
            <a:avLst/>
          </a:prstGeom>
        </p:spPr>
      </p:pic>
      <p:sp>
        <p:nvSpPr>
          <p:cNvPr id="5" name="제목 5">
            <a:extLst>
              <a:ext uri="{FF2B5EF4-FFF2-40B4-BE49-F238E27FC236}">
                <a16:creationId xmlns:a16="http://schemas.microsoft.com/office/drawing/2014/main" id="{3AF131E9-C479-64F9-0361-EF012060BDB7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⑧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r>
              <a:rPr lang="ko-KR" altLang="en-US" dirty="0">
                <a:solidFill>
                  <a:srgbClr val="C9A9D0"/>
                </a:solidFill>
              </a:rPr>
              <a:t>보고서</a:t>
            </a:r>
          </a:p>
        </p:txBody>
      </p:sp>
    </p:spTree>
    <p:extLst>
      <p:ext uri="{BB962C8B-B14F-4D97-AF65-F5344CB8AC3E}">
        <p14:creationId xmlns:p14="http://schemas.microsoft.com/office/powerpoint/2010/main" val="15960117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058F-EC21-F580-C9DC-46381ABD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917442E2-39FC-4D73-5718-DFB87B36C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⑧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r>
              <a:rPr lang="ko-KR" altLang="en-US" dirty="0">
                <a:solidFill>
                  <a:srgbClr val="C9A9D0"/>
                </a:solidFill>
              </a:rPr>
              <a:t>보고서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2FAC4D-7CE6-A99A-540D-2C7195F51316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보고서 탭에서 우측 상단 새 보고서 버튼 클릭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보고서 유형 선택 화면에서 원하는 유형 검색 또는 범주에서 선택 </a:t>
            </a:r>
            <a:r>
              <a:rPr lang="en-US" altLang="ko-KR" sz="1200" dirty="0">
                <a:ea typeface="나눔스퀘어" panose="020B0600000101010101"/>
              </a:rPr>
              <a:t>(</a:t>
            </a:r>
            <a:r>
              <a:rPr lang="ko-KR" altLang="en-US" sz="1200" dirty="0">
                <a:ea typeface="나눔스퀘어" panose="020B0600000101010101"/>
              </a:rPr>
              <a:t>예</a:t>
            </a:r>
            <a:r>
              <a:rPr lang="en-US" altLang="ko-KR" sz="1200" dirty="0">
                <a:ea typeface="나눔스퀘어" panose="020B0600000101010101"/>
              </a:rPr>
              <a:t>: "</a:t>
            </a:r>
            <a:r>
              <a:rPr lang="ko-KR" altLang="en-US" sz="1200" dirty="0">
                <a:ea typeface="나눔스퀘어" panose="020B0600000101010101"/>
              </a:rPr>
              <a:t>매거진 구독 데이터</a:t>
            </a:r>
            <a:r>
              <a:rPr lang="en-US" altLang="ko-KR" sz="1200" dirty="0">
                <a:ea typeface="나눔스퀘어" panose="020B0600000101010101"/>
              </a:rPr>
              <a:t>")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우측 세부 사항에서 해당 유형의 설명과 관련 보고서를 확인한 후 보고서 시작 클릭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보고서 편집 화면에서 열 추가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필터 설정 등 원하는 형태로 구성 후 저장</a:t>
            </a:r>
            <a:endParaRPr lang="en-US" altLang="ko-KR" sz="1200" dirty="0">
              <a:ea typeface="나눔스퀘어" panose="020B0600000101010101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ea typeface="나눔스퀘어" panose="020B0600000101010101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200" dirty="0"/>
              <a:t>※ </a:t>
            </a:r>
            <a:r>
              <a:rPr lang="ko-KR" altLang="en-US" sz="1200" dirty="0"/>
              <a:t>보고서 범주에 관한 자세한 사항은 </a:t>
            </a:r>
            <a:r>
              <a:rPr lang="en-US" altLang="ko-KR" sz="1200" dirty="0">
                <a:solidFill>
                  <a:srgbClr val="C9A9D0"/>
                </a:solidFill>
              </a:rPr>
              <a:t>. </a:t>
            </a:r>
            <a:r>
              <a:rPr lang="en-US" altLang="ko-KR" sz="1200" dirty="0"/>
              <a:t>[</a:t>
            </a:r>
            <a:r>
              <a:rPr lang="ko-KR" altLang="en-US" sz="1200" dirty="0"/>
              <a:t>별첨</a:t>
            </a:r>
            <a:r>
              <a:rPr lang="en-US" altLang="ko-KR" sz="1200" dirty="0"/>
              <a:t>] - </a:t>
            </a:r>
            <a:r>
              <a:rPr lang="ko-KR" altLang="en-US" sz="1200" dirty="0"/>
              <a:t>보고서 유형</a:t>
            </a:r>
            <a:r>
              <a:rPr lang="en-US" altLang="ko-KR" sz="1200" dirty="0"/>
              <a:t>(</a:t>
            </a:r>
            <a:r>
              <a:rPr lang="ko-KR" altLang="en-US" sz="1200" dirty="0"/>
              <a:t>범주</a:t>
            </a:r>
            <a:r>
              <a:rPr lang="en-US" altLang="ko-KR" sz="1200" dirty="0"/>
              <a:t>) </a:t>
            </a:r>
            <a:r>
              <a:rPr lang="ko-KR" altLang="en-US" sz="1200" dirty="0"/>
              <a:t>요약을 참고하시길 바랍니다</a:t>
            </a:r>
            <a:r>
              <a:rPr lang="en-US" altLang="ko-KR" sz="1200" dirty="0"/>
              <a:t>.)</a:t>
            </a:r>
            <a:endParaRPr lang="ko-KR" altLang="en-US" sz="1200" dirty="0">
              <a:ea typeface="나눔스퀘어" panose="020B0600000101010101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957A88-B320-1536-66B4-F7E5EAED2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09" y="1760989"/>
            <a:ext cx="7819053" cy="247720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ED2D5C-1F23-1762-E10E-A4BB9479846A}"/>
              </a:ext>
            </a:extLst>
          </p:cNvPr>
          <p:cNvSpPr txBox="1"/>
          <p:nvPr/>
        </p:nvSpPr>
        <p:spPr>
          <a:xfrm>
            <a:off x="365760" y="960120"/>
            <a:ext cx="8686800" cy="6970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Salesforce </a:t>
            </a:r>
            <a:r>
              <a:rPr lang="ko-KR" altLang="en-US" sz="1400" dirty="0">
                <a:solidFill>
                  <a:srgbClr val="2B2B2B"/>
                </a:solidFill>
                <a:latin typeface="나눔스퀘어"/>
              </a:rPr>
              <a:t>설정 화면에서 보고서 유형을 관리하고</a:t>
            </a: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나눔스퀘어"/>
              </a:rPr>
              <a:t>새로운 사용자 정의 보고서 유형을 생성할 수 있습니다</a:t>
            </a: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2B2B2B"/>
                </a:solidFill>
                <a:latin typeface="나눔스퀘어"/>
              </a:rPr>
              <a:t>보고서를 통해 매거진</a:t>
            </a: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나눔스퀘어"/>
              </a:rPr>
              <a:t>판매 현황</a:t>
            </a: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나눔스퀘어"/>
              </a:rPr>
              <a:t>고객 현황 등 다양한 데이터를 분석하고 조회할 수 있습니다</a:t>
            </a: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.</a:t>
            </a:r>
            <a:endParaRPr lang="ko-KR" altLang="en-US" sz="1400" dirty="0">
              <a:solidFill>
                <a:srgbClr val="2B2B2B"/>
              </a:solidFill>
              <a:latin typeface="나눔스퀘어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FE4673-72CF-647C-F0B4-91C280F8D219}"/>
              </a:ext>
            </a:extLst>
          </p:cNvPr>
          <p:cNvSpPr/>
          <p:nvPr/>
        </p:nvSpPr>
        <p:spPr>
          <a:xfrm>
            <a:off x="7409179" y="2091402"/>
            <a:ext cx="376439" cy="14016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AE8BF3-4CE1-9F12-1E43-3A91BA98272B}"/>
              </a:ext>
            </a:extLst>
          </p:cNvPr>
          <p:cNvSpPr/>
          <p:nvPr/>
        </p:nvSpPr>
        <p:spPr>
          <a:xfrm>
            <a:off x="4743732" y="1779651"/>
            <a:ext cx="438644" cy="14401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2C3E014-1C3E-720E-810A-7E7980E507B1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743732" y="2231571"/>
            <a:ext cx="2853667" cy="1522973"/>
          </a:xfrm>
          <a:prstGeom prst="straightConnector1">
            <a:avLst/>
          </a:prstGeom>
          <a:ln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2806566A-983E-F007-A71B-87157A650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800" y="3754544"/>
            <a:ext cx="5279864" cy="2814360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DAB319-3513-2D13-6D95-A85E883C114E}"/>
              </a:ext>
            </a:extLst>
          </p:cNvPr>
          <p:cNvSpPr/>
          <p:nvPr/>
        </p:nvSpPr>
        <p:spPr>
          <a:xfrm>
            <a:off x="2103800" y="3754544"/>
            <a:ext cx="5279864" cy="281436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F0749D9-A86C-2DB5-55E2-55ABBD3A5A7B}"/>
              </a:ext>
            </a:extLst>
          </p:cNvPr>
          <p:cNvSpPr/>
          <p:nvPr/>
        </p:nvSpPr>
        <p:spPr>
          <a:xfrm>
            <a:off x="3148199" y="4567124"/>
            <a:ext cx="2845942" cy="19304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7430AA2-F484-8ADB-5C5B-C9320FC5506C}"/>
              </a:ext>
            </a:extLst>
          </p:cNvPr>
          <p:cNvSpPr/>
          <p:nvPr/>
        </p:nvSpPr>
        <p:spPr>
          <a:xfrm>
            <a:off x="6126273" y="4409928"/>
            <a:ext cx="376439" cy="14016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18868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19ED-D6EE-AA5E-F67A-31C89415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CCAC33BF-BE27-7A4D-0D23-84753D17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⑧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r>
              <a:rPr lang="ko-KR" altLang="en-US" dirty="0">
                <a:solidFill>
                  <a:srgbClr val="C9A9D0"/>
                </a:solidFill>
              </a:rPr>
              <a:t>보고서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E6F906-FFCE-E1E5-F07F-C24AFD91728C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b="1" dirty="0">
                <a:ea typeface="나눔스퀘어" panose="020B0600000101010101"/>
              </a:rPr>
              <a:t>사용자 정의에 맞는 열 선택</a:t>
            </a:r>
            <a:endParaRPr lang="en-US" altLang="ko-KR" sz="1200" b="1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dirty="0">
                <a:ea typeface="나눔스퀘어" panose="020B0600000101010101"/>
              </a:rPr>
              <a:t>“</a:t>
            </a:r>
            <a:r>
              <a:rPr lang="ko-KR" altLang="en-US" sz="1200" dirty="0">
                <a:ea typeface="나눔스퀘어" panose="020B0600000101010101"/>
              </a:rPr>
              <a:t>매거진 구독 데이터</a:t>
            </a:r>
            <a:r>
              <a:rPr lang="en-US" altLang="ko-KR" sz="1200" dirty="0">
                <a:ea typeface="나눔스퀘어" panose="020B0600000101010101"/>
              </a:rPr>
              <a:t>" </a:t>
            </a:r>
            <a:r>
              <a:rPr lang="ko-KR" altLang="en-US" sz="1200" dirty="0">
                <a:ea typeface="나눔스퀘어" panose="020B0600000101010101"/>
              </a:rPr>
              <a:t>보고서 유형을 생성하면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해당 유형 내에서 매거진 구독 관련 보고서를 목적에 맞게 자유롭게 만들어 활용 가능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dirty="0">
                <a:ea typeface="나눔스퀘어" panose="020B0600000101010101"/>
              </a:rPr>
              <a:t>[</a:t>
            </a:r>
            <a:r>
              <a:rPr lang="ko-KR" altLang="en-US" sz="1200" dirty="0">
                <a:ea typeface="나눔스퀘어" panose="020B0600000101010101"/>
              </a:rPr>
              <a:t>개요</a:t>
            </a:r>
            <a:r>
              <a:rPr lang="en-US" altLang="ko-KR" sz="1200" dirty="0">
                <a:ea typeface="나눔스퀘어" panose="020B0600000101010101"/>
              </a:rPr>
              <a:t>] - </a:t>
            </a:r>
            <a:r>
              <a:rPr lang="ko-KR" altLang="en-US" sz="1200" dirty="0">
                <a:ea typeface="나눔스퀘어" panose="020B0600000101010101"/>
              </a:rPr>
              <a:t>열 추가를 통해 사용자 정의에 맞게 조회할 필드를 선택하여 보고서 구성 </a:t>
            </a:r>
            <a:br>
              <a:rPr lang="en-US" altLang="ko-KR" sz="1200" dirty="0">
                <a:ea typeface="나눔스퀘어" panose="020B0600000101010101"/>
              </a:rPr>
            </a:br>
            <a:r>
              <a:rPr lang="en-US" altLang="ko-KR" sz="1200" dirty="0">
                <a:ea typeface="나눔스퀘어" panose="020B0600000101010101"/>
              </a:rPr>
              <a:t>- </a:t>
            </a:r>
            <a:r>
              <a:rPr lang="ko-KR" altLang="en-US" sz="1200" b="1" dirty="0">
                <a:ea typeface="나눔스퀘어" panose="020B0600000101010101"/>
              </a:rPr>
              <a:t>매거진 검색 시</a:t>
            </a:r>
            <a:r>
              <a:rPr lang="en-US" altLang="ko-KR" sz="1200" b="1" dirty="0">
                <a:ea typeface="나눔스퀘어" panose="020B0600000101010101"/>
              </a:rPr>
              <a:t>, </a:t>
            </a:r>
            <a:r>
              <a:rPr lang="ko-KR" altLang="en-US" sz="1200" b="1" dirty="0">
                <a:ea typeface="나눔스퀘어" panose="020B0600000101010101"/>
              </a:rPr>
              <a:t>매거진 관련 필드 선택 가능</a:t>
            </a:r>
            <a:endParaRPr lang="en-US" altLang="ko-KR" sz="1200" b="1" dirty="0">
              <a:ea typeface="나눔스퀘어" panose="020B0600000101010101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ea typeface="나눔스퀘어" panose="020B0600000101010101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</a:rPr>
              <a:t>② 필터를 통해 데이터 조회</a:t>
            </a:r>
            <a:endParaRPr lang="en-US" altLang="ko-KR" sz="1200" b="1" dirty="0"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필터 추가를 통해 날짜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거래 구분 등 조건을 설정하여 원하는 데이터만 조회할 수 있습니다</a:t>
            </a:r>
            <a:r>
              <a:rPr lang="en-US" altLang="ko-KR" sz="1200" dirty="0">
                <a:ea typeface="나눔스퀘어" panose="020B0600000101010101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ea typeface="나눔스퀘어" panose="020B0600000101010101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ea typeface="나눔스퀘어" panose="020B0600000101010101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C8516C-1FB9-ECAF-095A-B2EAA47C5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993173"/>
            <a:ext cx="6214188" cy="178291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26F03C8-D6F9-307A-7A4D-52E28D3D7AF8}"/>
              </a:ext>
            </a:extLst>
          </p:cNvPr>
          <p:cNvSpPr/>
          <p:nvPr/>
        </p:nvSpPr>
        <p:spPr>
          <a:xfrm>
            <a:off x="514350" y="1993173"/>
            <a:ext cx="1323081" cy="19205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1A397F-4D2A-7742-055E-85929957F48D}"/>
              </a:ext>
            </a:extLst>
          </p:cNvPr>
          <p:cNvSpPr/>
          <p:nvPr/>
        </p:nvSpPr>
        <p:spPr>
          <a:xfrm>
            <a:off x="605683" y="2772116"/>
            <a:ext cx="1017144" cy="100397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A26A3E3-3EC8-1D3C-3EA8-7D269E00A10A}"/>
              </a:ext>
            </a:extLst>
          </p:cNvPr>
          <p:cNvSpPr/>
          <p:nvPr/>
        </p:nvSpPr>
        <p:spPr>
          <a:xfrm>
            <a:off x="344017" y="266863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6B08CDD-B427-E13F-C6FD-CFDECFCE5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69" y="3851437"/>
            <a:ext cx="7025307" cy="1366235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368A89-B319-4968-4651-60B52774DDF1}"/>
              </a:ext>
            </a:extLst>
          </p:cNvPr>
          <p:cNvSpPr/>
          <p:nvPr/>
        </p:nvSpPr>
        <p:spPr>
          <a:xfrm>
            <a:off x="514350" y="4069539"/>
            <a:ext cx="1020128" cy="1148133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3B131D-0BA1-1E56-40DE-2D18ED8E5801}"/>
              </a:ext>
            </a:extLst>
          </p:cNvPr>
          <p:cNvSpPr/>
          <p:nvPr/>
        </p:nvSpPr>
        <p:spPr>
          <a:xfrm>
            <a:off x="1569107" y="4069539"/>
            <a:ext cx="4527845" cy="29344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ECA197B-95BF-5D84-A31F-5162B69F4C9E}"/>
              </a:ext>
            </a:extLst>
          </p:cNvPr>
          <p:cNvSpPr/>
          <p:nvPr/>
        </p:nvSpPr>
        <p:spPr>
          <a:xfrm>
            <a:off x="260429" y="400026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144A7CB-B488-A241-CA99-66BD5C9DD117}"/>
              </a:ext>
            </a:extLst>
          </p:cNvPr>
          <p:cNvCxnSpPr>
            <a:endCxn id="21" idx="0"/>
          </p:cNvCxnSpPr>
          <p:nvPr/>
        </p:nvCxnSpPr>
        <p:spPr>
          <a:xfrm>
            <a:off x="1622827" y="3517012"/>
            <a:ext cx="2210202" cy="552527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42D39C-0EF2-1C09-41E6-D71E3D9A7865}"/>
              </a:ext>
            </a:extLst>
          </p:cNvPr>
          <p:cNvSpPr txBox="1"/>
          <p:nvPr/>
        </p:nvSpPr>
        <p:spPr>
          <a:xfrm>
            <a:off x="365760" y="960120"/>
            <a:ext cx="8686800" cy="6970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Salesforce </a:t>
            </a:r>
            <a:r>
              <a:rPr lang="ko-KR" altLang="en-US" sz="1400" dirty="0">
                <a:solidFill>
                  <a:srgbClr val="2B2B2B"/>
                </a:solidFill>
                <a:latin typeface="나눔스퀘어"/>
              </a:rPr>
              <a:t>설정 화면에서 보고서 유형을 관리하고</a:t>
            </a: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나눔스퀘어"/>
              </a:rPr>
              <a:t>새로운 사용자 정의 보고서 유형을 생성할 수 있습니다</a:t>
            </a: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2B2B2B"/>
                </a:solidFill>
                <a:latin typeface="나눔스퀘어"/>
              </a:rPr>
              <a:t>보고서를 통해 매거진</a:t>
            </a: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나눔스퀘어"/>
              </a:rPr>
              <a:t>판매 현황</a:t>
            </a: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나눔스퀘어"/>
              </a:rPr>
              <a:t>고객 현황 등 다양한 데이터를 분석하고 조회할 수 있습니다</a:t>
            </a:r>
            <a:r>
              <a:rPr lang="en-US" altLang="ko-KR" sz="1400" dirty="0">
                <a:solidFill>
                  <a:srgbClr val="2B2B2B"/>
                </a:solidFill>
                <a:latin typeface="나눔스퀘어"/>
              </a:rPr>
              <a:t>.</a:t>
            </a:r>
            <a:endParaRPr lang="ko-KR" altLang="en-US" sz="1400" dirty="0">
              <a:solidFill>
                <a:srgbClr val="2B2B2B"/>
              </a:solidFill>
              <a:latin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20735716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C7594-98ED-0AE8-E14B-AC3E51275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3652D1CA-CFA2-9059-30AA-36DA99447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⑧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r>
              <a:rPr lang="ko-KR" altLang="en-US" dirty="0">
                <a:solidFill>
                  <a:srgbClr val="C9A9D0"/>
                </a:solidFill>
              </a:rPr>
              <a:t>보고서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1E61A8-6A0D-7026-16EA-2B9A04C42604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899ECC-2075-24AB-9127-4227783BD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19" y="1462977"/>
            <a:ext cx="7699526" cy="427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878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CD495-644C-5010-1A25-826A723B9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EAA08A13-EEFB-1F51-C67C-5986DB0D3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9" y="-427383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⑧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r>
              <a:rPr lang="ko-KR" altLang="en-US" dirty="0">
                <a:solidFill>
                  <a:srgbClr val="C9A9D0"/>
                </a:solidFill>
              </a:rPr>
              <a:t>보고서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CCBEF9-488B-F3AE-0898-3A62AE656B0B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7A60B7-6F46-7D0C-D041-A23FC8A96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220" y="1603865"/>
            <a:ext cx="5737471" cy="43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446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F2AB-2DD3-6C54-03BE-EE134ECB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C3ECDFE9-EC10-6C91-97C5-B418E5D9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52" y="-437322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4. </a:t>
            </a:r>
            <a:r>
              <a:rPr lang="en-US" altLang="ko-KR" dirty="0">
                <a:solidFill>
                  <a:srgbClr val="C9A9D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⑨</a:t>
            </a:r>
            <a:r>
              <a:rPr lang="en-US" altLang="ko-KR" dirty="0">
                <a:solidFill>
                  <a:srgbClr val="C9A9D0"/>
                </a:solidFill>
              </a:rPr>
              <a:t> </a:t>
            </a:r>
            <a:r>
              <a:rPr lang="ko-KR" altLang="en-US" dirty="0">
                <a:solidFill>
                  <a:srgbClr val="C9A9D0"/>
                </a:solidFill>
              </a:rPr>
              <a:t>로그 관리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A0D03D-FFD7-D3B6-986D-253907A08153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로그 정보 검색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1) 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이름으로 조회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②</a:t>
            </a:r>
            <a:r>
              <a:rPr lang="ko-KR" altLang="en-US" sz="1200" b="1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 로그 상세 정보 </a:t>
            </a:r>
            <a:endParaRPr lang="en-US" altLang="ko-KR" sz="1200" b="1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1)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 이름 클릭으로 특정 프로세스 성공</a:t>
            </a:r>
            <a:r>
              <a:rPr lang="en-US" altLang="ko-KR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Noto Sans KR" panose="020B0200000000000000" pitchFamily="50" charset="-127"/>
                <a:ea typeface="나눔스퀘어" panose="020B0600000101010101" pitchFamily="50" charset="-127"/>
              </a:rPr>
              <a:t>실패에 대한 로그 상세 정보 조회 가능</a:t>
            </a:r>
            <a:endParaRPr lang="en-US" altLang="ko-KR" sz="1200" dirty="0">
              <a:latin typeface="Noto Sans KR" panose="020B0200000000000000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AA5BD0-67D6-22E7-92AF-6D5FB3184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54" y="1771936"/>
            <a:ext cx="7849411" cy="206760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5CEE75D-6897-7722-A8D0-11B8EB1A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36" y="4152124"/>
            <a:ext cx="7212563" cy="219796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8B53DC2-7EE9-C45B-BF67-238730249D0A}"/>
              </a:ext>
            </a:extLst>
          </p:cNvPr>
          <p:cNvSpPr/>
          <p:nvPr/>
        </p:nvSpPr>
        <p:spPr>
          <a:xfrm>
            <a:off x="6040014" y="2076677"/>
            <a:ext cx="1101012" cy="15334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D2FAF8-5B6B-B6F4-79CA-C9B709FB4743}"/>
              </a:ext>
            </a:extLst>
          </p:cNvPr>
          <p:cNvSpPr/>
          <p:nvPr/>
        </p:nvSpPr>
        <p:spPr>
          <a:xfrm>
            <a:off x="650035" y="2300611"/>
            <a:ext cx="1346716" cy="1538934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4A52C05-2606-E90A-96BA-D0F02580B5B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323393" y="3839545"/>
            <a:ext cx="3245125" cy="312579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0769FF-0F08-E727-C770-D9E3E3123B01}"/>
              </a:ext>
            </a:extLst>
          </p:cNvPr>
          <p:cNvSpPr/>
          <p:nvPr/>
        </p:nvSpPr>
        <p:spPr>
          <a:xfrm>
            <a:off x="962235" y="4152123"/>
            <a:ext cx="7212563" cy="219796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1CFAABA-333E-11F1-84AE-4A1B5CEF7043}"/>
              </a:ext>
            </a:extLst>
          </p:cNvPr>
          <p:cNvSpPr/>
          <p:nvPr/>
        </p:nvSpPr>
        <p:spPr>
          <a:xfrm>
            <a:off x="5824014" y="186067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8E2A0DB-E796-A7A4-7163-B52A7E03EFC4}"/>
              </a:ext>
            </a:extLst>
          </p:cNvPr>
          <p:cNvSpPr/>
          <p:nvPr/>
        </p:nvSpPr>
        <p:spPr>
          <a:xfrm>
            <a:off x="405185" y="215334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88437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FD09D-3C5F-FC57-D33F-7076F394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37A30C33-AC9B-0CBF-381E-3FFF3CF25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35" y="-390060"/>
            <a:ext cx="12702180" cy="1051500"/>
          </a:xfrm>
        </p:spPr>
        <p:txBody>
          <a:bodyPr/>
          <a:lstStyle/>
          <a:p>
            <a:r>
              <a:rPr lang="ko-KR" altLang="en-US" dirty="0">
                <a:solidFill>
                  <a:srgbClr val="C9A9D0"/>
                </a:solidFill>
              </a:rPr>
              <a:t> </a:t>
            </a:r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회원</a:t>
            </a:r>
            <a:r>
              <a:rPr lang="en-US" altLang="ko-KR" dirty="0">
                <a:solidFill>
                  <a:srgbClr val="C9A9D0"/>
                </a:solidFill>
              </a:rPr>
              <a:t>360 – </a:t>
            </a:r>
            <a:r>
              <a:rPr lang="ko-KR" altLang="en-US" dirty="0">
                <a:solidFill>
                  <a:srgbClr val="C9A9D0"/>
                </a:solidFill>
              </a:rPr>
              <a:t>회원변경이력 변경 항목 요약표</a:t>
            </a: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D9555363-7429-B80C-9FF5-D763F4A13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084917"/>
              </p:ext>
            </p:extLst>
          </p:nvPr>
        </p:nvGraphicFramePr>
        <p:xfrm>
          <a:off x="536713" y="1667177"/>
          <a:ext cx="10950859" cy="3600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1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024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변경 항목</a:t>
                      </a:r>
                      <a:endParaRPr sz="11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DM(</a:t>
                      </a:r>
                      <a:r>
                        <a:rPr lang="ko-KR" altLang="en-US" sz="1200" dirty="0">
                          <a:effectLst/>
                        </a:rPr>
                        <a:t>매거진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T="15240" marB="304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관리 매장</a:t>
                      </a:r>
                    </a:p>
                  </a:txBody>
                  <a:tcPr marT="15240" marB="304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dirty="0">
                          <a:effectLst/>
                        </a:rPr>
                        <a:t>SMS </a:t>
                      </a:r>
                      <a:r>
                        <a:rPr lang="ko-KR" altLang="en-US" sz="1200" dirty="0">
                          <a:effectLst/>
                        </a:rPr>
                        <a:t>수신 여부</a:t>
                      </a:r>
                    </a:p>
                  </a:txBody>
                  <a:tcPr marT="15240" marB="30480"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>
                          <a:effectLst/>
                        </a:rPr>
                        <a:t>마지막 구매 일자</a:t>
                      </a:r>
                    </a:p>
                  </a:txBody>
                  <a:tcPr marT="15240" marB="30480"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결혼 기념 일자</a:t>
                      </a:r>
                    </a:p>
                  </a:txBody>
                  <a:tcPr marT="15240" marB="304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>
                          <a:effectLst/>
                        </a:rPr>
                        <a:t>매거진 구독 일자</a:t>
                      </a:r>
                    </a:p>
                  </a:txBody>
                  <a:tcPr marT="15240" marB="304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등급산정 </a:t>
                      </a:r>
                      <a:r>
                        <a:rPr lang="en-US" altLang="ko-KR" sz="1200" dirty="0">
                          <a:effectLst/>
                        </a:rPr>
                        <a:t>3</a:t>
                      </a:r>
                      <a:r>
                        <a:rPr lang="ko-KR" altLang="en-US" sz="1200" dirty="0">
                          <a:effectLst/>
                        </a:rPr>
                        <a:t>개년 구매금액 </a:t>
                      </a:r>
                      <a:endParaRPr lang="en-US" altLang="ko-KR" sz="1200" dirty="0">
                        <a:effectLst/>
                      </a:endParaRPr>
                    </a:p>
                  </a:txBody>
                  <a:tcPr marT="15240" marB="30480"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법정 생년월일</a:t>
                      </a:r>
                    </a:p>
                  </a:txBody>
                  <a:tcPr marT="15240" marB="30480"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>
                          <a:effectLst/>
                        </a:rPr>
                        <a:t>매거진 구독 여부</a:t>
                      </a:r>
                    </a:p>
                  </a:txBody>
                  <a:tcPr marT="15240" marB="304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>
                          <a:effectLst/>
                        </a:rPr>
                        <a:t>이름</a:t>
                      </a:r>
                    </a:p>
                  </a:txBody>
                  <a:tcPr marT="15240" marB="304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 err="1">
                          <a:effectLst/>
                        </a:rPr>
                        <a:t>메일링</a:t>
                      </a:r>
                      <a:r>
                        <a:rPr lang="ko-KR" altLang="en-US" sz="1200" dirty="0">
                          <a:effectLst/>
                        </a:rPr>
                        <a:t> 주소</a:t>
                      </a:r>
                    </a:p>
                  </a:txBody>
                  <a:tcPr marT="15240" marB="30480"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이메일 수신 여부</a:t>
                      </a:r>
                    </a:p>
                  </a:txBody>
                  <a:tcPr marT="15240" marB="30480"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>
                          <a:effectLst/>
                        </a:rPr>
                        <a:t>이메일</a:t>
                      </a:r>
                    </a:p>
                  </a:txBody>
                  <a:tcPr marT="15240" marB="304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>
                          <a:effectLst/>
                        </a:rPr>
                        <a:t>탈퇴 여부</a:t>
                      </a:r>
                    </a:p>
                  </a:txBody>
                  <a:tcPr marT="15240" marB="304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회원 등급</a:t>
                      </a:r>
                    </a:p>
                  </a:txBody>
                  <a:tcPr marT="15240" marB="30480"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회원 구분 코드</a:t>
                      </a:r>
                    </a:p>
                  </a:txBody>
                  <a:tcPr marT="15240" marB="30480"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휴대폰</a:t>
                      </a:r>
                    </a:p>
                  </a:txBody>
                  <a:tcPr marT="15240" marB="304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휴대폰 인증 여부</a:t>
                      </a:r>
                    </a:p>
                  </a:txBody>
                  <a:tcPr marT="15240" marB="304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결혼 유무</a:t>
                      </a:r>
                    </a:p>
                  </a:txBody>
                  <a:tcPr marT="15240" marB="30480"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매거진 구독 시즌</a:t>
                      </a:r>
                    </a:p>
                  </a:txBody>
                  <a:tcPr marT="15240" marB="30480"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4255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BC8BF-DFD3-7A05-1A78-4E21597D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3EE43E2F-D037-8211-2A02-EAFACA36F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8" y="-427383"/>
            <a:ext cx="12151673" cy="1051500"/>
          </a:xfrm>
        </p:spPr>
        <p:txBody>
          <a:bodyPr/>
          <a:lstStyle/>
          <a:p>
            <a:r>
              <a:rPr lang="ko-KR" altLang="en-US" dirty="0">
                <a:solidFill>
                  <a:srgbClr val="C9A9D0"/>
                </a:solidFill>
              </a:rPr>
              <a:t> </a:t>
            </a:r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회원 </a:t>
            </a:r>
            <a:r>
              <a:rPr lang="en-US" altLang="ko-KR" dirty="0">
                <a:solidFill>
                  <a:srgbClr val="C9A9D0"/>
                </a:solidFill>
              </a:rPr>
              <a:t>360- </a:t>
            </a:r>
            <a:r>
              <a:rPr lang="ko-KR" altLang="en-US" dirty="0">
                <a:solidFill>
                  <a:srgbClr val="C9A9D0"/>
                </a:solidFill>
                <a:latin typeface="맑은 고딕" panose="020B0503020000020004" pitchFamily="50" charset="-127"/>
              </a:rPr>
              <a:t>주문 내역에서 조회되는 카테고리 항목을 요약표</a:t>
            </a:r>
            <a:endParaRPr lang="ko-KR" altLang="en-US" dirty="0">
              <a:solidFill>
                <a:srgbClr val="C9A9D0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F74CD6F-E8B7-2173-AA40-777C6D996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857028"/>
              </p:ext>
            </p:extLst>
          </p:nvPr>
        </p:nvGraphicFramePr>
        <p:xfrm>
          <a:off x="370009" y="1238173"/>
          <a:ext cx="112745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32137280"/>
                    </a:ext>
                  </a:extLst>
                </a:gridCol>
                <a:gridCol w="2446741">
                  <a:extLst>
                    <a:ext uri="{9D8B030D-6E8A-4147-A177-3AD203B41FA5}">
                      <a16:colId xmlns:a16="http://schemas.microsoft.com/office/drawing/2014/main" val="3419178474"/>
                    </a:ext>
                  </a:extLst>
                </a:gridCol>
                <a:gridCol w="6460434">
                  <a:extLst>
                    <a:ext uri="{9D8B030D-6E8A-4147-A177-3AD203B41FA5}">
                      <a16:colId xmlns:a16="http://schemas.microsoft.com/office/drawing/2014/main" val="3216898707"/>
                    </a:ext>
                  </a:extLst>
                </a:gridCol>
                <a:gridCol w="721457">
                  <a:extLst>
                    <a:ext uri="{9D8B030D-6E8A-4147-A177-3AD203B41FA5}">
                      <a16:colId xmlns:a16="http://schemas.microsoft.com/office/drawing/2014/main" val="264302966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구 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항 목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설 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조 회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39596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기본 카테고리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삭제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주문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판매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반품 취소 및 삭제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O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48517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삭제 일시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주문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판매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반품 취소 및 삭제 일시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O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68481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진행 상태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주문 상태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판매 상태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반품 상태
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추후 오픈 후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판매 완료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반품완료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판매삭제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반품삭제만 조회됨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O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30345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주문 금액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주문 금액 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판매 단가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O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23566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판매 구분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해당 건이 주문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판매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반품 중 어떤 유형인지 구분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O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84072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주문 상태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해당 주문 건의 주문 진행 상태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O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3834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주문 번호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판매 번호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판매 금액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조회 가능 항목이나</a:t>
                      </a:r>
                      <a:r>
                        <a:rPr lang="en-US" altLang="ko-KR" sz="12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실제 정책에서는 변경 불가 항목으로 화면상에서는 나타나지 않습니다</a:t>
                      </a:r>
                      <a:r>
                        <a:rPr lang="en-US" altLang="ko-KR" sz="12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O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373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이벤트 카테고리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작성됨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주문 내역에서 변경 사항이 발생하면 자동으로 생성됨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O</a:t>
                      </a:r>
                      <a:endParaRPr lang="ko-KR" altLang="en-US" sz="12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41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1902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77C5-AE17-5880-D972-212CBDBA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0551B998-D71D-0259-9E15-2E0305811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35" y="-390060"/>
            <a:ext cx="12702180" cy="1051500"/>
          </a:xfrm>
        </p:spPr>
        <p:txBody>
          <a:bodyPr/>
          <a:lstStyle/>
          <a:p>
            <a:r>
              <a:rPr lang="ko-KR" altLang="en-US" dirty="0">
                <a:solidFill>
                  <a:srgbClr val="C9A9D0"/>
                </a:solidFill>
              </a:rPr>
              <a:t> </a:t>
            </a:r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회원</a:t>
            </a:r>
            <a:r>
              <a:rPr lang="en-US" altLang="ko-KR" dirty="0">
                <a:solidFill>
                  <a:srgbClr val="C9A9D0"/>
                </a:solidFill>
              </a:rPr>
              <a:t>360, </a:t>
            </a:r>
            <a:r>
              <a:rPr lang="ko-KR" altLang="en-US" dirty="0">
                <a:solidFill>
                  <a:srgbClr val="C9A9D0"/>
                </a:solidFill>
              </a:rPr>
              <a:t>주문</a:t>
            </a:r>
            <a:r>
              <a:rPr lang="en-US" altLang="ko-KR" dirty="0">
                <a:solidFill>
                  <a:srgbClr val="C9A9D0"/>
                </a:solidFill>
              </a:rPr>
              <a:t>/</a:t>
            </a:r>
            <a:r>
              <a:rPr lang="ko-KR" altLang="en-US" dirty="0">
                <a:solidFill>
                  <a:srgbClr val="C9A9D0"/>
                </a:solidFill>
              </a:rPr>
              <a:t>판매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입금</a:t>
            </a:r>
            <a:r>
              <a:rPr lang="en-US" altLang="ko-KR" dirty="0">
                <a:solidFill>
                  <a:srgbClr val="C9A9D0"/>
                </a:solidFill>
              </a:rPr>
              <a:t>, </a:t>
            </a:r>
            <a:r>
              <a:rPr lang="ko-KR" altLang="en-US" dirty="0">
                <a:solidFill>
                  <a:srgbClr val="C9A9D0"/>
                </a:solidFill>
              </a:rPr>
              <a:t>쿠폰</a:t>
            </a:r>
            <a:r>
              <a:rPr lang="en-US" altLang="ko-KR" dirty="0">
                <a:solidFill>
                  <a:srgbClr val="C9A9D0"/>
                </a:solidFill>
              </a:rPr>
              <a:t>, </a:t>
            </a:r>
            <a:r>
              <a:rPr lang="ko-KR" altLang="en-US" dirty="0">
                <a:solidFill>
                  <a:srgbClr val="C9A9D0"/>
                </a:solidFill>
              </a:rPr>
              <a:t>포인트 이력 요약표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240B45B4-70FB-C60C-E709-33C997269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026549"/>
              </p:ext>
            </p:extLst>
          </p:nvPr>
        </p:nvGraphicFramePr>
        <p:xfrm>
          <a:off x="497633" y="1519493"/>
          <a:ext cx="10972800" cy="4283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81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구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설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주문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입금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주문에 입금된 금액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수단</a:t>
                      </a:r>
                      <a:endParaRPr sz="12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맑은 고딕"/>
                        </a:rPr>
                        <a:t>주문 입금 취소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주문에서 취소된 금액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수단</a:t>
                      </a:r>
                      <a:endParaRPr sz="1200" dirty="0"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구매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시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포인트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지급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판매에서 발생한 적립 포인트</a:t>
                      </a:r>
                      <a:endParaRPr sz="12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판매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입금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판매에 입금된 금액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수단</a:t>
                      </a:r>
                      <a:endParaRPr sz="1200" dirty="0"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판매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입금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취소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판매에서 취소된 금액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수단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신규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가입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쿠폰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지급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신규 가입 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지급된 쿠폰</a:t>
                      </a:r>
                      <a:endParaRPr sz="1200" dirty="0"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승급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포인트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지급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등급 승급 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지급된 포인트</a:t>
                      </a:r>
                      <a:endParaRPr sz="12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맑은 고딕"/>
                        </a:rPr>
                        <a:t>쿠폰 사용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주문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판매에서 사용된 쿠폰</a:t>
                      </a:r>
                      <a:endParaRPr sz="1200" dirty="0"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맑은 고딕"/>
                        </a:rPr>
                        <a:t>포인트 사용 취소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주문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판매에서 사용 취소된 포인트</a:t>
                      </a:r>
                      <a:endParaRPr sz="12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맑은 고딕"/>
                        </a:rPr>
                        <a:t>포인트 사용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주문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판매에서 사용된 포인트 </a:t>
                      </a:r>
                      <a:endParaRPr sz="1200" dirty="0"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맑은 고딕"/>
                        </a:rPr>
                        <a:t>포인트 수동 지급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이벤트 포인트 지급</a:t>
                      </a:r>
                      <a:endParaRPr sz="12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쿠폰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수동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지급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쿠폰 작성자에 의해 지급</a:t>
                      </a:r>
                      <a:endParaRPr sz="1200" dirty="0"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93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쿠폰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사용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취소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주문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판매에서 사용 취소된 쿠폰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185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D4D3-534A-F0CB-C515-68A4221C3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27390705-5273-D501-520A-2E63EE17797A}"/>
              </a:ext>
            </a:extLst>
          </p:cNvPr>
          <p:cNvSpPr txBox="1">
            <a:spLocks/>
          </p:cNvSpPr>
          <p:nvPr/>
        </p:nvSpPr>
        <p:spPr>
          <a:xfrm>
            <a:off x="223935" y="-390060"/>
            <a:ext cx="12702180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ko-KR" altLang="en-US">
                <a:solidFill>
                  <a:srgbClr val="C9A9D0"/>
                </a:solidFill>
              </a:rPr>
              <a:t> </a:t>
            </a:r>
            <a:r>
              <a:rPr lang="en-US" altLang="ko-KR">
                <a:solidFill>
                  <a:srgbClr val="C9A9D0"/>
                </a:solidFill>
              </a:rPr>
              <a:t>5. [</a:t>
            </a:r>
            <a:r>
              <a:rPr lang="ko-KR" altLang="en-US">
                <a:solidFill>
                  <a:srgbClr val="C9A9D0"/>
                </a:solidFill>
              </a:rPr>
              <a:t>별첨</a:t>
            </a:r>
            <a:r>
              <a:rPr lang="en-US" altLang="ko-KR">
                <a:solidFill>
                  <a:srgbClr val="C9A9D0"/>
                </a:solidFill>
              </a:rPr>
              <a:t>] : </a:t>
            </a:r>
            <a:r>
              <a:rPr lang="ko-KR" altLang="en-US">
                <a:solidFill>
                  <a:srgbClr val="C9A9D0"/>
                </a:solidFill>
              </a:rPr>
              <a:t>회원</a:t>
            </a:r>
            <a:r>
              <a:rPr lang="en-US" altLang="ko-KR">
                <a:solidFill>
                  <a:srgbClr val="C9A9D0"/>
                </a:solidFill>
              </a:rPr>
              <a:t>360, </a:t>
            </a:r>
            <a:r>
              <a:rPr lang="ko-KR" altLang="en-US">
                <a:solidFill>
                  <a:srgbClr val="C9A9D0"/>
                </a:solidFill>
              </a:rPr>
              <a:t>주문</a:t>
            </a:r>
            <a:r>
              <a:rPr lang="en-US" altLang="ko-KR">
                <a:solidFill>
                  <a:srgbClr val="C9A9D0"/>
                </a:solidFill>
              </a:rPr>
              <a:t>/</a:t>
            </a:r>
            <a:r>
              <a:rPr lang="ko-KR" altLang="en-US">
                <a:solidFill>
                  <a:srgbClr val="C9A9D0"/>
                </a:solidFill>
              </a:rPr>
              <a:t>판매 </a:t>
            </a:r>
            <a:r>
              <a:rPr lang="en-US" altLang="ko-KR">
                <a:solidFill>
                  <a:srgbClr val="C9A9D0"/>
                </a:solidFill>
              </a:rPr>
              <a:t>– </a:t>
            </a:r>
            <a:r>
              <a:rPr lang="ko-KR" altLang="en-US">
                <a:solidFill>
                  <a:srgbClr val="C9A9D0"/>
                </a:solidFill>
              </a:rPr>
              <a:t>입금</a:t>
            </a:r>
            <a:r>
              <a:rPr lang="en-US" altLang="ko-KR">
                <a:solidFill>
                  <a:srgbClr val="C9A9D0"/>
                </a:solidFill>
              </a:rPr>
              <a:t>, </a:t>
            </a:r>
            <a:r>
              <a:rPr lang="ko-KR" altLang="en-US">
                <a:solidFill>
                  <a:srgbClr val="C9A9D0"/>
                </a:solidFill>
              </a:rPr>
              <a:t>쿠폰</a:t>
            </a:r>
            <a:r>
              <a:rPr lang="en-US" altLang="ko-KR">
                <a:solidFill>
                  <a:srgbClr val="C9A9D0"/>
                </a:solidFill>
              </a:rPr>
              <a:t>, </a:t>
            </a:r>
            <a:r>
              <a:rPr lang="ko-KR" altLang="en-US">
                <a:solidFill>
                  <a:srgbClr val="C9A9D0"/>
                </a:solidFill>
              </a:rPr>
              <a:t>포인트 이력 요약표</a:t>
            </a:r>
            <a:endParaRPr lang="ko-KR" altLang="en-US" dirty="0">
              <a:solidFill>
                <a:srgbClr val="C9A9D0"/>
              </a:solidFill>
            </a:endParaRP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4E93C107-F1A9-1732-8594-ADD696184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388673"/>
              </p:ext>
            </p:extLst>
          </p:nvPr>
        </p:nvGraphicFramePr>
        <p:xfrm>
          <a:off x="609600" y="1678519"/>
          <a:ext cx="10972800" cy="32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2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8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구 분</a:t>
                      </a:r>
                      <a:endParaRPr sz="12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설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53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구매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시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포인트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적립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취소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주문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판매에서 발생한 적립 포인트 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복원 포인트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5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API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요청에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의한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포인트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강제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소멸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처리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에코포인트 소멸 </a:t>
                      </a:r>
                      <a:endParaRPr sz="1200" dirty="0"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5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API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요청에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의한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포인트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강제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차감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처리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에코포인트 적립 취소</a:t>
                      </a:r>
                      <a:endParaRPr sz="12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45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API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요청에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의한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포인트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강제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지급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(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적립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)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처리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에코포인트 적립</a:t>
                      </a:r>
                      <a:endParaRPr sz="1200" dirty="0"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453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쿠폰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발급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쿠폰 지급 </a:t>
                      </a:r>
                      <a:r>
                        <a:rPr lang="en-US" altLang="ko-KR" sz="1200" dirty="0"/>
                        <a:t>=&gt; </a:t>
                      </a:r>
                      <a:r>
                        <a:rPr lang="ko-KR" altLang="en-US" sz="1200" dirty="0"/>
                        <a:t>회원</a:t>
                      </a:r>
                      <a:r>
                        <a:rPr lang="en-US" altLang="ko-KR" sz="1200" dirty="0"/>
                        <a:t>360 </a:t>
                      </a:r>
                      <a:r>
                        <a:rPr lang="ko-KR" altLang="en-US" sz="1200" dirty="0"/>
                        <a:t>쿠폰 이력에서도 조회 가능</a:t>
                      </a:r>
                      <a:endParaRPr sz="12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453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프로모션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포인트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지급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프로모션에 적용된 포인트 적립 </a:t>
                      </a:r>
                      <a:endParaRPr sz="1200" dirty="0"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453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프로모션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포인트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지급</a:t>
                      </a:r>
                      <a:r>
                        <a:rPr sz="12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취소</a:t>
                      </a:r>
                      <a:endParaRPr sz="12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프로모션에 적용된 포인트 적립 취소</a:t>
                      </a:r>
                      <a:endParaRPr sz="12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50702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F2AB-2DD3-6C54-03BE-EE134ECB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C3ECDFE9-EC10-6C91-97C5-B418E5D9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52" y="-437322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설정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프로모션 세부 사항 필드 요약표 </a:t>
            </a:r>
            <a:r>
              <a:rPr lang="en-US" altLang="ko-KR" dirty="0">
                <a:solidFill>
                  <a:srgbClr val="C9A9D0"/>
                </a:solidFill>
              </a:rPr>
              <a:t>1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8CB1C-2485-4440-03D6-246081A93B3B}"/>
              </a:ext>
            </a:extLst>
          </p:cNvPr>
          <p:cNvSpPr txBox="1"/>
          <p:nvPr/>
        </p:nvSpPr>
        <p:spPr>
          <a:xfrm>
            <a:off x="500269" y="960120"/>
            <a:ext cx="10972800" cy="373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▼ 프로모션 상세 페이지 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세부 사항 탭 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&gt; '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프로모션 세부 사항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섹션의 필드 목록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AEE24BD-B6AA-4CCE-F15E-EACEBBF64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041640"/>
              </p:ext>
            </p:extLst>
          </p:nvPr>
        </p:nvGraphicFramePr>
        <p:xfrm>
          <a:off x="609600" y="1334005"/>
          <a:ext cx="109728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781">
                  <a:extLst>
                    <a:ext uri="{9D8B030D-6E8A-4147-A177-3AD203B41FA5}">
                      <a16:colId xmlns:a16="http://schemas.microsoft.com/office/drawing/2014/main" val="44130223"/>
                    </a:ext>
                  </a:extLst>
                </a:gridCol>
                <a:gridCol w="5188274">
                  <a:extLst>
                    <a:ext uri="{9D8B030D-6E8A-4147-A177-3AD203B41FA5}">
                      <a16:colId xmlns:a16="http://schemas.microsoft.com/office/drawing/2014/main" val="2386453832"/>
                    </a:ext>
                  </a:extLst>
                </a:gridCol>
                <a:gridCol w="3114745">
                  <a:extLst>
                    <a:ext uri="{9D8B030D-6E8A-4147-A177-3AD203B41FA5}">
                      <a16:colId xmlns:a16="http://schemas.microsoft.com/office/drawing/2014/main" val="3228222253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필 </a:t>
                      </a:r>
                      <a:r>
                        <a:rPr lang="ko-KR" altLang="en-US" sz="1200" b="1" dirty="0" err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드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 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설 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비 고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61781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시작 일자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시작일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99155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종료 일자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종료일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512419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활성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활성화 여부 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체크박스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체크 시 프로모션 운영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751236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구분 코드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유형 분류 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할인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70545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상태 코드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현재 프로모션 상태 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등록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진행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종료 등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506085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외부 프로모션 번호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외부 시스템 연동 시 사용하는 번호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014799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등록자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프로모션을 등록한 사용자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10185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담당자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담당자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418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담당부서코드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담당 부서 코드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74137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삭제 여부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삭제 처리 여부 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체크박스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체크 시 삭제 처리됨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78019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적립 불가 포인트 유형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해당 프로모션에서 적립이 제외되는 포인트 유형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50342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이름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명칭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475258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표시 이름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고객에게 노출되는 프로모션 명칭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92283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게시 시작 날짜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고객에게 노출 시작일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778958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게시 종료 날짜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고객에게 노출 종료일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08043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목표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목표 설정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0729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프로모션에 대한 상세 설명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78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2171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FE1DB-44A2-761B-17A2-B77557C44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07007470-F239-C3F4-9382-6C970247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43" y="-447261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설정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프로모션 세부 사항 필드 요약표 </a:t>
            </a:r>
            <a:r>
              <a:rPr lang="en-US" altLang="ko-KR" dirty="0">
                <a:solidFill>
                  <a:srgbClr val="C9A9D0"/>
                </a:solidFill>
              </a:rPr>
              <a:t>2</a:t>
            </a:r>
            <a:endParaRPr lang="ko-KR" altLang="en-US" dirty="0">
              <a:solidFill>
                <a:srgbClr val="C9A9D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8DAAC5-F93C-F3DB-F692-5EA666113827}"/>
              </a:ext>
            </a:extLst>
          </p:cNvPr>
          <p:cNvSpPr txBox="1"/>
          <p:nvPr/>
        </p:nvSpPr>
        <p:spPr>
          <a:xfrm>
            <a:off x="563880" y="1259456"/>
            <a:ext cx="10972800" cy="373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▼  프로모션 상세 페이지 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세부 사항 탭 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&gt; '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프로모션 설정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섹션의 필드 목록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B39D077-AF78-8804-1846-5F9E213F1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292015"/>
              </p:ext>
            </p:extLst>
          </p:nvPr>
        </p:nvGraphicFramePr>
        <p:xfrm>
          <a:off x="655320" y="1633341"/>
          <a:ext cx="10881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310">
                  <a:extLst>
                    <a:ext uri="{9D8B030D-6E8A-4147-A177-3AD203B41FA5}">
                      <a16:colId xmlns:a16="http://schemas.microsoft.com/office/drawing/2014/main" val="2077108064"/>
                    </a:ext>
                  </a:extLst>
                </a:gridCol>
                <a:gridCol w="3975692">
                  <a:extLst>
                    <a:ext uri="{9D8B030D-6E8A-4147-A177-3AD203B41FA5}">
                      <a16:colId xmlns:a16="http://schemas.microsoft.com/office/drawing/2014/main" val="295416175"/>
                    </a:ext>
                  </a:extLst>
                </a:gridCol>
                <a:gridCol w="4439358">
                  <a:extLst>
                    <a:ext uri="{9D8B030D-6E8A-4147-A177-3AD203B41FA5}">
                      <a16:colId xmlns:a16="http://schemas.microsoft.com/office/drawing/2014/main" val="71556899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하위 항목명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8228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전체 쿠폰 사용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모든 쿠폰 사용 허용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체크 시 쿠폰 종류에 관계없이 사용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0914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정률 쿠폰 사용 가능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정률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(%)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할인 쿠폰 사용 허용 여부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할인율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58023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정액 쿠폰 사용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정액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할인 쿠폰 사용 허용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고정값</a:t>
                      </a:r>
                      <a:endParaRPr lang="ko-KR" altLang="en-US" sz="12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71935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특정 쿠폰 사용 가능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특정 쿠폰만 사용 허용 여부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체크 시 관련됨 탭의 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적용 가능 쿠폰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에 등록된 쿠폰만 사용 및 조회 가능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223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적용 가능 매장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적용 매장 그룹 조건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본사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백화점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직영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대리점 등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그룹 조건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
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※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관련됨 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적용 가능 매장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＇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과 연동 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개별 조건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37681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포인트 사용 가능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적용 시 포인트 결제 허용 여부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93386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전체 품목 적용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전체 품목에 대한 프로모션 적용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68372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대상 품목 적용 가능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특정 품목에게만 프로모션 적용 여부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체크 시 관련됨 탭의 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적용 가능 제품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에 등록된 제품만 적용 및 조회 가능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03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할인율 적용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추가 할인율 적용 허용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813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8635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F2AB-2DD3-6C54-03BE-EE134ECB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C3ECDFE9-EC10-6C91-97C5-B418E5D9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52" y="-437322"/>
            <a:ext cx="10400108" cy="1051500"/>
          </a:xfrm>
        </p:spPr>
        <p:txBody>
          <a:bodyPr/>
          <a:lstStyle/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설정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프로모션 매장 참고 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2DCAE-46BF-41B3-F5B8-582B1FA45DF6}"/>
              </a:ext>
            </a:extLst>
          </p:cNvPr>
          <p:cNvSpPr txBox="1"/>
          <p:nvPr/>
        </p:nvSpPr>
        <p:spPr>
          <a:xfrm>
            <a:off x="330252" y="1268234"/>
            <a:ext cx="10972800" cy="373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프로모션 요약의 세부 사항 필드와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관련됨 탭 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적용 가능 매장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과 세부 사항 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매장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구분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)/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매장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계열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)'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의 차이점을 정리한 표 입니다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 dirty="0">
              <a:solidFill>
                <a:srgbClr val="2B2B2B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5AEBEB6-C174-E4AB-3FA7-C4503452E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595009"/>
              </p:ext>
            </p:extLst>
          </p:nvPr>
        </p:nvGraphicFramePr>
        <p:xfrm>
          <a:off x="421692" y="2301353"/>
          <a:ext cx="112745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49475768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66381584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37375736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비교 항목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관련됨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적용 가능 매장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세부 사항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매장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) / 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매장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계열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84684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성격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개별 매장을 하나하나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매장 그룹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조건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으로 일괄 적용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53959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등록 방식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수동 추가 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/ CSV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일괄 업로드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필드에서 드롭다운 선택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29968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적용 범위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등록된 특정 매장에만 적용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해당 구분</a:t>
                      </a:r>
                      <a:r>
                        <a:rPr lang="en-US" altLang="ko-KR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계열에 속한 전체 매장에 적용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478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예시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PRO_STORE2026... (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특정 매장 코드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본사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백화점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직영</a:t>
                      </a:r>
                      <a:r>
                        <a:rPr lang="en-US" altLang="ko-KR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대리점 등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493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용도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소수 매장 한정 프로모션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전사 또는 그룹 단위 프로모션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748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90458EF-E4A5-A81C-790C-A0F2AE131C62}"/>
              </a:ext>
            </a:extLst>
          </p:cNvPr>
          <p:cNvSpPr txBox="1"/>
          <p:nvPr/>
        </p:nvSpPr>
        <p:spPr>
          <a:xfrm>
            <a:off x="330252" y="1921953"/>
            <a:ext cx="11274552" cy="33361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</a:rPr>
              <a:t>▼ </a:t>
            </a:r>
            <a:r>
              <a:rPr lang="ko-KR" altLang="en-US" sz="1200" dirty="0">
                <a:latin typeface="맑은 고딕" panose="020B0503020000020004" pitchFamily="50" charset="-127"/>
              </a:rPr>
              <a:t>관련됨 </a:t>
            </a:r>
            <a:r>
              <a:rPr lang="en-US" altLang="ko-KR" sz="1200" dirty="0">
                <a:latin typeface="맑은 고딕" panose="020B0503020000020004" pitchFamily="50" charset="-127"/>
              </a:rPr>
              <a:t>'</a:t>
            </a:r>
            <a:r>
              <a:rPr lang="ko-KR" altLang="en-US" sz="1200" dirty="0">
                <a:latin typeface="맑은 고딕" panose="020B0503020000020004" pitchFamily="50" charset="-127"/>
              </a:rPr>
              <a:t>적용 가능 매장</a:t>
            </a:r>
            <a:r>
              <a:rPr lang="en-US" altLang="ko-KR" sz="1200" dirty="0">
                <a:latin typeface="맑은 고딕" panose="020B0503020000020004" pitchFamily="50" charset="-127"/>
              </a:rPr>
              <a:t>' vs </a:t>
            </a:r>
            <a:r>
              <a:rPr lang="ko-KR" altLang="en-US" sz="1200" dirty="0">
                <a:latin typeface="맑은 고딕" panose="020B0503020000020004" pitchFamily="50" charset="-127"/>
              </a:rPr>
              <a:t>세부 사항 </a:t>
            </a:r>
            <a:r>
              <a:rPr lang="en-US" altLang="ko-KR" sz="1200" dirty="0">
                <a:latin typeface="맑은 고딕" panose="020B0503020000020004" pitchFamily="50" charset="-127"/>
              </a:rPr>
              <a:t>'</a:t>
            </a:r>
            <a:r>
              <a:rPr lang="ko-KR" altLang="en-US" sz="1200" dirty="0">
                <a:latin typeface="맑은 고딕" panose="020B0503020000020004" pitchFamily="50" charset="-127"/>
              </a:rPr>
              <a:t>매장</a:t>
            </a:r>
            <a:r>
              <a:rPr lang="en-US" altLang="ko-KR" sz="1200" dirty="0">
                <a:latin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 panose="020B0503020000020004" pitchFamily="50" charset="-127"/>
              </a:rPr>
              <a:t>구분</a:t>
            </a:r>
            <a:r>
              <a:rPr lang="en-US" altLang="ko-KR" sz="1200" dirty="0">
                <a:latin typeface="맑은 고딕" panose="020B0503020000020004" pitchFamily="50" charset="-127"/>
              </a:rPr>
              <a:t>)/</a:t>
            </a:r>
            <a:r>
              <a:rPr lang="ko-KR" altLang="en-US" sz="1200" dirty="0">
                <a:latin typeface="맑은 고딕" panose="020B0503020000020004" pitchFamily="50" charset="-127"/>
              </a:rPr>
              <a:t>매장</a:t>
            </a:r>
            <a:r>
              <a:rPr lang="en-US" altLang="ko-KR" sz="1200" dirty="0">
                <a:latin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 panose="020B0503020000020004" pitchFamily="50" charset="-127"/>
              </a:rPr>
              <a:t>계열</a:t>
            </a:r>
            <a:r>
              <a:rPr lang="en-US" altLang="ko-KR" sz="1200" dirty="0">
                <a:latin typeface="맑은 고딕" panose="020B0503020000020004" pitchFamily="50" charset="-127"/>
              </a:rPr>
              <a:t>)' </a:t>
            </a:r>
            <a:r>
              <a:rPr lang="ko-KR" altLang="en-US" sz="1200" dirty="0">
                <a:latin typeface="맑은 고딕" panose="020B0503020000020004" pitchFamily="50" charset="-127"/>
              </a:rPr>
              <a:t>차이점</a:t>
            </a:r>
          </a:p>
        </p:txBody>
      </p:sp>
    </p:spTree>
    <p:extLst>
      <p:ext uri="{BB962C8B-B14F-4D97-AF65-F5344CB8AC3E}">
        <p14:creationId xmlns:p14="http://schemas.microsoft.com/office/powerpoint/2010/main" val="38785325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F40AE-00A0-618F-9D98-92BB4EE28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>
            <a:extLst>
              <a:ext uri="{FF2B5EF4-FFF2-40B4-BE49-F238E27FC236}">
                <a16:creationId xmlns:a16="http://schemas.microsoft.com/office/drawing/2014/main" id="{3F88FEAC-97BB-DF77-C467-B4954B12C30F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설정 </a:t>
            </a:r>
            <a:r>
              <a:rPr lang="en-US" altLang="ko-KR" dirty="0">
                <a:solidFill>
                  <a:srgbClr val="C9A9D0"/>
                </a:solidFill>
              </a:rPr>
              <a:t>– </a:t>
            </a:r>
            <a:r>
              <a:rPr lang="ko-KR" altLang="en-US" dirty="0">
                <a:solidFill>
                  <a:srgbClr val="C9A9D0"/>
                </a:solidFill>
              </a:rPr>
              <a:t>쿠폰 요약 필드 요약표</a:t>
            </a: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076BDA80-D6B3-7140-A70F-D07D21609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642060"/>
              </p:ext>
            </p:extLst>
          </p:nvPr>
        </p:nvGraphicFramePr>
        <p:xfrm>
          <a:off x="1317247" y="851657"/>
          <a:ext cx="9557506" cy="586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3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284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구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필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드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설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208">
                <a:tc rowSpan="18"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쿠폰</a:t>
                      </a:r>
                      <a:r>
                        <a:rPr sz="1000" b="1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기본</a:t>
                      </a:r>
                      <a:r>
                        <a:rPr sz="1000" b="1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정보</a:t>
                      </a:r>
                      <a:endParaRPr sz="1000" b="1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쿠폰명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활성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 활성화 여부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할인 유형 (고정 값/정률)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할인율</a:t>
                      </a:r>
                      <a:endParaRPr sz="10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정률 할인 시 할인율(%) 설정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액면가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고정 값 할인 시 쿠폰 금액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 유형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 유형 (할인 등)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최종 수정 일자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최종 수정 일시 (자동 기록)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브랜드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코드</a:t>
                      </a:r>
                      <a:endParaRPr sz="10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 적용 브랜드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작성 일자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레코드 작성 일시 (자동 기록)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 카테고리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 카테고리 분류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 종류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쿠폰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종류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(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본사상품권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담당자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쿠폰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담당자</a:t>
                      </a:r>
                      <a:r>
                        <a:rPr lang="en-US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골든듀</a:t>
                      </a:r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지정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)</a:t>
                      </a:r>
                      <a:endParaRPr sz="10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업그레이드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멤버십 업그레이드 적용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담당 부서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쿠폰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관리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부서</a:t>
                      </a:r>
                      <a:r>
                        <a:rPr lang="en-US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rgbClr val="2B2B2B"/>
                          </a:solidFill>
                          <a:latin typeface="+mn-lt"/>
                        </a:rPr>
                        <a:t>골든듀</a:t>
                      </a:r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+mn-lt"/>
                        </a:rPr>
                        <a:t> 지정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+mn-lt"/>
                        </a:rPr>
                        <a:t>)</a:t>
                      </a:r>
                      <a:endParaRPr sz="10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무제한 사용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 무제한 사용 가능 여부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0431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회사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소속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회사</a:t>
                      </a:r>
                      <a:r>
                        <a:rPr lang="en-US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rgbClr val="2B2B2B"/>
                          </a:solidFill>
                          <a:latin typeface="+mn-lt"/>
                        </a:rPr>
                        <a:t>골든듀</a:t>
                      </a:r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+mn-lt"/>
                        </a:rPr>
                        <a:t> 지정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+mn-lt"/>
                        </a:rPr>
                        <a:t>)</a:t>
                      </a:r>
                      <a:endParaRPr sz="10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회원 프로그램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연결된 회원 프로그램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등록자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 등록자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208">
                <a:tc rowSpan="5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B2B2B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만료 유형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만료 유형 설정 (고정 날짜/기간)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만료 날짜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쿠폰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만료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날짜</a:t>
                      </a:r>
                      <a:r>
                        <a:rPr lang="en-US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고정 </a:t>
                      </a:r>
                      <a:r>
                        <a:rPr lang="ko-KR" altLang="en-US"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날짜시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필요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)</a:t>
                      </a:r>
                      <a:endParaRPr sz="1000" b="0" dirty="0">
                        <a:solidFill>
                          <a:srgbClr val="2B2B2B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유효 날짜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쿠폰 유효 시작 날짜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만료 기간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발급일 기준 만료 기간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920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만료 기간 단위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만료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기간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B2B2B"/>
                          </a:solidFill>
                          <a:latin typeface="맑은 고딕"/>
                        </a:rPr>
                        <a:t>단위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(일/월 등</a:t>
                      </a:r>
                      <a:r>
                        <a:rPr lang="en-US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기간 설정 시</a:t>
                      </a:r>
                      <a:r>
                        <a:rPr lang="en-US" altLang="ko-KR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필요</a:t>
                      </a:r>
                      <a:r>
                        <a:rPr sz="1000" b="0" dirty="0">
                          <a:solidFill>
                            <a:srgbClr val="2B2B2B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4810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A6CB4-F9D7-0F7C-247C-D9EA6B673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>
            <a:extLst>
              <a:ext uri="{FF2B5EF4-FFF2-40B4-BE49-F238E27FC236}">
                <a16:creationId xmlns:a16="http://schemas.microsoft.com/office/drawing/2014/main" id="{A5A861BB-581A-9EE5-6EAD-E05D863A45CA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보고서 유형</a:t>
            </a:r>
            <a:r>
              <a:rPr lang="en-US" altLang="ko-KR" dirty="0">
                <a:solidFill>
                  <a:srgbClr val="C9A9D0"/>
                </a:solidFill>
              </a:rPr>
              <a:t>(</a:t>
            </a:r>
            <a:r>
              <a:rPr lang="ko-KR" altLang="en-US" dirty="0">
                <a:solidFill>
                  <a:srgbClr val="C9A9D0"/>
                </a:solidFill>
              </a:rPr>
              <a:t>범주</a:t>
            </a:r>
            <a:r>
              <a:rPr lang="en-US" altLang="ko-KR" dirty="0">
                <a:solidFill>
                  <a:srgbClr val="C9A9D0"/>
                </a:solidFill>
              </a:rPr>
              <a:t>) </a:t>
            </a:r>
            <a:r>
              <a:rPr lang="ko-KR" altLang="en-US" dirty="0">
                <a:solidFill>
                  <a:srgbClr val="C9A9D0"/>
                </a:solidFill>
              </a:rPr>
              <a:t>요약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065AD2-06B2-C3A8-54BA-35DBAB9A8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71" y="1758591"/>
            <a:ext cx="7215036" cy="309822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26782A-B838-458A-9834-C1E2F0248E8B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계정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골든듀</a:t>
            </a:r>
            <a:r>
              <a:rPr lang="ko-KR" altLang="en-US" sz="1200" dirty="0"/>
              <a:t> 고객 정보를 볼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회원 상세 정보 및 계정 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골든듀</a:t>
            </a:r>
            <a:r>
              <a:rPr lang="ko-KR" altLang="en-US" sz="1200" dirty="0"/>
              <a:t> 고객 정보와 고객이 속한 계정 정보를 함께 볼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계정이 있는 회원 상세 정보 역할 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골든듀</a:t>
            </a:r>
            <a:r>
              <a:rPr lang="ko-KR" altLang="en-US" sz="1200" dirty="0"/>
              <a:t> 고객이 어떤 계정과 연결되어 있는지</a:t>
            </a:r>
            <a:r>
              <a:rPr lang="en-US" altLang="ko-KR" sz="1200" dirty="0"/>
              <a:t>, </a:t>
            </a:r>
            <a:r>
              <a:rPr lang="ko-KR" altLang="en-US" sz="1200" dirty="0"/>
              <a:t>어떤 역할인지 볼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회원 상세 정보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골든듀</a:t>
            </a:r>
            <a:r>
              <a:rPr lang="ko-KR" altLang="en-US" sz="1200" dirty="0"/>
              <a:t> 고객의 상세 정보와 연락처를 볼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계정 내역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골든듀</a:t>
            </a:r>
            <a:r>
              <a:rPr lang="ko-KR" altLang="en-US" sz="1200" dirty="0"/>
              <a:t> 고객 정보가 언제 어떻게 변경됐는지 볼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회원 상세 정보 내역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골든듀</a:t>
            </a:r>
            <a:r>
              <a:rPr lang="ko-KR" altLang="en-US" sz="1200" dirty="0"/>
              <a:t> 고객의 상세 정보가 언제 어떻게 변경됐는지 볼 수 있습니다</a:t>
            </a:r>
            <a:r>
              <a:rPr lang="en-US" altLang="ko-KR" sz="1200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1DDEE5-E22A-859F-0895-81246FDA427D}"/>
              </a:ext>
            </a:extLst>
          </p:cNvPr>
          <p:cNvSpPr txBox="1"/>
          <p:nvPr/>
        </p:nvSpPr>
        <p:spPr>
          <a:xfrm>
            <a:off x="522515" y="1339912"/>
            <a:ext cx="8201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▼ 주요 정보를 효율적으로 조회할 수 있도록 사전에 정의된 보고서 유형</a:t>
            </a:r>
            <a:r>
              <a:rPr lang="en-US" altLang="ko-KR" sz="1400" dirty="0"/>
              <a:t>(</a:t>
            </a:r>
            <a:r>
              <a:rPr lang="ko-KR" altLang="en-US" sz="1400" dirty="0"/>
              <a:t>범주</a:t>
            </a:r>
            <a:r>
              <a:rPr lang="en-US" altLang="ko-KR" sz="1400" dirty="0"/>
              <a:t>)</a:t>
            </a:r>
            <a:r>
              <a:rPr lang="ko-KR" altLang="en-US" sz="1400" dirty="0"/>
              <a:t>입니다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3E9CF4-DE56-3C12-1C60-2AADEBF136EB}"/>
              </a:ext>
            </a:extLst>
          </p:cNvPr>
          <p:cNvSpPr/>
          <p:nvPr/>
        </p:nvSpPr>
        <p:spPr>
          <a:xfrm>
            <a:off x="610171" y="2524546"/>
            <a:ext cx="1423902" cy="16267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EDA52A-E5B7-0681-98B3-E417FA9C07B2}"/>
              </a:ext>
            </a:extLst>
          </p:cNvPr>
          <p:cNvSpPr/>
          <p:nvPr/>
        </p:nvSpPr>
        <p:spPr>
          <a:xfrm>
            <a:off x="2034073" y="2715209"/>
            <a:ext cx="1352939" cy="162670"/>
          </a:xfrm>
          <a:prstGeom prst="rect">
            <a:avLst/>
          </a:prstGeom>
          <a:noFill/>
          <a:ln w="6350" cap="flat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9463D8-B203-46D6-22CA-65A94ACF29A6}"/>
              </a:ext>
            </a:extLst>
          </p:cNvPr>
          <p:cNvSpPr/>
          <p:nvPr/>
        </p:nvSpPr>
        <p:spPr>
          <a:xfrm>
            <a:off x="2034073" y="2701855"/>
            <a:ext cx="1423902" cy="162670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8BA00C-1055-E67B-77AF-604867E3313C}"/>
              </a:ext>
            </a:extLst>
          </p:cNvPr>
          <p:cNvSpPr/>
          <p:nvPr/>
        </p:nvSpPr>
        <p:spPr>
          <a:xfrm>
            <a:off x="2036897" y="2905872"/>
            <a:ext cx="1423902" cy="162670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6140BA-59E9-1A91-CF1A-9A04F6063CB1}"/>
              </a:ext>
            </a:extLst>
          </p:cNvPr>
          <p:cNvSpPr/>
          <p:nvPr/>
        </p:nvSpPr>
        <p:spPr>
          <a:xfrm>
            <a:off x="2030388" y="3500016"/>
            <a:ext cx="1423902" cy="162670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3017E3-9C93-89A4-F616-00B9385DDEC0}"/>
              </a:ext>
            </a:extLst>
          </p:cNvPr>
          <p:cNvSpPr/>
          <p:nvPr/>
        </p:nvSpPr>
        <p:spPr>
          <a:xfrm>
            <a:off x="2030388" y="4081146"/>
            <a:ext cx="1423902" cy="162670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896C51-7EFD-7018-37F2-20D4714C81F3}"/>
              </a:ext>
            </a:extLst>
          </p:cNvPr>
          <p:cNvSpPr/>
          <p:nvPr/>
        </p:nvSpPr>
        <p:spPr>
          <a:xfrm>
            <a:off x="2036897" y="4290257"/>
            <a:ext cx="1423902" cy="162670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84741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753F-1375-27D8-FCD5-A653414C3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>
            <a:extLst>
              <a:ext uri="{FF2B5EF4-FFF2-40B4-BE49-F238E27FC236}">
                <a16:creationId xmlns:a16="http://schemas.microsoft.com/office/drawing/2014/main" id="{646D017D-1D88-CD3E-10EC-5F7DFB3663E8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보고서 유형</a:t>
            </a:r>
            <a:r>
              <a:rPr lang="en-US" altLang="ko-KR" dirty="0">
                <a:solidFill>
                  <a:srgbClr val="C9A9D0"/>
                </a:solidFill>
              </a:rPr>
              <a:t>(</a:t>
            </a:r>
            <a:r>
              <a:rPr lang="ko-KR" altLang="en-US" dirty="0">
                <a:solidFill>
                  <a:srgbClr val="C9A9D0"/>
                </a:solidFill>
              </a:rPr>
              <a:t>범주</a:t>
            </a:r>
            <a:r>
              <a:rPr lang="en-US" altLang="ko-KR" dirty="0">
                <a:solidFill>
                  <a:srgbClr val="C9A9D0"/>
                </a:solidFill>
              </a:rPr>
              <a:t>) </a:t>
            </a:r>
            <a:r>
              <a:rPr lang="ko-KR" altLang="en-US" dirty="0">
                <a:solidFill>
                  <a:srgbClr val="C9A9D0"/>
                </a:solidFill>
              </a:rPr>
              <a:t>요약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631AF-E098-190B-7C2C-3957D6CFB71B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판매가 있는 계약 </a:t>
            </a:r>
            <a:r>
              <a:rPr lang="en-US" altLang="ko-KR" sz="1200" dirty="0"/>
              <a:t>:</a:t>
            </a:r>
            <a:r>
              <a:rPr lang="ko-KR" altLang="en-US" sz="1200" dirty="0"/>
              <a:t> 주문이나 판매가 발생한 계약만 볼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및 제품이 있는 계약 </a:t>
            </a:r>
            <a:r>
              <a:rPr lang="en-US" altLang="ko-KR" sz="1200" dirty="0"/>
              <a:t>:</a:t>
            </a:r>
            <a:r>
              <a:rPr lang="ko-KR" altLang="en-US" sz="1200" dirty="0"/>
              <a:t> 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판매와 함께 어떤 제품이 포함됐는지 같이 볼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</a:t>
            </a:r>
            <a:r>
              <a:rPr lang="en-US" altLang="ko-KR" sz="1200" dirty="0"/>
              <a:t>:</a:t>
            </a:r>
            <a:r>
              <a:rPr lang="ko-KR" altLang="en-US" sz="1200" dirty="0"/>
              <a:t> 주문과 판매 정보를 확인할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제품이 있는 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</a:t>
            </a:r>
            <a:r>
              <a:rPr lang="en-US" altLang="ko-KR" sz="1200" dirty="0"/>
              <a:t>:</a:t>
            </a:r>
            <a:r>
              <a:rPr lang="ko-KR" altLang="en-US" sz="1200" dirty="0"/>
              <a:t> 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판매에 포함된 제품 정보까지 같이 볼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판매 내역 </a:t>
            </a:r>
            <a:r>
              <a:rPr lang="en-US" altLang="ko-KR" sz="1200" dirty="0"/>
              <a:t>:</a:t>
            </a:r>
            <a:r>
              <a:rPr lang="ko-KR" altLang="en-US" sz="1200" dirty="0"/>
              <a:t> 주문과 판매 이력을 확인할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판매 현황 보고서 </a:t>
            </a:r>
            <a:r>
              <a:rPr lang="en-US" altLang="ko-KR" sz="1200" dirty="0"/>
              <a:t>: </a:t>
            </a:r>
            <a:r>
              <a:rPr lang="ko-KR" altLang="en-US" sz="1200" dirty="0"/>
              <a:t>사용자 정의 보고서 유형으로 판매에 관련된 보고서를 만들 수 있습니다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(* </a:t>
            </a:r>
            <a:r>
              <a:rPr lang="ko-KR" altLang="en-US" sz="1200" dirty="0"/>
              <a:t>범주의 사용자 정의는 사용자가 직접 만든 보고서 유형입니다</a:t>
            </a:r>
            <a:r>
              <a:rPr lang="en-US" altLang="ko-KR" sz="1200" dirty="0"/>
              <a:t>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D5416-2D69-D2A7-AC54-BA2651F58AC2}"/>
              </a:ext>
            </a:extLst>
          </p:cNvPr>
          <p:cNvSpPr txBox="1"/>
          <p:nvPr/>
        </p:nvSpPr>
        <p:spPr>
          <a:xfrm>
            <a:off x="522515" y="1339912"/>
            <a:ext cx="8201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▼ 주요 정보를 효율적으로 조회할 수 있도록 사전에 정의된 보고서 유형</a:t>
            </a:r>
            <a:r>
              <a:rPr lang="en-US" altLang="ko-KR" sz="1400" dirty="0"/>
              <a:t>(</a:t>
            </a:r>
            <a:r>
              <a:rPr lang="ko-KR" altLang="en-US" sz="1400" dirty="0"/>
              <a:t>범주</a:t>
            </a:r>
            <a:r>
              <a:rPr lang="en-US" altLang="ko-KR" sz="1400" dirty="0"/>
              <a:t>)</a:t>
            </a:r>
            <a:r>
              <a:rPr lang="ko-KR" altLang="en-US" sz="1400" dirty="0"/>
              <a:t>입니다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41FA184-19F3-E5EA-2B16-C17FB315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02" y="1751392"/>
            <a:ext cx="8120421" cy="3585718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24AFE7-4AAD-1522-742D-B2517C1E4699}"/>
              </a:ext>
            </a:extLst>
          </p:cNvPr>
          <p:cNvSpPr/>
          <p:nvPr/>
        </p:nvSpPr>
        <p:spPr>
          <a:xfrm>
            <a:off x="603701" y="3758212"/>
            <a:ext cx="1607653" cy="17930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CE5FAC-18EF-D0C1-42AD-63890DA64303}"/>
              </a:ext>
            </a:extLst>
          </p:cNvPr>
          <p:cNvSpPr/>
          <p:nvPr/>
        </p:nvSpPr>
        <p:spPr>
          <a:xfrm>
            <a:off x="2211353" y="4151286"/>
            <a:ext cx="1763487" cy="915235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6209603-DC92-A202-E835-42ADEA0C16D8}"/>
              </a:ext>
            </a:extLst>
          </p:cNvPr>
          <p:cNvSpPr/>
          <p:nvPr/>
        </p:nvSpPr>
        <p:spPr>
          <a:xfrm>
            <a:off x="2211354" y="3479901"/>
            <a:ext cx="1679512" cy="457618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47234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E7DBC-0E4C-9933-D7D8-00A4EA88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>
            <a:extLst>
              <a:ext uri="{FF2B5EF4-FFF2-40B4-BE49-F238E27FC236}">
                <a16:creationId xmlns:a16="http://schemas.microsoft.com/office/drawing/2014/main" id="{B281557A-D6A8-802B-7955-2E47E201378B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보고서 유형</a:t>
            </a:r>
            <a:r>
              <a:rPr lang="en-US" altLang="ko-KR" dirty="0">
                <a:solidFill>
                  <a:srgbClr val="C9A9D0"/>
                </a:solidFill>
              </a:rPr>
              <a:t>(</a:t>
            </a:r>
            <a:r>
              <a:rPr lang="ko-KR" altLang="en-US" dirty="0">
                <a:solidFill>
                  <a:srgbClr val="C9A9D0"/>
                </a:solidFill>
              </a:rPr>
              <a:t>범주</a:t>
            </a:r>
            <a:r>
              <a:rPr lang="en-US" altLang="ko-KR" dirty="0">
                <a:solidFill>
                  <a:srgbClr val="C9A9D0"/>
                </a:solidFill>
              </a:rPr>
              <a:t>) </a:t>
            </a:r>
            <a:r>
              <a:rPr lang="ko-KR" altLang="en-US" dirty="0">
                <a:solidFill>
                  <a:srgbClr val="C9A9D0"/>
                </a:solidFill>
              </a:rPr>
              <a:t>요약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6C689-E587-9C3B-C88A-4A1B3D63020F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제품 </a:t>
            </a:r>
            <a:r>
              <a:rPr lang="en-US" altLang="ko-KR" sz="1200" dirty="0"/>
              <a:t>:</a:t>
            </a:r>
            <a:r>
              <a:rPr lang="ko-KR" altLang="en-US" sz="1200" dirty="0"/>
              <a:t> 제품 정보를 확인할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가격 목록</a:t>
            </a:r>
            <a:r>
              <a:rPr lang="en-US" altLang="ko-KR" sz="1200" dirty="0"/>
              <a:t>(</a:t>
            </a:r>
            <a:r>
              <a:rPr lang="ko-KR" altLang="en-US" sz="1200" dirty="0"/>
              <a:t>제품 포함</a:t>
            </a:r>
            <a:r>
              <a:rPr lang="en-US" altLang="ko-KR" sz="1200" dirty="0"/>
              <a:t>) : </a:t>
            </a:r>
            <a:r>
              <a:rPr lang="ko-KR" altLang="en-US" sz="1200" dirty="0"/>
              <a:t>제품의 가격 정보를 확인할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/>
              <a:t>제품</a:t>
            </a:r>
            <a:r>
              <a:rPr lang="en-US" altLang="ko-KR" sz="1200" dirty="0"/>
              <a:t>(</a:t>
            </a:r>
            <a:r>
              <a:rPr lang="ko-KR" altLang="en-US" sz="1200" dirty="0"/>
              <a:t>자산 포함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제품과 관련된 자산 정보를 함께 볼 수 있습니다</a:t>
            </a:r>
            <a:r>
              <a:rPr lang="en-US" altLang="ko-KR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CF6673-9289-9B3D-EFF7-49392FB63E83}"/>
              </a:ext>
            </a:extLst>
          </p:cNvPr>
          <p:cNvSpPr txBox="1"/>
          <p:nvPr/>
        </p:nvSpPr>
        <p:spPr>
          <a:xfrm>
            <a:off x="522515" y="1339912"/>
            <a:ext cx="8201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▼ 주요 정보를 효율적으로 조회할 수 있도록 사전에 정의된 보고서 유형</a:t>
            </a:r>
            <a:r>
              <a:rPr lang="en-US" altLang="ko-KR" sz="1400" dirty="0"/>
              <a:t>(</a:t>
            </a:r>
            <a:r>
              <a:rPr lang="ko-KR" altLang="en-US" sz="1400" dirty="0"/>
              <a:t>범주</a:t>
            </a:r>
            <a:r>
              <a:rPr lang="en-US" altLang="ko-KR" sz="1400" dirty="0"/>
              <a:t>)</a:t>
            </a:r>
            <a:r>
              <a:rPr lang="ko-KR" altLang="en-US" sz="1400" dirty="0"/>
              <a:t>입니다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BF00C1-995A-DB2F-37FA-333234239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5" y="1769802"/>
            <a:ext cx="7613780" cy="3318395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07558E2-1E09-19AF-7646-095AC2F117DB}"/>
              </a:ext>
            </a:extLst>
          </p:cNvPr>
          <p:cNvSpPr/>
          <p:nvPr/>
        </p:nvSpPr>
        <p:spPr>
          <a:xfrm>
            <a:off x="522516" y="3828192"/>
            <a:ext cx="1502228" cy="15597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A0EC8E-51B8-0E95-2B9D-456C560C9BA6}"/>
              </a:ext>
            </a:extLst>
          </p:cNvPr>
          <p:cNvSpPr/>
          <p:nvPr/>
        </p:nvSpPr>
        <p:spPr>
          <a:xfrm>
            <a:off x="2034075" y="2782337"/>
            <a:ext cx="2248676" cy="194128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F4F6D7-78B2-9350-71FA-A5D37EED238C}"/>
              </a:ext>
            </a:extLst>
          </p:cNvPr>
          <p:cNvSpPr/>
          <p:nvPr/>
        </p:nvSpPr>
        <p:spPr>
          <a:xfrm>
            <a:off x="2034075" y="3191885"/>
            <a:ext cx="2248676" cy="419061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79746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5C15-6C9C-C56D-8938-3E917E5F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5">
            <a:extLst>
              <a:ext uri="{FF2B5EF4-FFF2-40B4-BE49-F238E27FC236}">
                <a16:creationId xmlns:a16="http://schemas.microsoft.com/office/drawing/2014/main" id="{0CDECC43-7396-3795-A1F1-DC93D3372597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판매 현황 보고서 생성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5BB9DAF-3BAC-BDFE-7823-1822FF901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51" y="1692290"/>
            <a:ext cx="5778662" cy="1965347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842341-F9A5-C43C-806E-D237B6BACC29}"/>
              </a:ext>
            </a:extLst>
          </p:cNvPr>
          <p:cNvSpPr txBox="1"/>
          <p:nvPr/>
        </p:nvSpPr>
        <p:spPr>
          <a:xfrm>
            <a:off x="9097119" y="821093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보고서 탭에서 새 보고서 클릭 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 보고서 만들기 화면에서 좌측 범주 중 계약 및 주문</a:t>
            </a:r>
            <a:r>
              <a:rPr lang="en-US" altLang="ko-KR" sz="1200" dirty="0">
                <a:ea typeface="나눔스퀘어" panose="020B0600000101010101"/>
              </a:rPr>
              <a:t>/</a:t>
            </a:r>
            <a:r>
              <a:rPr lang="ko-KR" altLang="en-US" sz="1200" dirty="0">
                <a:ea typeface="나눔스퀘어" panose="020B0600000101010101"/>
              </a:rPr>
              <a:t>판매 선택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 사용자 정의에 맞게 판매 관련 표준 보고서 유형 선택</a:t>
            </a:r>
            <a:br>
              <a:rPr lang="en-US" altLang="ko-KR" sz="1200" dirty="0">
                <a:ea typeface="나눔스퀘어" panose="020B0600000101010101"/>
              </a:rPr>
            </a:br>
            <a:r>
              <a:rPr lang="en-US" altLang="ko-KR" sz="1200" dirty="0">
                <a:ea typeface="나눔스퀘어" panose="020B0600000101010101"/>
              </a:rPr>
              <a:t>- </a:t>
            </a:r>
            <a:r>
              <a:rPr lang="ko-KR" altLang="en-US" sz="1200" dirty="0">
                <a:ea typeface="나눔스퀘어" panose="020B0600000101010101"/>
              </a:rPr>
              <a:t>주문</a:t>
            </a:r>
            <a:r>
              <a:rPr lang="en-US" altLang="ko-KR" sz="1200" dirty="0">
                <a:ea typeface="나눔스퀘어" panose="020B0600000101010101"/>
              </a:rPr>
              <a:t>/</a:t>
            </a:r>
            <a:r>
              <a:rPr lang="ko-KR" altLang="en-US" sz="1200" dirty="0">
                <a:ea typeface="나눔스퀘어" panose="020B0600000101010101"/>
              </a:rPr>
              <a:t>판매 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주문 및 판매 건의 기본 정보</a:t>
            </a:r>
            <a:r>
              <a:rPr lang="en-US" altLang="ko-KR" sz="1200" dirty="0">
                <a:ea typeface="나눔스퀘어" panose="020B0600000101010101"/>
              </a:rPr>
              <a:t>(</a:t>
            </a:r>
            <a:r>
              <a:rPr lang="ko-KR" altLang="en-US" sz="1200" dirty="0">
                <a:ea typeface="나눔스퀘어" panose="020B0600000101010101"/>
              </a:rPr>
              <a:t>주문번호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판매번호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상태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금액 등</a:t>
            </a:r>
            <a:r>
              <a:rPr lang="en-US" altLang="ko-KR" sz="1200" dirty="0">
                <a:ea typeface="나눔스퀘어" panose="020B0600000101010101"/>
              </a:rPr>
              <a:t>)</a:t>
            </a:r>
            <a:r>
              <a:rPr lang="ko-KR" altLang="en-US" sz="1200" dirty="0">
                <a:ea typeface="나눔스퀘어" panose="020B0600000101010101"/>
              </a:rPr>
              <a:t>를 조회</a:t>
            </a:r>
            <a:br>
              <a:rPr lang="en-US" altLang="ko-KR" sz="1200" dirty="0">
                <a:ea typeface="나눔스퀘어" panose="020B0600000101010101"/>
              </a:rPr>
            </a:br>
            <a:r>
              <a:rPr lang="en-US" altLang="ko-KR" sz="1200" dirty="0">
                <a:ea typeface="나눔스퀘어" panose="020B0600000101010101"/>
              </a:rPr>
              <a:t>- </a:t>
            </a:r>
            <a:r>
              <a:rPr lang="ko-KR" altLang="en-US" sz="1200" dirty="0">
                <a:ea typeface="나눔스퀘어" panose="020B0600000101010101"/>
              </a:rPr>
              <a:t>제품이 있는 주문</a:t>
            </a:r>
            <a:r>
              <a:rPr lang="en-US" altLang="ko-KR" sz="1200" dirty="0">
                <a:ea typeface="나눔스퀘어" panose="020B0600000101010101"/>
              </a:rPr>
              <a:t>/</a:t>
            </a:r>
            <a:r>
              <a:rPr lang="ko-KR" altLang="en-US" sz="1200" dirty="0">
                <a:ea typeface="나눔스퀘어" panose="020B0600000101010101"/>
              </a:rPr>
              <a:t>판매 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주문</a:t>
            </a:r>
            <a:r>
              <a:rPr lang="en-US" altLang="ko-KR" sz="1200" dirty="0">
                <a:ea typeface="나눔스퀘어" panose="020B0600000101010101"/>
              </a:rPr>
              <a:t>/</a:t>
            </a:r>
            <a:r>
              <a:rPr lang="ko-KR" altLang="en-US" sz="1200" dirty="0">
                <a:ea typeface="나눔스퀘어" panose="020B0600000101010101"/>
              </a:rPr>
              <a:t>판매에 포함된 제품</a:t>
            </a:r>
            <a:r>
              <a:rPr lang="en-US" altLang="ko-KR" sz="1200" dirty="0">
                <a:ea typeface="나눔스퀘어" panose="020B0600000101010101"/>
              </a:rPr>
              <a:t>(</a:t>
            </a:r>
            <a:r>
              <a:rPr lang="ko-KR" altLang="en-US" sz="1200" dirty="0">
                <a:ea typeface="나눔스퀘어" panose="020B0600000101010101"/>
              </a:rPr>
              <a:t>상품</a:t>
            </a:r>
            <a:r>
              <a:rPr lang="en-US" altLang="ko-KR" sz="1200" dirty="0">
                <a:ea typeface="나눔스퀘어" panose="020B0600000101010101"/>
              </a:rPr>
              <a:t>) </a:t>
            </a:r>
            <a:r>
              <a:rPr lang="ko-KR" altLang="en-US" sz="1200" dirty="0">
                <a:ea typeface="나눔스퀘어" panose="020B0600000101010101"/>
              </a:rPr>
              <a:t>단위의 상세 정보를 함께 조회</a:t>
            </a:r>
            <a:br>
              <a:rPr lang="en-US" altLang="ko-KR" sz="1200" dirty="0">
                <a:ea typeface="나눔스퀘어" panose="020B0600000101010101"/>
              </a:rPr>
            </a:br>
            <a:r>
              <a:rPr lang="en-US" altLang="ko-KR" sz="1200" dirty="0">
                <a:ea typeface="나눔스퀘어" panose="020B0600000101010101"/>
              </a:rPr>
              <a:t>- </a:t>
            </a:r>
            <a:r>
              <a:rPr lang="ko-KR" altLang="en-US" sz="1200" dirty="0">
                <a:ea typeface="나눔스퀘어" panose="020B0600000101010101"/>
              </a:rPr>
              <a:t>주문</a:t>
            </a:r>
            <a:r>
              <a:rPr lang="en-US" altLang="ko-KR" sz="1200" dirty="0">
                <a:ea typeface="나눔스퀘어" panose="020B0600000101010101"/>
              </a:rPr>
              <a:t>/</a:t>
            </a:r>
            <a:r>
              <a:rPr lang="ko-KR" altLang="en-US" sz="1200" dirty="0">
                <a:ea typeface="나눔스퀘어" panose="020B0600000101010101"/>
              </a:rPr>
              <a:t>판매 내역 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주문</a:t>
            </a:r>
            <a:r>
              <a:rPr lang="en-US" altLang="ko-KR" sz="1200" dirty="0">
                <a:ea typeface="나눔스퀘어" panose="020B0600000101010101"/>
              </a:rPr>
              <a:t>/</a:t>
            </a:r>
            <a:r>
              <a:rPr lang="ko-KR" altLang="en-US" sz="1200" dirty="0">
                <a:ea typeface="나눔스퀘어" panose="020B0600000101010101"/>
              </a:rPr>
              <a:t>판매의 변경 이력 및 처리 내역을 조회</a:t>
            </a:r>
            <a:endParaRPr lang="en-US" altLang="ko-KR" sz="1200" dirty="0">
              <a:ea typeface="나눔스퀘어" panose="020B0600000101010101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커스텀 생성은 </a:t>
            </a:r>
            <a:r>
              <a:rPr lang="en-US" altLang="ko-KR" sz="1200" dirty="0"/>
              <a:t>4. </a:t>
            </a:r>
            <a:r>
              <a:rPr lang="ko-KR" altLang="en-US" sz="1200" dirty="0"/>
              <a:t>보고서 슬라이드 참고하시길 바랍니다</a:t>
            </a:r>
            <a:r>
              <a:rPr lang="en-US" altLang="ko-KR" sz="1200" dirty="0"/>
              <a:t>.</a:t>
            </a:r>
            <a:endParaRPr lang="en-US" altLang="ko-KR" sz="1200" dirty="0">
              <a:ea typeface="나눔스퀘어" panose="020B0600000101010101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766B9D-7F54-0CAE-0215-F3A8C621E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105" y="2594682"/>
            <a:ext cx="6631682" cy="353591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A9F3442-2DF5-BCD9-4C00-05D5F0D312A6}"/>
              </a:ext>
            </a:extLst>
          </p:cNvPr>
          <p:cNvSpPr/>
          <p:nvPr/>
        </p:nvSpPr>
        <p:spPr>
          <a:xfrm>
            <a:off x="3612760" y="1828460"/>
            <a:ext cx="368300" cy="1277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276E0B-B8AE-01E4-4F8E-DBCFF9C4D1B5}"/>
              </a:ext>
            </a:extLst>
          </p:cNvPr>
          <p:cNvSpPr/>
          <p:nvPr/>
        </p:nvSpPr>
        <p:spPr>
          <a:xfrm>
            <a:off x="5532373" y="2067447"/>
            <a:ext cx="368300" cy="1277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84693F-67B7-5342-19EE-82C83D9640B3}"/>
              </a:ext>
            </a:extLst>
          </p:cNvPr>
          <p:cNvSpPr/>
          <p:nvPr/>
        </p:nvSpPr>
        <p:spPr>
          <a:xfrm>
            <a:off x="1854105" y="2594682"/>
            <a:ext cx="6631682" cy="353591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A1F290F-4700-4CC3-C3E3-DB237A8CE119}"/>
              </a:ext>
            </a:extLst>
          </p:cNvPr>
          <p:cNvCxnSpPr>
            <a:cxnSpLocks/>
          </p:cNvCxnSpPr>
          <p:nvPr/>
        </p:nvCxnSpPr>
        <p:spPr>
          <a:xfrm flipH="1">
            <a:off x="5169946" y="2213446"/>
            <a:ext cx="546577" cy="356917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467270-EF0D-2B4A-0A9B-C407E40DADEC}"/>
              </a:ext>
            </a:extLst>
          </p:cNvPr>
          <p:cNvSpPr/>
          <p:nvPr/>
        </p:nvSpPr>
        <p:spPr>
          <a:xfrm>
            <a:off x="1854105" y="4234882"/>
            <a:ext cx="1329060" cy="15581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6ADD58-C163-BB81-248D-9DF7D9B926B8}"/>
              </a:ext>
            </a:extLst>
          </p:cNvPr>
          <p:cNvSpPr/>
          <p:nvPr/>
        </p:nvSpPr>
        <p:spPr>
          <a:xfrm>
            <a:off x="3183165" y="4587212"/>
            <a:ext cx="5302622" cy="52738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3CA38A-F472-1665-B68A-ADE190922BA7}"/>
              </a:ext>
            </a:extLst>
          </p:cNvPr>
          <p:cNvSpPr txBox="1"/>
          <p:nvPr/>
        </p:nvSpPr>
        <p:spPr>
          <a:xfrm>
            <a:off x="457201" y="1143970"/>
            <a:ext cx="8201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-apple-system"/>
              </a:rPr>
              <a:t>Salesforce </a:t>
            </a:r>
            <a:r>
              <a:rPr lang="ko-KR" altLang="en-US" sz="1400" b="0" i="0" dirty="0">
                <a:effectLst/>
                <a:latin typeface="-apple-system"/>
              </a:rPr>
              <a:t>표준 보고서 기능을 활용하여 판매 현황 보고서를 생성할 수 있습니다</a:t>
            </a:r>
            <a:r>
              <a:rPr lang="en-US" altLang="ko-KR" sz="1400" b="0" i="0" dirty="0">
                <a:effectLst/>
                <a:latin typeface="-apple-system"/>
              </a:rPr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049597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5">
            <a:extLst>
              <a:ext uri="{FF2B5EF4-FFF2-40B4-BE49-F238E27FC236}">
                <a16:creationId xmlns:a16="http://schemas.microsoft.com/office/drawing/2014/main" id="{D5B99C10-295C-5440-22E6-8302411B7FF6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판매 현황 보고서 생성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E9AA874-64E7-202D-10A3-BC9887331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096690"/>
            <a:ext cx="7353300" cy="329590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EF4262-22A4-152B-924F-A3AB22AABA0E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dirty="0">
                <a:ea typeface="나눔스퀘어" panose="020B0600000101010101"/>
              </a:rPr>
              <a:t> </a:t>
            </a:r>
            <a:r>
              <a:rPr lang="ko-KR" altLang="en-US" sz="1200" dirty="0">
                <a:ea typeface="나눔스퀘어" panose="020B0600000101010101"/>
              </a:rPr>
              <a:t>보고서 시작 클릭 후 열 추가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필터 설정 등 원하는 형태로 구성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저장 및 실행 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우측 상단 저장 및 실행 클릭 후 보고서 이름과 저장할 폴더를 지정하여 저장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닫기 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우측 상단 닫기 클릭 시 보고서 편집 화면을 종료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ko-KR" altLang="en-US" sz="1200" dirty="0">
              <a:ea typeface="나눔스퀘어" panose="020B0600000101010101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629F186-8D03-02D3-25D3-78E1BD939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046" y="3886658"/>
            <a:ext cx="6161249" cy="1900991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9FCB68-F560-69CD-7229-C7FE78E61F63}"/>
              </a:ext>
            </a:extLst>
          </p:cNvPr>
          <p:cNvSpPr/>
          <p:nvPr/>
        </p:nvSpPr>
        <p:spPr>
          <a:xfrm>
            <a:off x="466725" y="2035668"/>
            <a:ext cx="1089025" cy="96153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D8F564-1592-FA2F-D0AD-9373D69A1131}"/>
              </a:ext>
            </a:extLst>
          </p:cNvPr>
          <p:cNvSpPr/>
          <p:nvPr/>
        </p:nvSpPr>
        <p:spPr>
          <a:xfrm>
            <a:off x="6483350" y="1096690"/>
            <a:ext cx="760413" cy="2431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FAC73DB-17EC-50CF-9CC2-A3D75DED1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592" y="1994704"/>
            <a:ext cx="3460866" cy="127505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0EA034-3A45-5294-B839-5D12E42C222A}"/>
              </a:ext>
            </a:extLst>
          </p:cNvPr>
          <p:cNvSpPr/>
          <p:nvPr/>
        </p:nvSpPr>
        <p:spPr>
          <a:xfrm>
            <a:off x="7274669" y="1096690"/>
            <a:ext cx="221506" cy="2431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44A81C5-0BC2-DEA3-94B3-462EE2BF3D5C}"/>
              </a:ext>
            </a:extLst>
          </p:cNvPr>
          <p:cNvCxnSpPr/>
          <p:nvPr/>
        </p:nvCxnSpPr>
        <p:spPr>
          <a:xfrm flipH="1">
            <a:off x="5661660" y="1339849"/>
            <a:ext cx="1158240" cy="654855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74194F3-7CE8-1884-FBA9-51585CDAA4C0}"/>
              </a:ext>
            </a:extLst>
          </p:cNvPr>
          <p:cNvCxnSpPr>
            <a:cxnSpLocks/>
          </p:cNvCxnSpPr>
          <p:nvPr/>
        </p:nvCxnSpPr>
        <p:spPr>
          <a:xfrm>
            <a:off x="7449458" y="1339849"/>
            <a:ext cx="294241" cy="2546809"/>
          </a:xfrm>
          <a:prstGeom prst="straightConnector1">
            <a:avLst/>
          </a:prstGeom>
          <a:ln w="63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7345271-6565-EB5F-3D46-752B198796C7}"/>
              </a:ext>
            </a:extLst>
          </p:cNvPr>
          <p:cNvSpPr/>
          <p:nvPr/>
        </p:nvSpPr>
        <p:spPr>
          <a:xfrm>
            <a:off x="3988592" y="1994704"/>
            <a:ext cx="3460866" cy="127505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F4FAFD-1CA4-2CA9-616A-9F9BC70A5B5B}"/>
              </a:ext>
            </a:extLst>
          </p:cNvPr>
          <p:cNvSpPr/>
          <p:nvPr/>
        </p:nvSpPr>
        <p:spPr>
          <a:xfrm>
            <a:off x="2676046" y="3875621"/>
            <a:ext cx="6161249" cy="1912028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45145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EDD24-2DBD-8591-257C-1FDF49ACC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5">
            <a:extLst>
              <a:ext uri="{FF2B5EF4-FFF2-40B4-BE49-F238E27FC236}">
                <a16:creationId xmlns:a16="http://schemas.microsoft.com/office/drawing/2014/main" id="{C0136E37-F9AF-3214-6AA5-DC9BFE5196CC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쿠폰 현황 보고서 생성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808CA6-0546-CD9D-30CF-2ABE11446B06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dirty="0">
                <a:ea typeface="나눔스퀘어" panose="020B0600000101010101"/>
              </a:rPr>
              <a:t> </a:t>
            </a:r>
            <a:r>
              <a:rPr lang="ko-KR" altLang="en-US" sz="1200" dirty="0">
                <a:ea typeface="나눔스퀘어" panose="020B0600000101010101"/>
              </a:rPr>
              <a:t>보고서 시작 클릭 후 열 추가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필터 설정 등 원하는 형태로 구성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저장 및 실행 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우측 상단 저장 및 실행 클릭 후 보고서 이름과 저장할 폴더를 지정하여 저장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닫기 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우측 상단 닫기 클릭 시 보고서 편집 화면을 종료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ko-KR" altLang="en-US" sz="1200" dirty="0">
              <a:ea typeface="나눔스퀘어" panose="020B060000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36180690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FEEFE-6E13-162F-0E67-444F8678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5">
            <a:extLst>
              <a:ext uri="{FF2B5EF4-FFF2-40B4-BE49-F238E27FC236}">
                <a16:creationId xmlns:a16="http://schemas.microsoft.com/office/drawing/2014/main" id="{8D8BB62E-63B1-2F83-0CD1-093B47F53B8C}"/>
              </a:ext>
            </a:extLst>
          </p:cNvPr>
          <p:cNvSpPr txBox="1">
            <a:spLocks/>
          </p:cNvSpPr>
          <p:nvPr/>
        </p:nvSpPr>
        <p:spPr>
          <a:xfrm>
            <a:off x="330252" y="-437322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 kern="12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j-cs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포인트 현황 보고서 생성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D676B-0BBB-050D-409F-F3B4256B8AB9}"/>
              </a:ext>
            </a:extLst>
          </p:cNvPr>
          <p:cNvSpPr txBox="1"/>
          <p:nvPr/>
        </p:nvSpPr>
        <p:spPr>
          <a:xfrm>
            <a:off x="9097119" y="821095"/>
            <a:ext cx="3094881" cy="603690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200" dirty="0">
                <a:ea typeface="나눔스퀘어" panose="020B0600000101010101"/>
              </a:rPr>
              <a:t> </a:t>
            </a:r>
            <a:r>
              <a:rPr lang="ko-KR" altLang="en-US" sz="1200" dirty="0">
                <a:ea typeface="나눔스퀘어" panose="020B0600000101010101"/>
              </a:rPr>
              <a:t>보고서 시작 클릭 후 열 추가</a:t>
            </a:r>
            <a:r>
              <a:rPr lang="en-US" altLang="ko-KR" sz="1200" dirty="0">
                <a:ea typeface="나눔스퀘어" panose="020B0600000101010101"/>
              </a:rPr>
              <a:t>, </a:t>
            </a:r>
            <a:r>
              <a:rPr lang="ko-KR" altLang="en-US" sz="1200" dirty="0">
                <a:ea typeface="나눔스퀘어" panose="020B0600000101010101"/>
              </a:rPr>
              <a:t>필터 설정 등 원하는 형태로 구성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저장 및 실행 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우측 상단 저장 및 실행 클릭 후 보고서 이름과 저장할 폴더를 지정하여 저장</a:t>
            </a:r>
            <a:endParaRPr lang="en-US" altLang="ko-KR" sz="1200" dirty="0">
              <a:ea typeface="나눔스퀘어" panose="020B0600000101010101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ea typeface="나눔스퀘어" panose="020B0600000101010101"/>
              </a:rPr>
              <a:t>닫기 </a:t>
            </a:r>
            <a:r>
              <a:rPr lang="en-US" altLang="ko-KR" sz="1200" dirty="0">
                <a:ea typeface="나눔스퀘어" panose="020B0600000101010101"/>
              </a:rPr>
              <a:t>: </a:t>
            </a:r>
            <a:r>
              <a:rPr lang="ko-KR" altLang="en-US" sz="1200" dirty="0">
                <a:ea typeface="나눔스퀘어" panose="020B0600000101010101"/>
              </a:rPr>
              <a:t>우측 상단 닫기 클릭 시 보고서 편집 화면을 종료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endParaRPr lang="ko-KR" altLang="en-US" sz="1200" dirty="0">
              <a:ea typeface="나눔스퀘어" panose="020B060000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35443586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F2AB-2DD3-6C54-03BE-EE134ECB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5">
            <a:extLst>
              <a:ext uri="{FF2B5EF4-FFF2-40B4-BE49-F238E27FC236}">
                <a16:creationId xmlns:a16="http://schemas.microsoft.com/office/drawing/2014/main" id="{C3ECDFE9-EC10-6C91-97C5-B418E5D9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52" y="-437322"/>
            <a:ext cx="10400108" cy="1051500"/>
          </a:xfrm>
        </p:spPr>
        <p:txBody>
          <a:bodyPr/>
          <a:lstStyle/>
          <a:p>
            <a:r>
              <a:rPr lang="ko-KR" altLang="en-US" dirty="0">
                <a:solidFill>
                  <a:srgbClr val="C9A9D0"/>
                </a:solidFill>
              </a:rPr>
              <a:t> </a:t>
            </a:r>
            <a:r>
              <a:rPr lang="en-US" altLang="ko-KR" dirty="0">
                <a:solidFill>
                  <a:srgbClr val="C9A9D0"/>
                </a:solidFill>
              </a:rPr>
              <a:t>5. [</a:t>
            </a:r>
            <a:r>
              <a:rPr lang="ko-KR" altLang="en-US" dirty="0">
                <a:solidFill>
                  <a:srgbClr val="C9A9D0"/>
                </a:solidFill>
              </a:rPr>
              <a:t>별첨</a:t>
            </a:r>
            <a:r>
              <a:rPr lang="en-US" altLang="ko-KR" dirty="0">
                <a:solidFill>
                  <a:srgbClr val="C9A9D0"/>
                </a:solidFill>
              </a:rPr>
              <a:t>] : </a:t>
            </a:r>
            <a:r>
              <a:rPr lang="ko-KR" altLang="en-US" dirty="0">
                <a:solidFill>
                  <a:srgbClr val="C9A9D0"/>
                </a:solidFill>
              </a:rPr>
              <a:t>엑셀 업로드 파일 헤더 항목 요약표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9AFBD1-9387-6B8B-F35C-C0046A8CA98E}"/>
              </a:ext>
            </a:extLst>
          </p:cNvPr>
          <p:cNvSpPr txBox="1"/>
          <p:nvPr/>
        </p:nvSpPr>
        <p:spPr>
          <a:xfrm>
            <a:off x="365760" y="960120"/>
            <a:ext cx="10972800" cy="373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CSV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파일 업로드 시 각 기능별로 설정해야 하는 헤더 항목을 아래의 표를 참고해주세요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업로드 전 반드시 확인해 주시기 바랍니다</a:t>
            </a:r>
            <a:r>
              <a:rPr lang="en-US" altLang="ko-KR" sz="1400" dirty="0">
                <a:solidFill>
                  <a:srgbClr val="2B2B2B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 dirty="0">
              <a:solidFill>
                <a:srgbClr val="2B2B2B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9850E1D-E183-377A-D118-B96220976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741929"/>
              </p:ext>
            </p:extLst>
          </p:nvPr>
        </p:nvGraphicFramePr>
        <p:xfrm>
          <a:off x="457200" y="1600200"/>
          <a:ext cx="11274552" cy="3914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403292027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362935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6004276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198817458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88039036"/>
                    </a:ext>
                  </a:extLst>
                </a:gridCol>
              </a:tblGrid>
              <a:tr h="545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기능 설명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헤더 항목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파일 형식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solidFill>
                      <a:srgbClr val="C9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579890"/>
                  </a:ext>
                </a:extLst>
              </a:tr>
              <a:tr h="545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제품 일괄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적용 가능 제품 일괄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ProductCode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CSV (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쉼표 분리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천건 권장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567215"/>
                  </a:ext>
                </a:extLst>
              </a:tr>
              <a:tr h="545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매장 일괄 등록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프로모션 적용 가능 매장 일괄 등록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StoreCode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CSV (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쉼표 분리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천건 권장</a:t>
                      </a:r>
                    </a:p>
                    <a:p>
                      <a:pPr algn="ctr" latinLnBrk="1"/>
                      <a:endParaRPr lang="ko-KR" altLang="en-US" sz="11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5568"/>
                  </a:ext>
                </a:extLst>
              </a:tr>
              <a:tr h="64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포인트 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그룹 지급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다수 회원 대상 포인트 일괄 지급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NO_MBR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CSV (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쉼표 분리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dirty="0" err="1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만건</a:t>
                      </a: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 권장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</a:t>
                      </a:r>
                      <a:b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만료 일자는 자동으로 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년으로 설정되며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수동은 직접 설정 필수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276294"/>
                  </a:ext>
                </a:extLst>
              </a:tr>
              <a:tr h="545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그룹 지급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다수 회원 대상 쿠폰 일괄 지급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NO_MBR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CSV (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쉼표 분리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만건 권장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988915"/>
                  </a:ext>
                </a:extLst>
              </a:tr>
              <a:tr h="545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쿠폰 한도 정책 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제품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쿠폰 적용 제품 일괄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ProductCode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CSV (</a:t>
                      </a:r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쉼표 분리</a:t>
                      </a:r>
                      <a:r>
                        <a:rPr lang="en-US" altLang="ko-KR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천건 권장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68133"/>
                  </a:ext>
                </a:extLst>
              </a:tr>
              <a:tr h="545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쿠폰 한도 정책 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매장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쿠폰 적용 매장 일괄 등록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StoreCode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CSV (</a:t>
                      </a: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쉼표 분리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 b="0" dirty="0">
                        <a:solidFill>
                          <a:srgbClr val="2B2B2B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0" dirty="0">
                          <a:solidFill>
                            <a:srgbClr val="2B2B2B"/>
                          </a:solidFill>
                          <a:latin typeface="맑은 고딕" panose="020B0503020000020004" pitchFamily="50" charset="-127"/>
                        </a:rPr>
                        <a:t>천건 권장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6031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A0A5D4-3A8D-B69D-7F22-702B1E8C3CF5}"/>
              </a:ext>
            </a:extLst>
          </p:cNvPr>
          <p:cNvSpPr txBox="1"/>
          <p:nvPr/>
        </p:nvSpPr>
        <p:spPr>
          <a:xfrm>
            <a:off x="457200" y="5780587"/>
            <a:ext cx="11274552" cy="5674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모든 업로드 파일은 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CSV (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쉼표로 분리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) (*.csv)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형식으로 저장해야 합니다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파일 권장량 초과 시 업로드가 실패할 수 있습니다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반드시 권장량을 지켜 </a:t>
            </a:r>
            <a:r>
              <a:rPr lang="ko-KR" altLang="en-US" sz="1100" dirty="0" err="1">
                <a:solidFill>
                  <a:srgbClr val="DC2626"/>
                </a:solidFill>
                <a:latin typeface="맑은 고딕" panose="020B0503020000020004" pitchFamily="50" charset="-127"/>
              </a:rPr>
              <a:t>주시길</a:t>
            </a:r>
            <a:r>
              <a:rPr lang="ko-KR" altLang="en-US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 바랍니다</a:t>
            </a:r>
            <a:r>
              <a:rPr lang="en-US" altLang="ko-KR" sz="1100" dirty="0">
                <a:solidFill>
                  <a:srgbClr val="DC2626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dirty="0">
              <a:solidFill>
                <a:srgbClr val="DC2626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72633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32811</TotalTime>
  <Words>8638</Words>
  <Application>Microsoft Office PowerPoint</Application>
  <PresentationFormat>와이드스크린</PresentationFormat>
  <Paragraphs>1197</Paragraphs>
  <Slides>79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79</vt:i4>
      </vt:variant>
    </vt:vector>
  </HeadingPairs>
  <TitlesOfParts>
    <vt:vector size="90" baseType="lpstr">
      <vt:lpstr>-apple-system</vt:lpstr>
      <vt:lpstr>Avant Garde Demi SFDC</vt:lpstr>
      <vt:lpstr>Noto Sans KR</vt:lpstr>
      <vt:lpstr>Salesforce Sans</vt:lpstr>
      <vt:lpstr>나눔스퀘어</vt:lpstr>
      <vt:lpstr>나눔스퀘어OTF</vt:lpstr>
      <vt:lpstr>맑은 고딕</vt:lpstr>
      <vt:lpstr>Arial</vt:lpstr>
      <vt:lpstr>Poppins</vt:lpstr>
      <vt:lpstr>Poppins SemiBold</vt:lpstr>
      <vt:lpstr>Office 테마</vt:lpstr>
      <vt:lpstr>골든듀 로열티 사용자 메뉴얼  </vt:lpstr>
      <vt:lpstr>목 차</vt:lpstr>
      <vt:lpstr>1. 접속 방법</vt:lpstr>
      <vt:lpstr>1. 접속 방법</vt:lpstr>
      <vt:lpstr>2. 주요 기능</vt:lpstr>
      <vt:lpstr>2. 주요 기능 – 리스트 뷰 페이지</vt:lpstr>
      <vt:lpstr>3. ① 멤버십</vt:lpstr>
      <vt:lpstr>3. ① 멤버십 – 쿠폰 </vt:lpstr>
      <vt:lpstr>3. ① 멤버십 – 쿠폰 </vt:lpstr>
      <vt:lpstr>3. ② 프로모션</vt:lpstr>
      <vt:lpstr>3. ② 프로모션 – 제품 일괄 등록</vt:lpstr>
      <vt:lpstr>3. ② 프로모션 – 매장 일괄 등록</vt:lpstr>
      <vt:lpstr>3. ② 프로모션 – 쿠폰 설정</vt:lpstr>
      <vt:lpstr>3. ② 프로모션– 포인트</vt:lpstr>
      <vt:lpstr>3. ② 프로모션– 제품 </vt:lpstr>
      <vt:lpstr>3. ② 프로모션- 매장 </vt:lpstr>
      <vt:lpstr>3. ③ 포인트  - 개인 </vt:lpstr>
      <vt:lpstr>3. ③ 포인트  - 그룹</vt:lpstr>
      <vt:lpstr>3. ④ 쿠폰  - 개인 </vt:lpstr>
      <vt:lpstr>3. ④ 쿠폰  - 그룹</vt:lpstr>
      <vt:lpstr>3. ④ 쿠폰  - 한도 정책</vt:lpstr>
      <vt:lpstr>3. ④ 쿠폰  - 한도 정책</vt:lpstr>
      <vt:lpstr>3. ④ 쿠폰  - 한도 정책</vt:lpstr>
      <vt:lpstr>3. ④ 쿠폰  - 한도 정책(제품)</vt:lpstr>
      <vt:lpstr>3. ④ 쿠폰  - 한도 정책(매장)</vt:lpstr>
      <vt:lpstr>4. ① 회원 360 </vt:lpstr>
      <vt:lpstr>4. ① 회원 360 – 하단 탭 </vt:lpstr>
      <vt:lpstr>4. ① 회원 360 – 하단 탭 </vt:lpstr>
      <vt:lpstr>4. ① 회원 360 – 하단 탭 </vt:lpstr>
      <vt:lpstr>4. ② 주문/판매</vt:lpstr>
      <vt:lpstr>4. ② 주문/판매 (품목명 변경 + 여러 주문/판매 케이스 추가)</vt:lpstr>
      <vt:lpstr>4. ② 주문/판매</vt:lpstr>
      <vt:lpstr>4. ② 주문/판매</vt:lpstr>
      <vt:lpstr>4. ② 주문/판매 – 하단 탭(주문 이력)</vt:lpstr>
      <vt:lpstr>4. ② 주문/판매 – 하단 탭(주문 이력)</vt:lpstr>
      <vt:lpstr>4. ② 주문/판매 – 하단 탭(주문 목록)</vt:lpstr>
      <vt:lpstr>4. ② 주문/판매 – 하단 탭(입금 내역)</vt:lpstr>
      <vt:lpstr>4. ② 주문/판매 – 하단 탭(쿠폰 이력)</vt:lpstr>
      <vt:lpstr>4. ② 주문/판매 – 하단 탭(포인트 이력)</vt:lpstr>
      <vt:lpstr>4. ② 주문/판매 – 하단 탭(반품 이력)</vt:lpstr>
      <vt:lpstr>4. ③ 설정 – 멤버십 </vt:lpstr>
      <vt:lpstr>4. ③ 설정 – 멤버십 </vt:lpstr>
      <vt:lpstr>4. ③ 설정 – 멤버십</vt:lpstr>
      <vt:lpstr>4. ④ 설정 – 프로모션 </vt:lpstr>
      <vt:lpstr>4. ④ 설정 – 프로모션 </vt:lpstr>
      <vt:lpstr>4. ④ 설정 – 프로모션 </vt:lpstr>
      <vt:lpstr>4. ④ 설정 – 프로모션 </vt:lpstr>
      <vt:lpstr>4. ⑤ 설정 – 쿠폰 </vt:lpstr>
      <vt:lpstr>4. ⑤ 설정 – 쿠폰 </vt:lpstr>
      <vt:lpstr>4. ⑤ 설정 – 쿠폰 </vt:lpstr>
      <vt:lpstr>4. ⑤ 설정 – 쿠폰 </vt:lpstr>
      <vt:lpstr>4. ⑤ 설정 – 쿠폰 </vt:lpstr>
      <vt:lpstr>4. ⑥ 설정 – 포인트 </vt:lpstr>
      <vt:lpstr>4. ⑦ 매거진 구독 정보</vt:lpstr>
      <vt:lpstr>PowerPoint 프레젠테이션</vt:lpstr>
      <vt:lpstr>PowerPoint 프레젠테이션</vt:lpstr>
      <vt:lpstr>PowerPoint 프레젠테이션</vt:lpstr>
      <vt:lpstr>4. ⑧ 보고서</vt:lpstr>
      <vt:lpstr>4. ⑧ 보고서</vt:lpstr>
      <vt:lpstr>4. ⑧ 보고서</vt:lpstr>
      <vt:lpstr>4. ⑧ 보고서</vt:lpstr>
      <vt:lpstr>4. ⑨ 로그 관리</vt:lpstr>
      <vt:lpstr> 5. [별첨] : 회원360 – 회원변경이력 변경 항목 요약표</vt:lpstr>
      <vt:lpstr> 5. [별첨] : 회원 360- 주문 내역에서 조회되는 카테고리 항목을 요약표</vt:lpstr>
      <vt:lpstr> 5. [별첨] : 회원360, 주문/판매 – 입금, 쿠폰, 포인트 이력 요약표</vt:lpstr>
      <vt:lpstr>PowerPoint 프레젠테이션</vt:lpstr>
      <vt:lpstr>5. [별첨] : 설정 – 프로모션 세부 사항 필드 요약표 1</vt:lpstr>
      <vt:lpstr>5. [별첨] : 설정 – 프로모션 세부 사항 필드 요약표 2</vt:lpstr>
      <vt:lpstr>5. [별첨] : 설정 – 프로모션 매장 참고 사항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5. [별첨] : 엑셀 업로드 파일 헤더 항목 요약표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MILVUS MCI 관련 보유역량 및 Reference</dc:title>
  <dc:creator>KANG henry</dc:creator>
  <cp:lastModifiedBy>crm7 crm7</cp:lastModifiedBy>
  <cp:revision>951</cp:revision>
  <dcterms:created xsi:type="dcterms:W3CDTF">2024-03-13T12:32:44Z</dcterms:created>
  <dcterms:modified xsi:type="dcterms:W3CDTF">2026-05-14T05:01:14Z</dcterms:modified>
</cp:coreProperties>
</file>